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75" r:id="rId4"/>
    <p:sldId id="258" r:id="rId5"/>
    <p:sldId id="284" r:id="rId6"/>
    <p:sldId id="257" r:id="rId7"/>
    <p:sldId id="278" r:id="rId8"/>
    <p:sldId id="283" r:id="rId9"/>
    <p:sldId id="263" r:id="rId10"/>
    <p:sldId id="276" r:id="rId11"/>
    <p:sldId id="262" r:id="rId12"/>
    <p:sldId id="261" r:id="rId13"/>
    <p:sldId id="279" r:id="rId14"/>
    <p:sldId id="28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374"/>
    <a:srgbClr val="103154"/>
    <a:srgbClr val="040D16"/>
    <a:srgbClr val="091A2D"/>
    <a:srgbClr val="205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36" y="3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86A-44A7-A20E-EAE46D9055C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86A-44A7-A20E-EAE46D9055CB}"/>
              </c:ext>
            </c:extLst>
          </c:dPt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6A-44A7-A20E-EAE46D9055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86A-44A7-A20E-EAE46D9055C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B86A-44A7-A20E-EAE46D9055CB}"/>
              </c:ext>
            </c:extLst>
          </c:dPt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86A-44A7-A20E-EAE46D9055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86A-44A7-A20E-EAE46D9055C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86A-44A7-A20E-EAE46D9055CB}"/>
              </c:ext>
            </c:extLst>
          </c:dPt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86A-44A7-A20E-EAE46D9055C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375C75"/>
            </a:solidFill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B86A-44A7-A20E-EAE46D9055C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B86A-44A7-A20E-EAE46D9055CB}"/>
              </c:ext>
            </c:extLst>
          </c:dPt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B86A-44A7-A20E-EAE46D9055C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</c:v>
                </c:pt>
              </c:strCache>
            </c:strRef>
          </c:tx>
          <c:spPr>
            <a:noFill/>
            <a:ln>
              <a:noFill/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86A-44A7-A20E-EAE46D9055C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86A-44A7-A20E-EAE46D9055CB}"/>
              </c:ext>
            </c:extLst>
          </c:dPt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86A-44A7-A20E-EAE46D9055C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列1</c:v>
                </c:pt>
              </c:strCache>
            </c:strRef>
          </c:tx>
          <c:spPr>
            <a:noFill/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B86A-44A7-A20E-EAE46D9055C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B86A-44A7-A20E-EAE46D9055CB}"/>
              </c:ext>
            </c:extLst>
          </c:dPt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5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B86A-44A7-A20E-EAE46D9055CB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列2</c:v>
                </c:pt>
              </c:strCache>
            </c:strRef>
          </c:tx>
          <c:dPt>
            <c:idx val="0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B86A-44A7-A20E-EAE46D9055C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B86A-44A7-A20E-EAE46D9055CB}"/>
              </c:ext>
            </c:extLst>
          </c:dPt>
          <c:cat>
            <c:strRef>
              <c:f>Sheet1!$A$2:$A$3</c:f>
              <c:strCache>
                <c:ptCount val="2"/>
                <c:pt idx="0">
                  <c:v>PART 1</c:v>
                </c:pt>
                <c:pt idx="1">
                  <c:v>PART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B86A-44A7-A20E-EAE46D9055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25400"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DAF20-52D8-44EB-BF75-6BF683331832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EEFA3-B9E5-4105-92C5-6BFF2831408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99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EEFA3-B9E5-4105-92C5-6BFF2831408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2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EEFA3-B9E5-4105-92C5-6BFF2831408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32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EEFA3-B9E5-4105-92C5-6BFF2831408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422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EEFA3-B9E5-4105-92C5-6BFF2831408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220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EEFA3-B9E5-4105-92C5-6BFF2831408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173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EEFA3-B9E5-4105-92C5-6BFF2831408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99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B8D-0036-48A5-9BF1-E211154662A1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30D88-0388-4384-8B7E-368412C61A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19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B8D-0036-48A5-9BF1-E211154662A1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30D88-0388-4384-8B7E-368412C61A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71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B8D-0036-48A5-9BF1-E211154662A1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30D88-0388-4384-8B7E-368412C61A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57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B8D-0036-48A5-9BF1-E211154662A1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30D88-0388-4384-8B7E-368412C61A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82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EB8D-0036-48A5-9BF1-E211154662A1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30D88-0388-4384-8B7E-368412C61A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98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tumblr_ndyg3pYbKW1tubinno1_1280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17"/>
          <a:stretch/>
        </p:blipFill>
        <p:spPr>
          <a:xfrm>
            <a:off x="0" y="-51816"/>
            <a:ext cx="12192000" cy="6928866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3696" y="-38100"/>
            <a:ext cx="12195696" cy="6896100"/>
          </a:xfrm>
          <a:prstGeom prst="rect">
            <a:avLst/>
          </a:prstGeom>
          <a:solidFill>
            <a:srgbClr val="091A2D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6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52900" y="0"/>
            <a:ext cx="8039099" cy="6858000"/>
          </a:xfrm>
          <a:prstGeom prst="rect">
            <a:avLst/>
          </a:prstGeom>
          <a:solidFill>
            <a:srgbClr val="09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37642" y="805833"/>
            <a:ext cx="1822619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78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>
          <a:xfrm>
            <a:off x="437642" y="805833"/>
            <a:ext cx="1822619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0" y="3976914"/>
            <a:ext cx="12192000" cy="2881086"/>
          </a:xfrm>
          <a:prstGeom prst="rect">
            <a:avLst/>
          </a:prstGeom>
          <a:solidFill>
            <a:srgbClr val="09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2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>
          <a:xfrm>
            <a:off x="437642" y="805833"/>
            <a:ext cx="1822619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39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2" b="7882"/>
          <a:stretch/>
        </p:blipFill>
        <p:spPr>
          <a:xfrm>
            <a:off x="1" y="-1905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5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4EB8D-0036-48A5-9BF1-E211154662A1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30D88-0388-4384-8B7E-368412C61A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3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7569F-5586-47B4-8863-45AF2DF9D968}" type="datetimeFigureOut">
              <a:rPr lang="zh-CN" altLang="en-US" smtClean="0"/>
              <a:pPr/>
              <a:t>2021/2/24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24449-61A4-4DE4-A106-7AA567BADB7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04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4" r:id="rId3"/>
    <p:sldLayoutId id="2147483663" r:id="rId4"/>
    <p:sldLayoutId id="214748366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tumblr_ndyg3pYbKW1tubinno1_128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17"/>
          <a:stretch/>
        </p:blipFill>
        <p:spPr>
          <a:xfrm>
            <a:off x="0" y="-51816"/>
            <a:ext cx="12192000" cy="692886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-65093"/>
            <a:ext cx="12195696" cy="6992943"/>
          </a:xfrm>
          <a:prstGeom prst="rect">
            <a:avLst/>
          </a:prstGeom>
          <a:solidFill>
            <a:srgbClr val="091A2D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666361" y="2769037"/>
            <a:ext cx="7451416" cy="2239839"/>
          </a:xfrm>
          <a:prstGeom prst="rect">
            <a:avLst/>
          </a:prstGeom>
          <a:solidFill>
            <a:srgbClr val="10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83503" y="413322"/>
            <a:ext cx="4934356" cy="156965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kumimoji="1" lang="en-US" altLang="zh-CN" sz="4800" b="1" dirty="0">
                <a:solidFill>
                  <a:schemeClr val="bg1"/>
                </a:solidFill>
                <a:latin typeface="HelveticaNeueLT Pro 67 MdCn" panose="020B0606030502030204"/>
              </a:rPr>
              <a:t>SEMINAR</a:t>
            </a:r>
          </a:p>
          <a:p>
            <a:r>
              <a:rPr kumimoji="1" lang="en-US" altLang="zh-CN" sz="4800" b="1" dirty="0">
                <a:solidFill>
                  <a:schemeClr val="bg1"/>
                </a:solidFill>
                <a:latin typeface="HelveticaNeueLT Pro 67 MdCn" panose="020B0606030502030204"/>
              </a:rPr>
              <a:t>PROPOSAL</a:t>
            </a:r>
            <a:endParaRPr kumimoji="1" lang="zh-CN" altLang="en-US" sz="4800" b="1" dirty="0">
              <a:solidFill>
                <a:schemeClr val="bg1"/>
              </a:solidFill>
              <a:latin typeface="HelveticaNeueLT Pro 67 MdCn" panose="020B0606030502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78254-01CD-4AFE-AD27-439EAF9FA0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14" y="254198"/>
            <a:ext cx="1879997" cy="1887904"/>
          </a:xfrm>
          <a:prstGeom prst="rect">
            <a:avLst/>
          </a:prstGeom>
        </p:spPr>
      </p:pic>
      <p:sp>
        <p:nvSpPr>
          <p:cNvPr id="17" name="矩形 6">
            <a:extLst>
              <a:ext uri="{FF2B5EF4-FFF2-40B4-BE49-F238E27FC236}">
                <a16:creationId xmlns:a16="http://schemas.microsoft.com/office/drawing/2014/main" id="{476AD255-5339-4A3C-A69C-ADC5922450AE}"/>
              </a:ext>
            </a:extLst>
          </p:cNvPr>
          <p:cNvSpPr/>
          <p:nvPr/>
        </p:nvSpPr>
        <p:spPr>
          <a:xfrm>
            <a:off x="2492096" y="2769036"/>
            <a:ext cx="7799946" cy="223984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400" b="1" dirty="0">
                <a:solidFill>
                  <a:schemeClr val="bg1"/>
                </a:solidFill>
                <a:effectLst/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SISTEM PENDUKUNG KEPUTUSAN PENENTUAN KARYAWANTERBAIK MENGGUNAKAN METODE </a:t>
            </a:r>
            <a:r>
              <a:rPr lang="en-ID" sz="2400" b="1" i="1" dirty="0">
                <a:solidFill>
                  <a:schemeClr val="bg1"/>
                </a:solidFill>
                <a:effectLst/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MULTI ATTRIBUTE UTILITY THEORY</a:t>
            </a:r>
            <a:r>
              <a:rPr lang="en-ID" sz="2400" b="1" dirty="0">
                <a:solidFill>
                  <a:schemeClr val="bg1"/>
                </a:solidFill>
                <a:effectLst/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ID" sz="2400" b="1" dirty="0">
                <a:solidFill>
                  <a:schemeClr val="bg1"/>
                </a:solidFill>
                <a:effectLst/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(MAUT)</a:t>
            </a:r>
            <a:endParaRPr lang="en-ID" sz="2400" dirty="0">
              <a:solidFill>
                <a:schemeClr val="bg1"/>
              </a:solidFill>
              <a:effectLst/>
              <a:latin typeface="HelveticaNeueLT Pro 67 MdCn" panose="020B0606030502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矩形 6">
            <a:extLst>
              <a:ext uri="{FF2B5EF4-FFF2-40B4-BE49-F238E27FC236}">
                <a16:creationId xmlns:a16="http://schemas.microsoft.com/office/drawing/2014/main" id="{189F61D0-75B0-42CF-8973-91519CED7F12}"/>
              </a:ext>
            </a:extLst>
          </p:cNvPr>
          <p:cNvSpPr/>
          <p:nvPr/>
        </p:nvSpPr>
        <p:spPr>
          <a:xfrm>
            <a:off x="3339092" y="5814377"/>
            <a:ext cx="5272610" cy="46166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OVAN ZAIMUL 172466</a:t>
            </a:r>
            <a:endParaRPr lang="en-ID" sz="2400" dirty="0">
              <a:solidFill>
                <a:schemeClr val="bg1"/>
              </a:solidFill>
              <a:effectLst/>
              <a:latin typeface="HelveticaNeueLT Pro 67 MdCn" panose="020B0606030502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矩形 6">
            <a:extLst>
              <a:ext uri="{FF2B5EF4-FFF2-40B4-BE49-F238E27FC236}">
                <a16:creationId xmlns:a16="http://schemas.microsoft.com/office/drawing/2014/main" id="{3BFBC92F-2F3A-41BD-9101-E34089859A76}"/>
              </a:ext>
            </a:extLst>
          </p:cNvPr>
          <p:cNvSpPr/>
          <p:nvPr/>
        </p:nvSpPr>
        <p:spPr>
          <a:xfrm>
            <a:off x="9626600" y="-56579"/>
            <a:ext cx="2556302" cy="46990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25 </a:t>
            </a:r>
            <a:r>
              <a:rPr lang="en-US" sz="2400" dirty="0" err="1">
                <a:solidFill>
                  <a:schemeClr val="bg1"/>
                </a:solidFill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Februari</a:t>
            </a:r>
            <a:r>
              <a:rPr lang="en-US" sz="2400" dirty="0">
                <a:solidFill>
                  <a:schemeClr val="bg1"/>
                </a:solidFill>
                <a:latin typeface="HelveticaNeueLT Pro 67 MdCn" panose="020B0606030502030204"/>
                <a:ea typeface="Calibri" panose="020F0502020204030204" pitchFamily="34" charset="0"/>
                <a:cs typeface="Times New Roman" panose="02020603050405020304" pitchFamily="18" charset="0"/>
              </a:rPr>
              <a:t> 2021</a:t>
            </a:r>
            <a:endParaRPr lang="en-ID" sz="2400" dirty="0">
              <a:solidFill>
                <a:schemeClr val="bg1"/>
              </a:solidFill>
              <a:effectLst/>
              <a:latin typeface="HelveticaNeueLT Pro 67 MdCn" panose="020B0606030502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98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5128222"/>
            <a:ext cx="12192000" cy="1729777"/>
          </a:xfrm>
          <a:prstGeom prst="rect">
            <a:avLst/>
          </a:prstGeom>
          <a:solidFill>
            <a:srgbClr val="09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9"/>
          <p:cNvSpPr/>
          <p:nvPr/>
        </p:nvSpPr>
        <p:spPr>
          <a:xfrm>
            <a:off x="337349" y="187249"/>
            <a:ext cx="4719558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POINT PEMBAHASAN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>
            <a:off x="437642" y="805834"/>
            <a:ext cx="4502658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9"/>
          <p:cNvSpPr/>
          <p:nvPr/>
        </p:nvSpPr>
        <p:spPr>
          <a:xfrm>
            <a:off x="830339" y="3119170"/>
            <a:ext cx="710451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Latar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0339" y="3447781"/>
            <a:ext cx="1146468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Belakang</a:t>
            </a:r>
            <a:endParaRPr lang="en-US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  <a:sym typeface="News Gothic MT" charset="0"/>
            </a:endParaRPr>
          </a:p>
        </p:txBody>
      </p:sp>
      <p:sp>
        <p:nvSpPr>
          <p:cNvPr id="35" name="矩形 39"/>
          <p:cNvSpPr/>
          <p:nvPr/>
        </p:nvSpPr>
        <p:spPr>
          <a:xfrm>
            <a:off x="2419507" y="3092641"/>
            <a:ext cx="1172116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</a:rPr>
              <a:t>Rumusan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419507" y="3435081"/>
            <a:ext cx="1172116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r"/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Masalah</a:t>
            </a:r>
            <a:r>
              <a:rPr lang="en-US" altLang="zh-CN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	 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38" name="矩形 39"/>
          <p:cNvSpPr/>
          <p:nvPr/>
        </p:nvSpPr>
        <p:spPr>
          <a:xfrm>
            <a:off x="4049470" y="3143414"/>
            <a:ext cx="881395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Tujuan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049470" y="3514403"/>
            <a:ext cx="1197764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Penelitian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12515" y="1941442"/>
            <a:ext cx="11020685" cy="1139910"/>
            <a:chOff x="774521" y="1680392"/>
            <a:chExt cx="12124897" cy="1254122"/>
          </a:xfrm>
        </p:grpSpPr>
        <p:cxnSp>
          <p:nvCxnSpPr>
            <p:cNvPr id="8" name="直接连接符 7"/>
            <p:cNvCxnSpPr>
              <a:cxnSpLocks/>
            </p:cNvCxnSpPr>
            <p:nvPr/>
          </p:nvCxnSpPr>
          <p:spPr>
            <a:xfrm>
              <a:off x="774521" y="2340423"/>
              <a:ext cx="12124897" cy="15997"/>
            </a:xfrm>
            <a:prstGeom prst="line">
              <a:avLst/>
            </a:prstGeom>
            <a:ln>
              <a:solidFill>
                <a:srgbClr val="4C4C4C"/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/>
            <p:cNvSpPr/>
            <p:nvPr/>
          </p:nvSpPr>
          <p:spPr>
            <a:xfrm>
              <a:off x="2779916" y="1680392"/>
              <a:ext cx="1165262" cy="116526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1454459" y="1769252"/>
              <a:ext cx="1165262" cy="116526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/>
            <p:cNvSpPr/>
            <p:nvPr/>
          </p:nvSpPr>
          <p:spPr>
            <a:xfrm>
              <a:off x="4546325" y="1763677"/>
              <a:ext cx="1165262" cy="116526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4" name="Freeform 232"/>
            <p:cNvSpPr>
              <a:spLocks/>
            </p:cNvSpPr>
            <p:nvPr/>
          </p:nvSpPr>
          <p:spPr bwMode="auto">
            <a:xfrm>
              <a:off x="11617845" y="1991295"/>
              <a:ext cx="815975" cy="520700"/>
            </a:xfrm>
            <a:custGeom>
              <a:avLst/>
              <a:gdLst/>
              <a:ahLst/>
              <a:cxnLst>
                <a:cxn ang="0">
                  <a:pos x="256" y="0"/>
                </a:cxn>
                <a:cxn ang="0">
                  <a:pos x="0" y="142"/>
                </a:cxn>
                <a:cxn ang="0">
                  <a:pos x="256" y="282"/>
                </a:cxn>
                <a:cxn ang="0">
                  <a:pos x="468" y="166"/>
                </a:cxn>
                <a:cxn ang="0">
                  <a:pos x="468" y="328"/>
                </a:cxn>
                <a:cxn ang="0">
                  <a:pos x="514" y="328"/>
                </a:cxn>
                <a:cxn ang="0">
                  <a:pos x="514" y="142"/>
                </a:cxn>
                <a:cxn ang="0">
                  <a:pos x="256" y="0"/>
                </a:cxn>
              </a:cxnLst>
              <a:rect l="0" t="0" r="r" b="b"/>
              <a:pathLst>
                <a:path w="514" h="328">
                  <a:moveTo>
                    <a:pt x="256" y="0"/>
                  </a:moveTo>
                  <a:lnTo>
                    <a:pt x="0" y="142"/>
                  </a:lnTo>
                  <a:lnTo>
                    <a:pt x="256" y="282"/>
                  </a:lnTo>
                  <a:lnTo>
                    <a:pt x="468" y="166"/>
                  </a:lnTo>
                  <a:lnTo>
                    <a:pt x="468" y="328"/>
                  </a:lnTo>
                  <a:lnTo>
                    <a:pt x="514" y="328"/>
                  </a:lnTo>
                  <a:lnTo>
                    <a:pt x="514" y="142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10315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233"/>
            <p:cNvSpPr>
              <a:spLocks/>
            </p:cNvSpPr>
            <p:nvPr/>
          </p:nvSpPr>
          <p:spPr bwMode="auto">
            <a:xfrm>
              <a:off x="11767069" y="2356419"/>
              <a:ext cx="517525" cy="304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4"/>
                </a:cxn>
                <a:cxn ang="0">
                  <a:pos x="162" y="192"/>
                </a:cxn>
                <a:cxn ang="0">
                  <a:pos x="326" y="104"/>
                </a:cxn>
                <a:cxn ang="0">
                  <a:pos x="326" y="0"/>
                </a:cxn>
                <a:cxn ang="0">
                  <a:pos x="162" y="98"/>
                </a:cxn>
                <a:cxn ang="0">
                  <a:pos x="0" y="0"/>
                </a:cxn>
              </a:cxnLst>
              <a:rect l="0" t="0" r="r" b="b"/>
              <a:pathLst>
                <a:path w="326" h="192">
                  <a:moveTo>
                    <a:pt x="0" y="0"/>
                  </a:moveTo>
                  <a:lnTo>
                    <a:pt x="0" y="104"/>
                  </a:lnTo>
                  <a:lnTo>
                    <a:pt x="162" y="192"/>
                  </a:lnTo>
                  <a:lnTo>
                    <a:pt x="326" y="104"/>
                  </a:lnTo>
                  <a:lnTo>
                    <a:pt x="326" y="0"/>
                  </a:lnTo>
                  <a:lnTo>
                    <a:pt x="162" y="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15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210"/>
            <p:cNvSpPr>
              <a:spLocks noEditPoints="1"/>
            </p:cNvSpPr>
            <p:nvPr/>
          </p:nvSpPr>
          <p:spPr bwMode="auto">
            <a:xfrm>
              <a:off x="2970792" y="1958674"/>
              <a:ext cx="779709" cy="586712"/>
            </a:xfrm>
            <a:custGeom>
              <a:avLst/>
              <a:gdLst/>
              <a:ahLst/>
              <a:cxnLst>
                <a:cxn ang="0">
                  <a:pos x="202" y="202"/>
                </a:cxn>
                <a:cxn ang="0">
                  <a:pos x="202" y="202"/>
                </a:cxn>
                <a:cxn ang="0">
                  <a:pos x="190" y="200"/>
                </a:cxn>
                <a:cxn ang="0">
                  <a:pos x="176" y="194"/>
                </a:cxn>
                <a:cxn ang="0">
                  <a:pos x="0" y="102"/>
                </a:cxn>
                <a:cxn ang="0">
                  <a:pos x="0" y="278"/>
                </a:cxn>
                <a:cxn ang="0">
                  <a:pos x="0" y="278"/>
                </a:cxn>
                <a:cxn ang="0">
                  <a:pos x="2" y="288"/>
                </a:cxn>
                <a:cxn ang="0">
                  <a:pos x="6" y="296"/>
                </a:cxn>
                <a:cxn ang="0">
                  <a:pos x="14" y="302"/>
                </a:cxn>
                <a:cxn ang="0">
                  <a:pos x="24" y="304"/>
                </a:cxn>
                <a:cxn ang="0">
                  <a:pos x="378" y="304"/>
                </a:cxn>
                <a:cxn ang="0">
                  <a:pos x="378" y="304"/>
                </a:cxn>
                <a:cxn ang="0">
                  <a:pos x="388" y="302"/>
                </a:cxn>
                <a:cxn ang="0">
                  <a:pos x="396" y="296"/>
                </a:cxn>
                <a:cxn ang="0">
                  <a:pos x="402" y="288"/>
                </a:cxn>
                <a:cxn ang="0">
                  <a:pos x="404" y="278"/>
                </a:cxn>
                <a:cxn ang="0">
                  <a:pos x="404" y="102"/>
                </a:cxn>
                <a:cxn ang="0">
                  <a:pos x="226" y="194"/>
                </a:cxn>
                <a:cxn ang="0">
                  <a:pos x="226" y="194"/>
                </a:cxn>
                <a:cxn ang="0">
                  <a:pos x="212" y="200"/>
                </a:cxn>
                <a:cxn ang="0">
                  <a:pos x="202" y="202"/>
                </a:cxn>
                <a:cxn ang="0">
                  <a:pos x="202" y="202"/>
                </a:cxn>
                <a:cxn ang="0">
                  <a:pos x="378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4" y="2"/>
                </a:cxn>
                <a:cxn ang="0">
                  <a:pos x="6" y="8"/>
                </a:cxn>
                <a:cxn ang="0">
                  <a:pos x="2" y="16"/>
                </a:cxn>
                <a:cxn ang="0">
                  <a:pos x="0" y="26"/>
                </a:cxn>
                <a:cxn ang="0">
                  <a:pos x="0" y="44"/>
                </a:cxn>
                <a:cxn ang="0">
                  <a:pos x="202" y="152"/>
                </a:cxn>
                <a:cxn ang="0">
                  <a:pos x="404" y="44"/>
                </a:cxn>
                <a:cxn ang="0">
                  <a:pos x="404" y="26"/>
                </a:cxn>
                <a:cxn ang="0">
                  <a:pos x="404" y="26"/>
                </a:cxn>
                <a:cxn ang="0">
                  <a:pos x="402" y="16"/>
                </a:cxn>
                <a:cxn ang="0">
                  <a:pos x="396" y="8"/>
                </a:cxn>
                <a:cxn ang="0">
                  <a:pos x="388" y="2"/>
                </a:cxn>
                <a:cxn ang="0">
                  <a:pos x="378" y="0"/>
                </a:cxn>
                <a:cxn ang="0">
                  <a:pos x="378" y="0"/>
                </a:cxn>
              </a:cxnLst>
              <a:rect l="0" t="0" r="r" b="b"/>
              <a:pathLst>
                <a:path w="404" h="304">
                  <a:moveTo>
                    <a:pt x="202" y="202"/>
                  </a:moveTo>
                  <a:lnTo>
                    <a:pt x="202" y="202"/>
                  </a:lnTo>
                  <a:lnTo>
                    <a:pt x="190" y="200"/>
                  </a:lnTo>
                  <a:lnTo>
                    <a:pt x="176" y="194"/>
                  </a:lnTo>
                  <a:lnTo>
                    <a:pt x="0" y="102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288"/>
                  </a:lnTo>
                  <a:lnTo>
                    <a:pt x="6" y="296"/>
                  </a:lnTo>
                  <a:lnTo>
                    <a:pt x="14" y="302"/>
                  </a:lnTo>
                  <a:lnTo>
                    <a:pt x="24" y="304"/>
                  </a:lnTo>
                  <a:lnTo>
                    <a:pt x="378" y="304"/>
                  </a:lnTo>
                  <a:lnTo>
                    <a:pt x="378" y="304"/>
                  </a:lnTo>
                  <a:lnTo>
                    <a:pt x="388" y="302"/>
                  </a:lnTo>
                  <a:lnTo>
                    <a:pt x="396" y="296"/>
                  </a:lnTo>
                  <a:lnTo>
                    <a:pt x="402" y="288"/>
                  </a:lnTo>
                  <a:lnTo>
                    <a:pt x="404" y="278"/>
                  </a:lnTo>
                  <a:lnTo>
                    <a:pt x="404" y="102"/>
                  </a:lnTo>
                  <a:lnTo>
                    <a:pt x="226" y="194"/>
                  </a:lnTo>
                  <a:lnTo>
                    <a:pt x="226" y="194"/>
                  </a:lnTo>
                  <a:lnTo>
                    <a:pt x="212" y="200"/>
                  </a:lnTo>
                  <a:lnTo>
                    <a:pt x="202" y="202"/>
                  </a:lnTo>
                  <a:lnTo>
                    <a:pt x="202" y="202"/>
                  </a:lnTo>
                  <a:close/>
                  <a:moveTo>
                    <a:pt x="378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14" y="2"/>
                  </a:lnTo>
                  <a:lnTo>
                    <a:pt x="6" y="8"/>
                  </a:lnTo>
                  <a:lnTo>
                    <a:pt x="2" y="16"/>
                  </a:lnTo>
                  <a:lnTo>
                    <a:pt x="0" y="26"/>
                  </a:lnTo>
                  <a:lnTo>
                    <a:pt x="0" y="44"/>
                  </a:lnTo>
                  <a:lnTo>
                    <a:pt x="202" y="152"/>
                  </a:lnTo>
                  <a:lnTo>
                    <a:pt x="404" y="44"/>
                  </a:lnTo>
                  <a:lnTo>
                    <a:pt x="404" y="26"/>
                  </a:lnTo>
                  <a:lnTo>
                    <a:pt x="404" y="26"/>
                  </a:lnTo>
                  <a:lnTo>
                    <a:pt x="402" y="16"/>
                  </a:lnTo>
                  <a:lnTo>
                    <a:pt x="396" y="8"/>
                  </a:lnTo>
                  <a:lnTo>
                    <a:pt x="388" y="2"/>
                  </a:lnTo>
                  <a:lnTo>
                    <a:pt x="378" y="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10315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216"/>
            <p:cNvSpPr>
              <a:spLocks noEditPoints="1"/>
            </p:cNvSpPr>
            <p:nvPr/>
          </p:nvSpPr>
          <p:spPr bwMode="auto">
            <a:xfrm>
              <a:off x="4768860" y="1939244"/>
              <a:ext cx="775187" cy="771292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122" y="16"/>
                </a:cxn>
                <a:cxn ang="0">
                  <a:pos x="72" y="46"/>
                </a:cxn>
                <a:cxn ang="0">
                  <a:pos x="34" y="88"/>
                </a:cxn>
                <a:cxn ang="0">
                  <a:pos x="10" y="140"/>
                </a:cxn>
                <a:cxn ang="0">
                  <a:pos x="0" y="198"/>
                </a:cxn>
                <a:cxn ang="0">
                  <a:pos x="4" y="238"/>
                </a:cxn>
                <a:cxn ang="0">
                  <a:pos x="24" y="292"/>
                </a:cxn>
                <a:cxn ang="0">
                  <a:pos x="58" y="338"/>
                </a:cxn>
                <a:cxn ang="0">
                  <a:pos x="104" y="372"/>
                </a:cxn>
                <a:cxn ang="0">
                  <a:pos x="158" y="392"/>
                </a:cxn>
                <a:cxn ang="0">
                  <a:pos x="198" y="396"/>
                </a:cxn>
                <a:cxn ang="0">
                  <a:pos x="258" y="388"/>
                </a:cxn>
                <a:cxn ang="0">
                  <a:pos x="310" y="362"/>
                </a:cxn>
                <a:cxn ang="0">
                  <a:pos x="352" y="324"/>
                </a:cxn>
                <a:cxn ang="0">
                  <a:pos x="382" y="276"/>
                </a:cxn>
                <a:cxn ang="0">
                  <a:pos x="396" y="218"/>
                </a:cxn>
                <a:cxn ang="0">
                  <a:pos x="396" y="178"/>
                </a:cxn>
                <a:cxn ang="0">
                  <a:pos x="382" y="122"/>
                </a:cxn>
                <a:cxn ang="0">
                  <a:pos x="352" y="72"/>
                </a:cxn>
                <a:cxn ang="0">
                  <a:pos x="310" y="34"/>
                </a:cxn>
                <a:cxn ang="0">
                  <a:pos x="258" y="8"/>
                </a:cxn>
                <a:cxn ang="0">
                  <a:pos x="198" y="0"/>
                </a:cxn>
                <a:cxn ang="0">
                  <a:pos x="146" y="198"/>
                </a:cxn>
                <a:cxn ang="0">
                  <a:pos x="230" y="244"/>
                </a:cxn>
                <a:cxn ang="0">
                  <a:pos x="250" y="234"/>
                </a:cxn>
                <a:cxn ang="0">
                  <a:pos x="266" y="234"/>
                </a:cxn>
                <a:cxn ang="0">
                  <a:pos x="286" y="244"/>
                </a:cxn>
                <a:cxn ang="0">
                  <a:pos x="296" y="264"/>
                </a:cxn>
                <a:cxn ang="0">
                  <a:pos x="296" y="280"/>
                </a:cxn>
                <a:cxn ang="0">
                  <a:pos x="286" y="300"/>
                </a:cxn>
                <a:cxn ang="0">
                  <a:pos x="266" y="310"/>
                </a:cxn>
                <a:cxn ang="0">
                  <a:pos x="250" y="310"/>
                </a:cxn>
                <a:cxn ang="0">
                  <a:pos x="230" y="300"/>
                </a:cxn>
                <a:cxn ang="0">
                  <a:pos x="220" y="280"/>
                </a:cxn>
                <a:cxn ang="0">
                  <a:pos x="220" y="266"/>
                </a:cxn>
                <a:cxn ang="0">
                  <a:pos x="130" y="230"/>
                </a:cxn>
                <a:cxn ang="0">
                  <a:pos x="108" y="238"/>
                </a:cxn>
                <a:cxn ang="0">
                  <a:pos x="92" y="234"/>
                </a:cxn>
                <a:cxn ang="0">
                  <a:pos x="74" y="220"/>
                </a:cxn>
                <a:cxn ang="0">
                  <a:pos x="68" y="198"/>
                </a:cxn>
                <a:cxn ang="0">
                  <a:pos x="72" y="182"/>
                </a:cxn>
                <a:cxn ang="0">
                  <a:pos x="86" y="166"/>
                </a:cxn>
                <a:cxn ang="0">
                  <a:pos x="108" y="158"/>
                </a:cxn>
                <a:cxn ang="0">
                  <a:pos x="124" y="162"/>
                </a:cxn>
                <a:cxn ang="0">
                  <a:pos x="220" y="130"/>
                </a:cxn>
                <a:cxn ang="0">
                  <a:pos x="218" y="124"/>
                </a:cxn>
                <a:cxn ang="0">
                  <a:pos x="226" y="102"/>
                </a:cxn>
                <a:cxn ang="0">
                  <a:pos x="242" y="88"/>
                </a:cxn>
                <a:cxn ang="0">
                  <a:pos x="258" y="86"/>
                </a:cxn>
                <a:cxn ang="0">
                  <a:pos x="280" y="92"/>
                </a:cxn>
                <a:cxn ang="0">
                  <a:pos x="294" y="110"/>
                </a:cxn>
                <a:cxn ang="0">
                  <a:pos x="298" y="124"/>
                </a:cxn>
                <a:cxn ang="0">
                  <a:pos x="290" y="146"/>
                </a:cxn>
                <a:cxn ang="0">
                  <a:pos x="274" y="162"/>
                </a:cxn>
                <a:cxn ang="0">
                  <a:pos x="258" y="164"/>
                </a:cxn>
                <a:cxn ang="0">
                  <a:pos x="236" y="156"/>
                </a:cxn>
                <a:cxn ang="0">
                  <a:pos x="146" y="192"/>
                </a:cxn>
              </a:cxnLst>
              <a:rect l="0" t="0" r="r" b="b"/>
              <a:pathLst>
                <a:path w="398" h="396">
                  <a:moveTo>
                    <a:pt x="198" y="0"/>
                  </a:moveTo>
                  <a:lnTo>
                    <a:pt x="198" y="0"/>
                  </a:lnTo>
                  <a:lnTo>
                    <a:pt x="178" y="0"/>
                  </a:lnTo>
                  <a:lnTo>
                    <a:pt x="158" y="4"/>
                  </a:lnTo>
                  <a:lnTo>
                    <a:pt x="140" y="8"/>
                  </a:lnTo>
                  <a:lnTo>
                    <a:pt x="122" y="16"/>
                  </a:lnTo>
                  <a:lnTo>
                    <a:pt x="104" y="24"/>
                  </a:lnTo>
                  <a:lnTo>
                    <a:pt x="88" y="34"/>
                  </a:lnTo>
                  <a:lnTo>
                    <a:pt x="72" y="46"/>
                  </a:lnTo>
                  <a:lnTo>
                    <a:pt x="58" y="58"/>
                  </a:lnTo>
                  <a:lnTo>
                    <a:pt x="46" y="72"/>
                  </a:lnTo>
                  <a:lnTo>
                    <a:pt x="34" y="88"/>
                  </a:lnTo>
                  <a:lnTo>
                    <a:pt x="24" y="104"/>
                  </a:lnTo>
                  <a:lnTo>
                    <a:pt x="16" y="122"/>
                  </a:lnTo>
                  <a:lnTo>
                    <a:pt x="10" y="140"/>
                  </a:lnTo>
                  <a:lnTo>
                    <a:pt x="4" y="158"/>
                  </a:lnTo>
                  <a:lnTo>
                    <a:pt x="2" y="17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2" y="218"/>
                  </a:lnTo>
                  <a:lnTo>
                    <a:pt x="4" y="238"/>
                  </a:lnTo>
                  <a:lnTo>
                    <a:pt x="10" y="258"/>
                  </a:lnTo>
                  <a:lnTo>
                    <a:pt x="16" y="276"/>
                  </a:lnTo>
                  <a:lnTo>
                    <a:pt x="24" y="292"/>
                  </a:lnTo>
                  <a:lnTo>
                    <a:pt x="34" y="310"/>
                  </a:lnTo>
                  <a:lnTo>
                    <a:pt x="46" y="324"/>
                  </a:lnTo>
                  <a:lnTo>
                    <a:pt x="58" y="338"/>
                  </a:lnTo>
                  <a:lnTo>
                    <a:pt x="72" y="352"/>
                  </a:lnTo>
                  <a:lnTo>
                    <a:pt x="88" y="362"/>
                  </a:lnTo>
                  <a:lnTo>
                    <a:pt x="104" y="372"/>
                  </a:lnTo>
                  <a:lnTo>
                    <a:pt x="122" y="382"/>
                  </a:lnTo>
                  <a:lnTo>
                    <a:pt x="140" y="388"/>
                  </a:lnTo>
                  <a:lnTo>
                    <a:pt x="158" y="392"/>
                  </a:lnTo>
                  <a:lnTo>
                    <a:pt x="178" y="396"/>
                  </a:lnTo>
                  <a:lnTo>
                    <a:pt x="198" y="396"/>
                  </a:lnTo>
                  <a:lnTo>
                    <a:pt x="198" y="396"/>
                  </a:lnTo>
                  <a:lnTo>
                    <a:pt x="220" y="396"/>
                  </a:lnTo>
                  <a:lnTo>
                    <a:pt x="238" y="392"/>
                  </a:lnTo>
                  <a:lnTo>
                    <a:pt x="258" y="388"/>
                  </a:lnTo>
                  <a:lnTo>
                    <a:pt x="276" y="382"/>
                  </a:lnTo>
                  <a:lnTo>
                    <a:pt x="294" y="372"/>
                  </a:lnTo>
                  <a:lnTo>
                    <a:pt x="310" y="362"/>
                  </a:lnTo>
                  <a:lnTo>
                    <a:pt x="326" y="352"/>
                  </a:lnTo>
                  <a:lnTo>
                    <a:pt x="340" y="338"/>
                  </a:lnTo>
                  <a:lnTo>
                    <a:pt x="352" y="324"/>
                  </a:lnTo>
                  <a:lnTo>
                    <a:pt x="364" y="310"/>
                  </a:lnTo>
                  <a:lnTo>
                    <a:pt x="374" y="292"/>
                  </a:lnTo>
                  <a:lnTo>
                    <a:pt x="382" y="276"/>
                  </a:lnTo>
                  <a:lnTo>
                    <a:pt x="388" y="258"/>
                  </a:lnTo>
                  <a:lnTo>
                    <a:pt x="394" y="238"/>
                  </a:lnTo>
                  <a:lnTo>
                    <a:pt x="396" y="218"/>
                  </a:lnTo>
                  <a:lnTo>
                    <a:pt x="398" y="198"/>
                  </a:lnTo>
                  <a:lnTo>
                    <a:pt x="398" y="198"/>
                  </a:lnTo>
                  <a:lnTo>
                    <a:pt x="396" y="178"/>
                  </a:lnTo>
                  <a:lnTo>
                    <a:pt x="394" y="158"/>
                  </a:lnTo>
                  <a:lnTo>
                    <a:pt x="388" y="140"/>
                  </a:lnTo>
                  <a:lnTo>
                    <a:pt x="382" y="122"/>
                  </a:lnTo>
                  <a:lnTo>
                    <a:pt x="374" y="104"/>
                  </a:lnTo>
                  <a:lnTo>
                    <a:pt x="364" y="88"/>
                  </a:lnTo>
                  <a:lnTo>
                    <a:pt x="352" y="72"/>
                  </a:lnTo>
                  <a:lnTo>
                    <a:pt x="340" y="58"/>
                  </a:lnTo>
                  <a:lnTo>
                    <a:pt x="326" y="46"/>
                  </a:lnTo>
                  <a:lnTo>
                    <a:pt x="310" y="34"/>
                  </a:lnTo>
                  <a:lnTo>
                    <a:pt x="294" y="24"/>
                  </a:lnTo>
                  <a:lnTo>
                    <a:pt x="276" y="16"/>
                  </a:lnTo>
                  <a:lnTo>
                    <a:pt x="258" y="8"/>
                  </a:lnTo>
                  <a:lnTo>
                    <a:pt x="238" y="4"/>
                  </a:lnTo>
                  <a:lnTo>
                    <a:pt x="220" y="0"/>
                  </a:lnTo>
                  <a:lnTo>
                    <a:pt x="198" y="0"/>
                  </a:lnTo>
                  <a:lnTo>
                    <a:pt x="198" y="0"/>
                  </a:lnTo>
                  <a:close/>
                  <a:moveTo>
                    <a:pt x="146" y="198"/>
                  </a:moveTo>
                  <a:lnTo>
                    <a:pt x="146" y="198"/>
                  </a:lnTo>
                  <a:lnTo>
                    <a:pt x="146" y="204"/>
                  </a:lnTo>
                  <a:lnTo>
                    <a:pt x="230" y="244"/>
                  </a:lnTo>
                  <a:lnTo>
                    <a:pt x="230" y="244"/>
                  </a:lnTo>
                  <a:lnTo>
                    <a:pt x="236" y="240"/>
                  </a:lnTo>
                  <a:lnTo>
                    <a:pt x="242" y="236"/>
                  </a:lnTo>
                  <a:lnTo>
                    <a:pt x="250" y="234"/>
                  </a:lnTo>
                  <a:lnTo>
                    <a:pt x="258" y="232"/>
                  </a:lnTo>
                  <a:lnTo>
                    <a:pt x="258" y="232"/>
                  </a:lnTo>
                  <a:lnTo>
                    <a:pt x="266" y="234"/>
                  </a:lnTo>
                  <a:lnTo>
                    <a:pt x="274" y="236"/>
                  </a:lnTo>
                  <a:lnTo>
                    <a:pt x="280" y="240"/>
                  </a:lnTo>
                  <a:lnTo>
                    <a:pt x="286" y="244"/>
                  </a:lnTo>
                  <a:lnTo>
                    <a:pt x="290" y="250"/>
                  </a:lnTo>
                  <a:lnTo>
                    <a:pt x="294" y="256"/>
                  </a:lnTo>
                  <a:lnTo>
                    <a:pt x="296" y="264"/>
                  </a:lnTo>
                  <a:lnTo>
                    <a:pt x="298" y="272"/>
                  </a:lnTo>
                  <a:lnTo>
                    <a:pt x="298" y="272"/>
                  </a:lnTo>
                  <a:lnTo>
                    <a:pt x="296" y="280"/>
                  </a:lnTo>
                  <a:lnTo>
                    <a:pt x="294" y="288"/>
                  </a:lnTo>
                  <a:lnTo>
                    <a:pt x="290" y="294"/>
                  </a:lnTo>
                  <a:lnTo>
                    <a:pt x="286" y="300"/>
                  </a:lnTo>
                  <a:lnTo>
                    <a:pt x="280" y="304"/>
                  </a:lnTo>
                  <a:lnTo>
                    <a:pt x="274" y="308"/>
                  </a:lnTo>
                  <a:lnTo>
                    <a:pt x="266" y="310"/>
                  </a:lnTo>
                  <a:lnTo>
                    <a:pt x="258" y="312"/>
                  </a:lnTo>
                  <a:lnTo>
                    <a:pt x="258" y="312"/>
                  </a:lnTo>
                  <a:lnTo>
                    <a:pt x="250" y="310"/>
                  </a:lnTo>
                  <a:lnTo>
                    <a:pt x="242" y="308"/>
                  </a:lnTo>
                  <a:lnTo>
                    <a:pt x="236" y="304"/>
                  </a:lnTo>
                  <a:lnTo>
                    <a:pt x="230" y="300"/>
                  </a:lnTo>
                  <a:lnTo>
                    <a:pt x="226" y="294"/>
                  </a:lnTo>
                  <a:lnTo>
                    <a:pt x="222" y="288"/>
                  </a:lnTo>
                  <a:lnTo>
                    <a:pt x="220" y="280"/>
                  </a:lnTo>
                  <a:lnTo>
                    <a:pt x="218" y="272"/>
                  </a:lnTo>
                  <a:lnTo>
                    <a:pt x="218" y="272"/>
                  </a:lnTo>
                  <a:lnTo>
                    <a:pt x="220" y="266"/>
                  </a:lnTo>
                  <a:lnTo>
                    <a:pt x="136" y="226"/>
                  </a:lnTo>
                  <a:lnTo>
                    <a:pt x="136" y="226"/>
                  </a:lnTo>
                  <a:lnTo>
                    <a:pt x="130" y="230"/>
                  </a:lnTo>
                  <a:lnTo>
                    <a:pt x="124" y="234"/>
                  </a:lnTo>
                  <a:lnTo>
                    <a:pt x="116" y="236"/>
                  </a:lnTo>
                  <a:lnTo>
                    <a:pt x="108" y="238"/>
                  </a:lnTo>
                  <a:lnTo>
                    <a:pt x="108" y="238"/>
                  </a:lnTo>
                  <a:lnTo>
                    <a:pt x="100" y="236"/>
                  </a:lnTo>
                  <a:lnTo>
                    <a:pt x="92" y="234"/>
                  </a:lnTo>
                  <a:lnTo>
                    <a:pt x="86" y="230"/>
                  </a:lnTo>
                  <a:lnTo>
                    <a:pt x="80" y="226"/>
                  </a:lnTo>
                  <a:lnTo>
                    <a:pt x="74" y="220"/>
                  </a:lnTo>
                  <a:lnTo>
                    <a:pt x="72" y="214"/>
                  </a:lnTo>
                  <a:lnTo>
                    <a:pt x="68" y="206"/>
                  </a:lnTo>
                  <a:lnTo>
                    <a:pt x="68" y="198"/>
                  </a:lnTo>
                  <a:lnTo>
                    <a:pt x="68" y="198"/>
                  </a:lnTo>
                  <a:lnTo>
                    <a:pt x="68" y="190"/>
                  </a:lnTo>
                  <a:lnTo>
                    <a:pt x="72" y="182"/>
                  </a:lnTo>
                  <a:lnTo>
                    <a:pt x="74" y="176"/>
                  </a:lnTo>
                  <a:lnTo>
                    <a:pt x="80" y="170"/>
                  </a:lnTo>
                  <a:lnTo>
                    <a:pt x="86" y="166"/>
                  </a:lnTo>
                  <a:lnTo>
                    <a:pt x="92" y="162"/>
                  </a:lnTo>
                  <a:lnTo>
                    <a:pt x="100" y="160"/>
                  </a:lnTo>
                  <a:lnTo>
                    <a:pt x="108" y="158"/>
                  </a:lnTo>
                  <a:lnTo>
                    <a:pt x="108" y="158"/>
                  </a:lnTo>
                  <a:lnTo>
                    <a:pt x="116" y="160"/>
                  </a:lnTo>
                  <a:lnTo>
                    <a:pt x="124" y="162"/>
                  </a:lnTo>
                  <a:lnTo>
                    <a:pt x="130" y="166"/>
                  </a:lnTo>
                  <a:lnTo>
                    <a:pt x="136" y="172"/>
                  </a:lnTo>
                  <a:lnTo>
                    <a:pt x="220" y="130"/>
                  </a:lnTo>
                  <a:lnTo>
                    <a:pt x="220" y="130"/>
                  </a:lnTo>
                  <a:lnTo>
                    <a:pt x="218" y="124"/>
                  </a:lnTo>
                  <a:lnTo>
                    <a:pt x="218" y="124"/>
                  </a:lnTo>
                  <a:lnTo>
                    <a:pt x="220" y="116"/>
                  </a:lnTo>
                  <a:lnTo>
                    <a:pt x="222" y="110"/>
                  </a:lnTo>
                  <a:lnTo>
                    <a:pt x="226" y="102"/>
                  </a:lnTo>
                  <a:lnTo>
                    <a:pt x="230" y="98"/>
                  </a:lnTo>
                  <a:lnTo>
                    <a:pt x="236" y="92"/>
                  </a:lnTo>
                  <a:lnTo>
                    <a:pt x="242" y="88"/>
                  </a:lnTo>
                  <a:lnTo>
                    <a:pt x="250" y="86"/>
                  </a:lnTo>
                  <a:lnTo>
                    <a:pt x="258" y="86"/>
                  </a:lnTo>
                  <a:lnTo>
                    <a:pt x="258" y="86"/>
                  </a:lnTo>
                  <a:lnTo>
                    <a:pt x="266" y="86"/>
                  </a:lnTo>
                  <a:lnTo>
                    <a:pt x="274" y="88"/>
                  </a:lnTo>
                  <a:lnTo>
                    <a:pt x="280" y="92"/>
                  </a:lnTo>
                  <a:lnTo>
                    <a:pt x="286" y="98"/>
                  </a:lnTo>
                  <a:lnTo>
                    <a:pt x="290" y="102"/>
                  </a:lnTo>
                  <a:lnTo>
                    <a:pt x="294" y="110"/>
                  </a:lnTo>
                  <a:lnTo>
                    <a:pt x="296" y="116"/>
                  </a:lnTo>
                  <a:lnTo>
                    <a:pt x="298" y="124"/>
                  </a:lnTo>
                  <a:lnTo>
                    <a:pt x="298" y="124"/>
                  </a:lnTo>
                  <a:lnTo>
                    <a:pt x="296" y="132"/>
                  </a:lnTo>
                  <a:lnTo>
                    <a:pt x="294" y="140"/>
                  </a:lnTo>
                  <a:lnTo>
                    <a:pt x="290" y="146"/>
                  </a:lnTo>
                  <a:lnTo>
                    <a:pt x="286" y="152"/>
                  </a:lnTo>
                  <a:lnTo>
                    <a:pt x="280" y="158"/>
                  </a:lnTo>
                  <a:lnTo>
                    <a:pt x="274" y="162"/>
                  </a:lnTo>
                  <a:lnTo>
                    <a:pt x="266" y="164"/>
                  </a:lnTo>
                  <a:lnTo>
                    <a:pt x="258" y="164"/>
                  </a:lnTo>
                  <a:lnTo>
                    <a:pt x="258" y="164"/>
                  </a:lnTo>
                  <a:lnTo>
                    <a:pt x="250" y="164"/>
                  </a:lnTo>
                  <a:lnTo>
                    <a:pt x="242" y="160"/>
                  </a:lnTo>
                  <a:lnTo>
                    <a:pt x="236" y="156"/>
                  </a:lnTo>
                  <a:lnTo>
                    <a:pt x="230" y="152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6" y="198"/>
                  </a:lnTo>
                  <a:lnTo>
                    <a:pt x="146" y="198"/>
                  </a:lnTo>
                  <a:close/>
                </a:path>
              </a:pathLst>
            </a:custGeom>
            <a:solidFill>
              <a:srgbClr val="10315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BDDF328-586D-4D98-875E-2173A88B52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62" name="椭圆 21">
            <a:extLst>
              <a:ext uri="{FF2B5EF4-FFF2-40B4-BE49-F238E27FC236}">
                <a16:creationId xmlns:a16="http://schemas.microsoft.com/office/drawing/2014/main" id="{862A9473-5F1F-4F64-BEC5-A9DA303A19BC}"/>
              </a:ext>
            </a:extLst>
          </p:cNvPr>
          <p:cNvSpPr/>
          <p:nvPr/>
        </p:nvSpPr>
        <p:spPr>
          <a:xfrm>
            <a:off x="829736" y="1948835"/>
            <a:ext cx="1059142" cy="1059142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3" name="Freeform 48">
            <a:extLst>
              <a:ext uri="{FF2B5EF4-FFF2-40B4-BE49-F238E27FC236}">
                <a16:creationId xmlns:a16="http://schemas.microsoft.com/office/drawing/2014/main" id="{E8ADE6A3-967E-4901-BC08-62113C708D00}"/>
              </a:ext>
            </a:extLst>
          </p:cNvPr>
          <p:cNvSpPr>
            <a:spLocks/>
          </p:cNvSpPr>
          <p:nvPr/>
        </p:nvSpPr>
        <p:spPr bwMode="auto">
          <a:xfrm>
            <a:off x="1259122" y="2837070"/>
            <a:ext cx="188236" cy="40700"/>
          </a:xfrm>
          <a:custGeom>
            <a:avLst/>
            <a:gdLst/>
            <a:ahLst/>
            <a:cxnLst>
              <a:cxn ang="0">
                <a:pos x="132" y="0"/>
              </a:cxn>
              <a:cxn ang="0">
                <a:pos x="16" y="0"/>
              </a:cxn>
              <a:cxn ang="0">
                <a:pos x="16" y="0"/>
              </a:cxn>
              <a:cxn ang="0">
                <a:pos x="8" y="2"/>
              </a:cxn>
              <a:cxn ang="0">
                <a:pos x="4" y="4"/>
              </a:cxn>
              <a:cxn ang="0">
                <a:pos x="0" y="10"/>
              </a:cxn>
              <a:cxn ang="0">
                <a:pos x="0" y="16"/>
              </a:cxn>
              <a:cxn ang="0">
                <a:pos x="0" y="16"/>
              </a:cxn>
              <a:cxn ang="0">
                <a:pos x="0" y="22"/>
              </a:cxn>
              <a:cxn ang="0">
                <a:pos x="4" y="28"/>
              </a:cxn>
              <a:cxn ang="0">
                <a:pos x="8" y="30"/>
              </a:cxn>
              <a:cxn ang="0">
                <a:pos x="16" y="32"/>
              </a:cxn>
              <a:cxn ang="0">
                <a:pos x="132" y="32"/>
              </a:cxn>
              <a:cxn ang="0">
                <a:pos x="132" y="32"/>
              </a:cxn>
              <a:cxn ang="0">
                <a:pos x="138" y="30"/>
              </a:cxn>
              <a:cxn ang="0">
                <a:pos x="142" y="28"/>
              </a:cxn>
              <a:cxn ang="0">
                <a:pos x="146" y="22"/>
              </a:cxn>
              <a:cxn ang="0">
                <a:pos x="148" y="16"/>
              </a:cxn>
              <a:cxn ang="0">
                <a:pos x="148" y="16"/>
              </a:cxn>
              <a:cxn ang="0">
                <a:pos x="146" y="10"/>
              </a:cxn>
              <a:cxn ang="0">
                <a:pos x="142" y="4"/>
              </a:cxn>
              <a:cxn ang="0">
                <a:pos x="138" y="2"/>
              </a:cxn>
              <a:cxn ang="0">
                <a:pos x="132" y="0"/>
              </a:cxn>
              <a:cxn ang="0">
                <a:pos x="132" y="0"/>
              </a:cxn>
            </a:cxnLst>
            <a:rect l="0" t="0" r="r" b="b"/>
            <a:pathLst>
              <a:path w="148" h="32">
                <a:moveTo>
                  <a:pt x="132" y="0"/>
                </a:moveTo>
                <a:lnTo>
                  <a:pt x="16" y="0"/>
                </a:lnTo>
                <a:lnTo>
                  <a:pt x="16" y="0"/>
                </a:lnTo>
                <a:lnTo>
                  <a:pt x="8" y="2"/>
                </a:lnTo>
                <a:lnTo>
                  <a:pt x="4" y="4"/>
                </a:lnTo>
                <a:lnTo>
                  <a:pt x="0" y="10"/>
                </a:lnTo>
                <a:lnTo>
                  <a:pt x="0" y="16"/>
                </a:lnTo>
                <a:lnTo>
                  <a:pt x="0" y="16"/>
                </a:lnTo>
                <a:lnTo>
                  <a:pt x="0" y="22"/>
                </a:lnTo>
                <a:lnTo>
                  <a:pt x="4" y="28"/>
                </a:lnTo>
                <a:lnTo>
                  <a:pt x="8" y="30"/>
                </a:lnTo>
                <a:lnTo>
                  <a:pt x="16" y="32"/>
                </a:lnTo>
                <a:lnTo>
                  <a:pt x="132" y="32"/>
                </a:lnTo>
                <a:lnTo>
                  <a:pt x="132" y="32"/>
                </a:lnTo>
                <a:lnTo>
                  <a:pt x="138" y="30"/>
                </a:lnTo>
                <a:lnTo>
                  <a:pt x="142" y="28"/>
                </a:lnTo>
                <a:lnTo>
                  <a:pt x="146" y="22"/>
                </a:lnTo>
                <a:lnTo>
                  <a:pt x="148" y="16"/>
                </a:lnTo>
                <a:lnTo>
                  <a:pt x="148" y="16"/>
                </a:lnTo>
                <a:lnTo>
                  <a:pt x="146" y="10"/>
                </a:lnTo>
                <a:lnTo>
                  <a:pt x="142" y="4"/>
                </a:lnTo>
                <a:lnTo>
                  <a:pt x="138" y="2"/>
                </a:lnTo>
                <a:lnTo>
                  <a:pt x="132" y="0"/>
                </a:lnTo>
                <a:lnTo>
                  <a:pt x="132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64" name="Freeform 49">
            <a:extLst>
              <a:ext uri="{FF2B5EF4-FFF2-40B4-BE49-F238E27FC236}">
                <a16:creationId xmlns:a16="http://schemas.microsoft.com/office/drawing/2014/main" id="{2145C6F9-D163-4227-A865-68B55B8F5E25}"/>
              </a:ext>
            </a:extLst>
          </p:cNvPr>
          <p:cNvSpPr>
            <a:spLocks noEditPoints="1"/>
          </p:cNvSpPr>
          <p:nvPr/>
        </p:nvSpPr>
        <p:spPr bwMode="auto">
          <a:xfrm>
            <a:off x="1159917" y="2264731"/>
            <a:ext cx="381558" cy="465504"/>
          </a:xfrm>
          <a:custGeom>
            <a:avLst/>
            <a:gdLst/>
            <a:ahLst/>
            <a:cxnLst>
              <a:cxn ang="0">
                <a:pos x="150" y="0"/>
              </a:cxn>
              <a:cxn ang="0">
                <a:pos x="142" y="0"/>
              </a:cxn>
              <a:cxn ang="0">
                <a:pos x="100" y="10"/>
              </a:cxn>
              <a:cxn ang="0">
                <a:pos x="62" y="28"/>
              </a:cxn>
              <a:cxn ang="0">
                <a:pos x="32" y="58"/>
              </a:cxn>
              <a:cxn ang="0">
                <a:pos x="12" y="94"/>
              </a:cxn>
              <a:cxn ang="0">
                <a:pos x="2" y="136"/>
              </a:cxn>
              <a:cxn ang="0">
                <a:pos x="2" y="166"/>
              </a:cxn>
              <a:cxn ang="0">
                <a:pos x="16" y="214"/>
              </a:cxn>
              <a:cxn ang="0">
                <a:pos x="56" y="266"/>
              </a:cxn>
              <a:cxn ang="0">
                <a:pos x="72" y="290"/>
              </a:cxn>
              <a:cxn ang="0">
                <a:pos x="78" y="322"/>
              </a:cxn>
              <a:cxn ang="0">
                <a:pos x="78" y="340"/>
              </a:cxn>
              <a:cxn ang="0">
                <a:pos x="96" y="364"/>
              </a:cxn>
              <a:cxn ang="0">
                <a:pos x="150" y="366"/>
              </a:cxn>
              <a:cxn ang="0">
                <a:pos x="192" y="366"/>
              </a:cxn>
              <a:cxn ang="0">
                <a:pos x="214" y="356"/>
              </a:cxn>
              <a:cxn ang="0">
                <a:pos x="224" y="334"/>
              </a:cxn>
              <a:cxn ang="0">
                <a:pos x="224" y="304"/>
              </a:cxn>
              <a:cxn ang="0">
                <a:pos x="236" y="276"/>
              </a:cxn>
              <a:cxn ang="0">
                <a:pos x="266" y="242"/>
              </a:cxn>
              <a:cxn ang="0">
                <a:pos x="290" y="198"/>
              </a:cxn>
              <a:cxn ang="0">
                <a:pos x="300" y="150"/>
              </a:cxn>
              <a:cxn ang="0">
                <a:pos x="298" y="122"/>
              </a:cxn>
              <a:cxn ang="0">
                <a:pos x="284" y="82"/>
              </a:cxn>
              <a:cxn ang="0">
                <a:pos x="260" y="48"/>
              </a:cxn>
              <a:cxn ang="0">
                <a:pos x="226" y="22"/>
              </a:cxn>
              <a:cxn ang="0">
                <a:pos x="188" y="6"/>
              </a:cxn>
              <a:cxn ang="0">
                <a:pos x="158" y="0"/>
              </a:cxn>
              <a:cxn ang="0">
                <a:pos x="244" y="156"/>
              </a:cxn>
              <a:cxn ang="0">
                <a:pos x="234" y="146"/>
              </a:cxn>
              <a:cxn ang="0">
                <a:pos x="232" y="126"/>
              </a:cxn>
              <a:cxn ang="0">
                <a:pos x="214" y="92"/>
              </a:cxn>
              <a:cxn ang="0">
                <a:pos x="182" y="72"/>
              </a:cxn>
              <a:cxn ang="0">
                <a:pos x="160" y="68"/>
              </a:cxn>
              <a:cxn ang="0">
                <a:pos x="150" y="50"/>
              </a:cxn>
              <a:cxn ang="0">
                <a:pos x="156" y="38"/>
              </a:cxn>
              <a:cxn ang="0">
                <a:pos x="170" y="32"/>
              </a:cxn>
              <a:cxn ang="0">
                <a:pos x="226" y="52"/>
              </a:cxn>
              <a:cxn ang="0">
                <a:pos x="262" y="98"/>
              </a:cxn>
              <a:cxn ang="0">
                <a:pos x="270" y="138"/>
              </a:cxn>
              <a:cxn ang="0">
                <a:pos x="266" y="152"/>
              </a:cxn>
              <a:cxn ang="0">
                <a:pos x="252" y="158"/>
              </a:cxn>
            </a:cxnLst>
            <a:rect l="0" t="0" r="r" b="b"/>
            <a:pathLst>
              <a:path w="300" h="366">
                <a:moveTo>
                  <a:pt x="158" y="0"/>
                </a:moveTo>
                <a:lnTo>
                  <a:pt x="158" y="0"/>
                </a:lnTo>
                <a:lnTo>
                  <a:pt x="150" y="0"/>
                </a:lnTo>
                <a:lnTo>
                  <a:pt x="150" y="0"/>
                </a:lnTo>
                <a:lnTo>
                  <a:pt x="142" y="0"/>
                </a:lnTo>
                <a:lnTo>
                  <a:pt x="142" y="0"/>
                </a:lnTo>
                <a:lnTo>
                  <a:pt x="128" y="2"/>
                </a:lnTo>
                <a:lnTo>
                  <a:pt x="114" y="6"/>
                </a:lnTo>
                <a:lnTo>
                  <a:pt x="100" y="10"/>
                </a:lnTo>
                <a:lnTo>
                  <a:pt x="88" y="14"/>
                </a:lnTo>
                <a:lnTo>
                  <a:pt x="74" y="22"/>
                </a:lnTo>
                <a:lnTo>
                  <a:pt x="62" y="28"/>
                </a:lnTo>
                <a:lnTo>
                  <a:pt x="52" y="38"/>
                </a:lnTo>
                <a:lnTo>
                  <a:pt x="42" y="48"/>
                </a:lnTo>
                <a:lnTo>
                  <a:pt x="32" y="58"/>
                </a:lnTo>
                <a:lnTo>
                  <a:pt x="24" y="68"/>
                </a:lnTo>
                <a:lnTo>
                  <a:pt x="18" y="82"/>
                </a:lnTo>
                <a:lnTo>
                  <a:pt x="12" y="94"/>
                </a:lnTo>
                <a:lnTo>
                  <a:pt x="6" y="108"/>
                </a:lnTo>
                <a:lnTo>
                  <a:pt x="4" y="122"/>
                </a:lnTo>
                <a:lnTo>
                  <a:pt x="2" y="136"/>
                </a:lnTo>
                <a:lnTo>
                  <a:pt x="0" y="150"/>
                </a:lnTo>
                <a:lnTo>
                  <a:pt x="0" y="150"/>
                </a:lnTo>
                <a:lnTo>
                  <a:pt x="2" y="166"/>
                </a:lnTo>
                <a:lnTo>
                  <a:pt x="4" y="182"/>
                </a:lnTo>
                <a:lnTo>
                  <a:pt x="10" y="198"/>
                </a:lnTo>
                <a:lnTo>
                  <a:pt x="16" y="214"/>
                </a:lnTo>
                <a:lnTo>
                  <a:pt x="26" y="228"/>
                </a:lnTo>
                <a:lnTo>
                  <a:pt x="34" y="242"/>
                </a:lnTo>
                <a:lnTo>
                  <a:pt x="56" y="266"/>
                </a:lnTo>
                <a:lnTo>
                  <a:pt x="56" y="266"/>
                </a:lnTo>
                <a:lnTo>
                  <a:pt x="66" y="276"/>
                </a:lnTo>
                <a:lnTo>
                  <a:pt x="72" y="290"/>
                </a:lnTo>
                <a:lnTo>
                  <a:pt x="72" y="290"/>
                </a:lnTo>
                <a:lnTo>
                  <a:pt x="76" y="304"/>
                </a:lnTo>
                <a:lnTo>
                  <a:pt x="78" y="322"/>
                </a:lnTo>
                <a:lnTo>
                  <a:pt x="78" y="334"/>
                </a:lnTo>
                <a:lnTo>
                  <a:pt x="78" y="334"/>
                </a:lnTo>
                <a:lnTo>
                  <a:pt x="78" y="340"/>
                </a:lnTo>
                <a:lnTo>
                  <a:pt x="80" y="346"/>
                </a:lnTo>
                <a:lnTo>
                  <a:pt x="86" y="356"/>
                </a:lnTo>
                <a:lnTo>
                  <a:pt x="96" y="364"/>
                </a:lnTo>
                <a:lnTo>
                  <a:pt x="102" y="366"/>
                </a:lnTo>
                <a:lnTo>
                  <a:pt x="110" y="366"/>
                </a:lnTo>
                <a:lnTo>
                  <a:pt x="150" y="366"/>
                </a:lnTo>
                <a:lnTo>
                  <a:pt x="150" y="366"/>
                </a:lnTo>
                <a:lnTo>
                  <a:pt x="192" y="366"/>
                </a:lnTo>
                <a:lnTo>
                  <a:pt x="192" y="366"/>
                </a:lnTo>
                <a:lnTo>
                  <a:pt x="198" y="366"/>
                </a:lnTo>
                <a:lnTo>
                  <a:pt x="204" y="364"/>
                </a:lnTo>
                <a:lnTo>
                  <a:pt x="214" y="356"/>
                </a:lnTo>
                <a:lnTo>
                  <a:pt x="220" y="346"/>
                </a:lnTo>
                <a:lnTo>
                  <a:pt x="222" y="340"/>
                </a:lnTo>
                <a:lnTo>
                  <a:pt x="224" y="334"/>
                </a:lnTo>
                <a:lnTo>
                  <a:pt x="224" y="322"/>
                </a:lnTo>
                <a:lnTo>
                  <a:pt x="224" y="322"/>
                </a:lnTo>
                <a:lnTo>
                  <a:pt x="224" y="304"/>
                </a:lnTo>
                <a:lnTo>
                  <a:pt x="228" y="290"/>
                </a:lnTo>
                <a:lnTo>
                  <a:pt x="228" y="290"/>
                </a:lnTo>
                <a:lnTo>
                  <a:pt x="236" y="276"/>
                </a:lnTo>
                <a:lnTo>
                  <a:pt x="244" y="266"/>
                </a:lnTo>
                <a:lnTo>
                  <a:pt x="244" y="266"/>
                </a:lnTo>
                <a:lnTo>
                  <a:pt x="266" y="242"/>
                </a:lnTo>
                <a:lnTo>
                  <a:pt x="276" y="228"/>
                </a:lnTo>
                <a:lnTo>
                  <a:pt x="284" y="214"/>
                </a:lnTo>
                <a:lnTo>
                  <a:pt x="290" y="198"/>
                </a:lnTo>
                <a:lnTo>
                  <a:pt x="296" y="182"/>
                </a:lnTo>
                <a:lnTo>
                  <a:pt x="298" y="166"/>
                </a:lnTo>
                <a:lnTo>
                  <a:pt x="300" y="150"/>
                </a:lnTo>
                <a:lnTo>
                  <a:pt x="300" y="150"/>
                </a:lnTo>
                <a:lnTo>
                  <a:pt x="300" y="136"/>
                </a:lnTo>
                <a:lnTo>
                  <a:pt x="298" y="122"/>
                </a:lnTo>
                <a:lnTo>
                  <a:pt x="294" y="108"/>
                </a:lnTo>
                <a:lnTo>
                  <a:pt x="290" y="94"/>
                </a:lnTo>
                <a:lnTo>
                  <a:pt x="284" y="82"/>
                </a:lnTo>
                <a:lnTo>
                  <a:pt x="276" y="70"/>
                </a:lnTo>
                <a:lnTo>
                  <a:pt x="268" y="58"/>
                </a:lnTo>
                <a:lnTo>
                  <a:pt x="260" y="48"/>
                </a:lnTo>
                <a:lnTo>
                  <a:pt x="250" y="38"/>
                </a:lnTo>
                <a:lnTo>
                  <a:pt x="238" y="30"/>
                </a:lnTo>
                <a:lnTo>
                  <a:pt x="226" y="22"/>
                </a:lnTo>
                <a:lnTo>
                  <a:pt x="214" y="14"/>
                </a:lnTo>
                <a:lnTo>
                  <a:pt x="202" y="10"/>
                </a:lnTo>
                <a:lnTo>
                  <a:pt x="188" y="6"/>
                </a:lnTo>
                <a:lnTo>
                  <a:pt x="174" y="2"/>
                </a:lnTo>
                <a:lnTo>
                  <a:pt x="158" y="0"/>
                </a:lnTo>
                <a:lnTo>
                  <a:pt x="158" y="0"/>
                </a:lnTo>
                <a:close/>
                <a:moveTo>
                  <a:pt x="252" y="158"/>
                </a:moveTo>
                <a:lnTo>
                  <a:pt x="252" y="158"/>
                </a:lnTo>
                <a:lnTo>
                  <a:pt x="244" y="156"/>
                </a:lnTo>
                <a:lnTo>
                  <a:pt x="238" y="152"/>
                </a:lnTo>
                <a:lnTo>
                  <a:pt x="238" y="152"/>
                </a:lnTo>
                <a:lnTo>
                  <a:pt x="234" y="146"/>
                </a:lnTo>
                <a:lnTo>
                  <a:pt x="232" y="138"/>
                </a:lnTo>
                <a:lnTo>
                  <a:pt x="232" y="138"/>
                </a:lnTo>
                <a:lnTo>
                  <a:pt x="232" y="126"/>
                </a:lnTo>
                <a:lnTo>
                  <a:pt x="228" y="112"/>
                </a:lnTo>
                <a:lnTo>
                  <a:pt x="222" y="102"/>
                </a:lnTo>
                <a:lnTo>
                  <a:pt x="214" y="92"/>
                </a:lnTo>
                <a:lnTo>
                  <a:pt x="204" y="84"/>
                </a:lnTo>
                <a:lnTo>
                  <a:pt x="194" y="76"/>
                </a:lnTo>
                <a:lnTo>
                  <a:pt x="182" y="72"/>
                </a:lnTo>
                <a:lnTo>
                  <a:pt x="168" y="70"/>
                </a:lnTo>
                <a:lnTo>
                  <a:pt x="168" y="70"/>
                </a:lnTo>
                <a:lnTo>
                  <a:pt x="160" y="68"/>
                </a:lnTo>
                <a:lnTo>
                  <a:pt x="154" y="64"/>
                </a:lnTo>
                <a:lnTo>
                  <a:pt x="150" y="58"/>
                </a:lnTo>
                <a:lnTo>
                  <a:pt x="150" y="50"/>
                </a:lnTo>
                <a:lnTo>
                  <a:pt x="150" y="50"/>
                </a:lnTo>
                <a:lnTo>
                  <a:pt x="152" y="42"/>
                </a:lnTo>
                <a:lnTo>
                  <a:pt x="156" y="38"/>
                </a:lnTo>
                <a:lnTo>
                  <a:pt x="162" y="34"/>
                </a:lnTo>
                <a:lnTo>
                  <a:pt x="170" y="32"/>
                </a:lnTo>
                <a:lnTo>
                  <a:pt x="170" y="32"/>
                </a:lnTo>
                <a:lnTo>
                  <a:pt x="190" y="36"/>
                </a:lnTo>
                <a:lnTo>
                  <a:pt x="210" y="42"/>
                </a:lnTo>
                <a:lnTo>
                  <a:pt x="226" y="52"/>
                </a:lnTo>
                <a:lnTo>
                  <a:pt x="242" y="66"/>
                </a:lnTo>
                <a:lnTo>
                  <a:pt x="254" y="80"/>
                </a:lnTo>
                <a:lnTo>
                  <a:pt x="262" y="98"/>
                </a:lnTo>
                <a:lnTo>
                  <a:pt x="268" y="118"/>
                </a:lnTo>
                <a:lnTo>
                  <a:pt x="270" y="138"/>
                </a:lnTo>
                <a:lnTo>
                  <a:pt x="270" y="138"/>
                </a:lnTo>
                <a:lnTo>
                  <a:pt x="270" y="146"/>
                </a:lnTo>
                <a:lnTo>
                  <a:pt x="266" y="152"/>
                </a:lnTo>
                <a:lnTo>
                  <a:pt x="266" y="152"/>
                </a:lnTo>
                <a:lnTo>
                  <a:pt x="260" y="156"/>
                </a:lnTo>
                <a:lnTo>
                  <a:pt x="252" y="158"/>
                </a:lnTo>
                <a:lnTo>
                  <a:pt x="252" y="158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 dirty="0"/>
          </a:p>
        </p:txBody>
      </p:sp>
      <p:sp>
        <p:nvSpPr>
          <p:cNvPr id="65" name="Rectangle 51">
            <a:extLst>
              <a:ext uri="{FF2B5EF4-FFF2-40B4-BE49-F238E27FC236}">
                <a16:creationId xmlns:a16="http://schemas.microsoft.com/office/drawing/2014/main" id="{8C67D2B6-CD94-407C-8DF6-21CF50055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122" y="2763303"/>
            <a:ext cx="188236" cy="40700"/>
          </a:xfrm>
          <a:prstGeom prst="rect">
            <a:avLst/>
          </a:prstGeom>
          <a:solidFill>
            <a:srgbClr val="10315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66" name="Freeform 52">
            <a:extLst>
              <a:ext uri="{FF2B5EF4-FFF2-40B4-BE49-F238E27FC236}">
                <a16:creationId xmlns:a16="http://schemas.microsoft.com/office/drawing/2014/main" id="{B236C2FC-2B6D-406B-81F2-DDB93BA9FB18}"/>
              </a:ext>
            </a:extLst>
          </p:cNvPr>
          <p:cNvSpPr>
            <a:spLocks/>
          </p:cNvSpPr>
          <p:nvPr/>
        </p:nvSpPr>
        <p:spPr bwMode="auto">
          <a:xfrm>
            <a:off x="1330347" y="2079038"/>
            <a:ext cx="43243" cy="144993"/>
          </a:xfrm>
          <a:custGeom>
            <a:avLst/>
            <a:gdLst/>
            <a:ahLst/>
            <a:cxnLst>
              <a:cxn ang="0">
                <a:pos x="34" y="112"/>
              </a:cxn>
              <a:cxn ang="0">
                <a:pos x="4" y="114"/>
              </a:cxn>
              <a:cxn ang="0">
                <a:pos x="0" y="0"/>
              </a:cxn>
              <a:cxn ang="0">
                <a:pos x="28" y="0"/>
              </a:cxn>
              <a:cxn ang="0">
                <a:pos x="34" y="112"/>
              </a:cxn>
            </a:cxnLst>
            <a:rect l="0" t="0" r="r" b="b"/>
            <a:pathLst>
              <a:path w="34" h="114">
                <a:moveTo>
                  <a:pt x="34" y="112"/>
                </a:moveTo>
                <a:lnTo>
                  <a:pt x="4" y="114"/>
                </a:lnTo>
                <a:lnTo>
                  <a:pt x="0" y="0"/>
                </a:lnTo>
                <a:lnTo>
                  <a:pt x="28" y="0"/>
                </a:lnTo>
                <a:lnTo>
                  <a:pt x="34" y="112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67" name="Freeform 53">
            <a:extLst>
              <a:ext uri="{FF2B5EF4-FFF2-40B4-BE49-F238E27FC236}">
                <a16:creationId xmlns:a16="http://schemas.microsoft.com/office/drawing/2014/main" id="{7BE61843-4536-4942-BD32-6AD791351FA8}"/>
              </a:ext>
            </a:extLst>
          </p:cNvPr>
          <p:cNvSpPr>
            <a:spLocks/>
          </p:cNvSpPr>
          <p:nvPr/>
        </p:nvSpPr>
        <p:spPr bwMode="auto">
          <a:xfrm>
            <a:off x="1147198" y="2119738"/>
            <a:ext cx="104293" cy="142449"/>
          </a:xfrm>
          <a:custGeom>
            <a:avLst/>
            <a:gdLst/>
            <a:ahLst/>
            <a:cxnLst>
              <a:cxn ang="0">
                <a:pos x="58" y="112"/>
              </a:cxn>
              <a:cxn ang="0">
                <a:pos x="0" y="14"/>
              </a:cxn>
              <a:cxn ang="0">
                <a:pos x="26" y="0"/>
              </a:cxn>
              <a:cxn ang="0">
                <a:pos x="82" y="98"/>
              </a:cxn>
              <a:cxn ang="0">
                <a:pos x="58" y="112"/>
              </a:cxn>
            </a:cxnLst>
            <a:rect l="0" t="0" r="r" b="b"/>
            <a:pathLst>
              <a:path w="82" h="112">
                <a:moveTo>
                  <a:pt x="58" y="112"/>
                </a:moveTo>
                <a:lnTo>
                  <a:pt x="0" y="14"/>
                </a:lnTo>
                <a:lnTo>
                  <a:pt x="26" y="0"/>
                </a:lnTo>
                <a:lnTo>
                  <a:pt x="82" y="98"/>
                </a:lnTo>
                <a:lnTo>
                  <a:pt x="58" y="112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68" name="Freeform 54">
            <a:extLst>
              <a:ext uri="{FF2B5EF4-FFF2-40B4-BE49-F238E27FC236}">
                <a16:creationId xmlns:a16="http://schemas.microsoft.com/office/drawing/2014/main" id="{375E77FB-BDA0-4ECF-ABF3-635E036F779B}"/>
              </a:ext>
            </a:extLst>
          </p:cNvPr>
          <p:cNvSpPr>
            <a:spLocks/>
          </p:cNvSpPr>
          <p:nvPr/>
        </p:nvSpPr>
        <p:spPr bwMode="auto">
          <a:xfrm>
            <a:off x="1017467" y="2249468"/>
            <a:ext cx="144993" cy="104293"/>
          </a:xfrm>
          <a:custGeom>
            <a:avLst/>
            <a:gdLst/>
            <a:ahLst/>
            <a:cxnLst>
              <a:cxn ang="0">
                <a:pos x="14" y="0"/>
              </a:cxn>
              <a:cxn ang="0">
                <a:pos x="114" y="58"/>
              </a:cxn>
              <a:cxn ang="0">
                <a:pos x="98" y="82"/>
              </a:cxn>
              <a:cxn ang="0">
                <a:pos x="0" y="26"/>
              </a:cxn>
              <a:cxn ang="0">
                <a:pos x="14" y="0"/>
              </a:cxn>
            </a:cxnLst>
            <a:rect l="0" t="0" r="r" b="b"/>
            <a:pathLst>
              <a:path w="114" h="82">
                <a:moveTo>
                  <a:pt x="14" y="0"/>
                </a:moveTo>
                <a:lnTo>
                  <a:pt x="114" y="58"/>
                </a:lnTo>
                <a:lnTo>
                  <a:pt x="98" y="82"/>
                </a:lnTo>
                <a:lnTo>
                  <a:pt x="0" y="26"/>
                </a:lnTo>
                <a:lnTo>
                  <a:pt x="14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69" name="Freeform 55">
            <a:extLst>
              <a:ext uri="{FF2B5EF4-FFF2-40B4-BE49-F238E27FC236}">
                <a16:creationId xmlns:a16="http://schemas.microsoft.com/office/drawing/2014/main" id="{A6ABF521-48A7-4CAA-8857-3EF4ABBBA8F0}"/>
              </a:ext>
            </a:extLst>
          </p:cNvPr>
          <p:cNvSpPr>
            <a:spLocks/>
          </p:cNvSpPr>
          <p:nvPr/>
        </p:nvSpPr>
        <p:spPr bwMode="auto">
          <a:xfrm>
            <a:off x="1541477" y="2249468"/>
            <a:ext cx="142449" cy="104293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0" y="58"/>
              </a:cxn>
              <a:cxn ang="0">
                <a:pos x="14" y="82"/>
              </a:cxn>
              <a:cxn ang="0">
                <a:pos x="112" y="26"/>
              </a:cxn>
              <a:cxn ang="0">
                <a:pos x="98" y="0"/>
              </a:cxn>
            </a:cxnLst>
            <a:rect l="0" t="0" r="r" b="b"/>
            <a:pathLst>
              <a:path w="112" h="82">
                <a:moveTo>
                  <a:pt x="98" y="0"/>
                </a:moveTo>
                <a:lnTo>
                  <a:pt x="0" y="58"/>
                </a:lnTo>
                <a:lnTo>
                  <a:pt x="14" y="82"/>
                </a:lnTo>
                <a:lnTo>
                  <a:pt x="112" y="26"/>
                </a:lnTo>
                <a:lnTo>
                  <a:pt x="98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70" name="Freeform 56">
            <a:extLst>
              <a:ext uri="{FF2B5EF4-FFF2-40B4-BE49-F238E27FC236}">
                <a16:creationId xmlns:a16="http://schemas.microsoft.com/office/drawing/2014/main" id="{5A091D1D-03D3-4419-B1CA-52668EBB0CEB}"/>
              </a:ext>
            </a:extLst>
          </p:cNvPr>
          <p:cNvSpPr>
            <a:spLocks/>
          </p:cNvSpPr>
          <p:nvPr/>
        </p:nvSpPr>
        <p:spPr bwMode="auto">
          <a:xfrm>
            <a:off x="1449902" y="2119738"/>
            <a:ext cx="104293" cy="142449"/>
          </a:xfrm>
          <a:custGeom>
            <a:avLst/>
            <a:gdLst/>
            <a:ahLst/>
            <a:cxnLst>
              <a:cxn ang="0">
                <a:pos x="26" y="112"/>
              </a:cxn>
              <a:cxn ang="0">
                <a:pos x="0" y="98"/>
              </a:cxn>
              <a:cxn ang="0">
                <a:pos x="58" y="0"/>
              </a:cxn>
              <a:cxn ang="0">
                <a:pos x="82" y="14"/>
              </a:cxn>
              <a:cxn ang="0">
                <a:pos x="26" y="112"/>
              </a:cxn>
            </a:cxnLst>
            <a:rect l="0" t="0" r="r" b="b"/>
            <a:pathLst>
              <a:path w="82" h="112">
                <a:moveTo>
                  <a:pt x="26" y="112"/>
                </a:moveTo>
                <a:lnTo>
                  <a:pt x="0" y="98"/>
                </a:lnTo>
                <a:lnTo>
                  <a:pt x="58" y="0"/>
                </a:lnTo>
                <a:lnTo>
                  <a:pt x="82" y="14"/>
                </a:lnTo>
                <a:lnTo>
                  <a:pt x="26" y="112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73" name="椭圆 21">
            <a:extLst>
              <a:ext uri="{FF2B5EF4-FFF2-40B4-BE49-F238E27FC236}">
                <a16:creationId xmlns:a16="http://schemas.microsoft.com/office/drawing/2014/main" id="{59A409B6-C0D2-4177-90E4-C7CD518EDD8B}"/>
              </a:ext>
            </a:extLst>
          </p:cNvPr>
          <p:cNvSpPr/>
          <p:nvPr/>
        </p:nvSpPr>
        <p:spPr>
          <a:xfrm>
            <a:off x="5601011" y="2022603"/>
            <a:ext cx="1059142" cy="1059142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Freeform 48">
            <a:extLst>
              <a:ext uri="{FF2B5EF4-FFF2-40B4-BE49-F238E27FC236}">
                <a16:creationId xmlns:a16="http://schemas.microsoft.com/office/drawing/2014/main" id="{441A68C3-5956-40DC-8E04-550DC31947CF}"/>
              </a:ext>
            </a:extLst>
          </p:cNvPr>
          <p:cNvSpPr>
            <a:spLocks/>
          </p:cNvSpPr>
          <p:nvPr/>
        </p:nvSpPr>
        <p:spPr bwMode="auto">
          <a:xfrm>
            <a:off x="6030397" y="2910838"/>
            <a:ext cx="188236" cy="40700"/>
          </a:xfrm>
          <a:custGeom>
            <a:avLst/>
            <a:gdLst/>
            <a:ahLst/>
            <a:cxnLst>
              <a:cxn ang="0">
                <a:pos x="132" y="0"/>
              </a:cxn>
              <a:cxn ang="0">
                <a:pos x="16" y="0"/>
              </a:cxn>
              <a:cxn ang="0">
                <a:pos x="16" y="0"/>
              </a:cxn>
              <a:cxn ang="0">
                <a:pos x="8" y="2"/>
              </a:cxn>
              <a:cxn ang="0">
                <a:pos x="4" y="4"/>
              </a:cxn>
              <a:cxn ang="0">
                <a:pos x="0" y="10"/>
              </a:cxn>
              <a:cxn ang="0">
                <a:pos x="0" y="16"/>
              </a:cxn>
              <a:cxn ang="0">
                <a:pos x="0" y="16"/>
              </a:cxn>
              <a:cxn ang="0">
                <a:pos x="0" y="22"/>
              </a:cxn>
              <a:cxn ang="0">
                <a:pos x="4" y="28"/>
              </a:cxn>
              <a:cxn ang="0">
                <a:pos x="8" y="30"/>
              </a:cxn>
              <a:cxn ang="0">
                <a:pos x="16" y="32"/>
              </a:cxn>
              <a:cxn ang="0">
                <a:pos x="132" y="32"/>
              </a:cxn>
              <a:cxn ang="0">
                <a:pos x="132" y="32"/>
              </a:cxn>
              <a:cxn ang="0">
                <a:pos x="138" y="30"/>
              </a:cxn>
              <a:cxn ang="0">
                <a:pos x="142" y="28"/>
              </a:cxn>
              <a:cxn ang="0">
                <a:pos x="146" y="22"/>
              </a:cxn>
              <a:cxn ang="0">
                <a:pos x="148" y="16"/>
              </a:cxn>
              <a:cxn ang="0">
                <a:pos x="148" y="16"/>
              </a:cxn>
              <a:cxn ang="0">
                <a:pos x="146" y="10"/>
              </a:cxn>
              <a:cxn ang="0">
                <a:pos x="142" y="4"/>
              </a:cxn>
              <a:cxn ang="0">
                <a:pos x="138" y="2"/>
              </a:cxn>
              <a:cxn ang="0">
                <a:pos x="132" y="0"/>
              </a:cxn>
              <a:cxn ang="0">
                <a:pos x="132" y="0"/>
              </a:cxn>
            </a:cxnLst>
            <a:rect l="0" t="0" r="r" b="b"/>
            <a:pathLst>
              <a:path w="148" h="32">
                <a:moveTo>
                  <a:pt x="132" y="0"/>
                </a:moveTo>
                <a:lnTo>
                  <a:pt x="16" y="0"/>
                </a:lnTo>
                <a:lnTo>
                  <a:pt x="16" y="0"/>
                </a:lnTo>
                <a:lnTo>
                  <a:pt x="8" y="2"/>
                </a:lnTo>
                <a:lnTo>
                  <a:pt x="4" y="4"/>
                </a:lnTo>
                <a:lnTo>
                  <a:pt x="0" y="10"/>
                </a:lnTo>
                <a:lnTo>
                  <a:pt x="0" y="16"/>
                </a:lnTo>
                <a:lnTo>
                  <a:pt x="0" y="16"/>
                </a:lnTo>
                <a:lnTo>
                  <a:pt x="0" y="22"/>
                </a:lnTo>
                <a:lnTo>
                  <a:pt x="4" y="28"/>
                </a:lnTo>
                <a:lnTo>
                  <a:pt x="8" y="30"/>
                </a:lnTo>
                <a:lnTo>
                  <a:pt x="16" y="32"/>
                </a:lnTo>
                <a:lnTo>
                  <a:pt x="132" y="32"/>
                </a:lnTo>
                <a:lnTo>
                  <a:pt x="132" y="32"/>
                </a:lnTo>
                <a:lnTo>
                  <a:pt x="138" y="30"/>
                </a:lnTo>
                <a:lnTo>
                  <a:pt x="142" y="28"/>
                </a:lnTo>
                <a:lnTo>
                  <a:pt x="146" y="22"/>
                </a:lnTo>
                <a:lnTo>
                  <a:pt x="148" y="16"/>
                </a:lnTo>
                <a:lnTo>
                  <a:pt x="148" y="16"/>
                </a:lnTo>
                <a:lnTo>
                  <a:pt x="146" y="10"/>
                </a:lnTo>
                <a:lnTo>
                  <a:pt x="142" y="4"/>
                </a:lnTo>
                <a:lnTo>
                  <a:pt x="138" y="2"/>
                </a:lnTo>
                <a:lnTo>
                  <a:pt x="132" y="0"/>
                </a:lnTo>
                <a:lnTo>
                  <a:pt x="132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75" name="Freeform 49">
            <a:extLst>
              <a:ext uri="{FF2B5EF4-FFF2-40B4-BE49-F238E27FC236}">
                <a16:creationId xmlns:a16="http://schemas.microsoft.com/office/drawing/2014/main" id="{D234E1D7-A59E-4D8F-A661-0DB24F3D36DC}"/>
              </a:ext>
            </a:extLst>
          </p:cNvPr>
          <p:cNvSpPr>
            <a:spLocks noEditPoints="1"/>
          </p:cNvSpPr>
          <p:nvPr/>
        </p:nvSpPr>
        <p:spPr bwMode="auto">
          <a:xfrm>
            <a:off x="5931192" y="2338499"/>
            <a:ext cx="381558" cy="465504"/>
          </a:xfrm>
          <a:custGeom>
            <a:avLst/>
            <a:gdLst/>
            <a:ahLst/>
            <a:cxnLst>
              <a:cxn ang="0">
                <a:pos x="150" y="0"/>
              </a:cxn>
              <a:cxn ang="0">
                <a:pos x="142" y="0"/>
              </a:cxn>
              <a:cxn ang="0">
                <a:pos x="100" y="10"/>
              </a:cxn>
              <a:cxn ang="0">
                <a:pos x="62" y="28"/>
              </a:cxn>
              <a:cxn ang="0">
                <a:pos x="32" y="58"/>
              </a:cxn>
              <a:cxn ang="0">
                <a:pos x="12" y="94"/>
              </a:cxn>
              <a:cxn ang="0">
                <a:pos x="2" y="136"/>
              </a:cxn>
              <a:cxn ang="0">
                <a:pos x="2" y="166"/>
              </a:cxn>
              <a:cxn ang="0">
                <a:pos x="16" y="214"/>
              </a:cxn>
              <a:cxn ang="0">
                <a:pos x="56" y="266"/>
              </a:cxn>
              <a:cxn ang="0">
                <a:pos x="72" y="290"/>
              </a:cxn>
              <a:cxn ang="0">
                <a:pos x="78" y="322"/>
              </a:cxn>
              <a:cxn ang="0">
                <a:pos x="78" y="340"/>
              </a:cxn>
              <a:cxn ang="0">
                <a:pos x="96" y="364"/>
              </a:cxn>
              <a:cxn ang="0">
                <a:pos x="150" y="366"/>
              </a:cxn>
              <a:cxn ang="0">
                <a:pos x="192" y="366"/>
              </a:cxn>
              <a:cxn ang="0">
                <a:pos x="214" y="356"/>
              </a:cxn>
              <a:cxn ang="0">
                <a:pos x="224" y="334"/>
              </a:cxn>
              <a:cxn ang="0">
                <a:pos x="224" y="304"/>
              </a:cxn>
              <a:cxn ang="0">
                <a:pos x="236" y="276"/>
              </a:cxn>
              <a:cxn ang="0">
                <a:pos x="266" y="242"/>
              </a:cxn>
              <a:cxn ang="0">
                <a:pos x="290" y="198"/>
              </a:cxn>
              <a:cxn ang="0">
                <a:pos x="300" y="150"/>
              </a:cxn>
              <a:cxn ang="0">
                <a:pos x="298" y="122"/>
              </a:cxn>
              <a:cxn ang="0">
                <a:pos x="284" y="82"/>
              </a:cxn>
              <a:cxn ang="0">
                <a:pos x="260" y="48"/>
              </a:cxn>
              <a:cxn ang="0">
                <a:pos x="226" y="22"/>
              </a:cxn>
              <a:cxn ang="0">
                <a:pos x="188" y="6"/>
              </a:cxn>
              <a:cxn ang="0">
                <a:pos x="158" y="0"/>
              </a:cxn>
              <a:cxn ang="0">
                <a:pos x="244" y="156"/>
              </a:cxn>
              <a:cxn ang="0">
                <a:pos x="234" y="146"/>
              </a:cxn>
              <a:cxn ang="0">
                <a:pos x="232" y="126"/>
              </a:cxn>
              <a:cxn ang="0">
                <a:pos x="214" y="92"/>
              </a:cxn>
              <a:cxn ang="0">
                <a:pos x="182" y="72"/>
              </a:cxn>
              <a:cxn ang="0">
                <a:pos x="160" y="68"/>
              </a:cxn>
              <a:cxn ang="0">
                <a:pos x="150" y="50"/>
              </a:cxn>
              <a:cxn ang="0">
                <a:pos x="156" y="38"/>
              </a:cxn>
              <a:cxn ang="0">
                <a:pos x="170" y="32"/>
              </a:cxn>
              <a:cxn ang="0">
                <a:pos x="226" y="52"/>
              </a:cxn>
              <a:cxn ang="0">
                <a:pos x="262" y="98"/>
              </a:cxn>
              <a:cxn ang="0">
                <a:pos x="270" y="138"/>
              </a:cxn>
              <a:cxn ang="0">
                <a:pos x="266" y="152"/>
              </a:cxn>
              <a:cxn ang="0">
                <a:pos x="252" y="158"/>
              </a:cxn>
            </a:cxnLst>
            <a:rect l="0" t="0" r="r" b="b"/>
            <a:pathLst>
              <a:path w="300" h="366">
                <a:moveTo>
                  <a:pt x="158" y="0"/>
                </a:moveTo>
                <a:lnTo>
                  <a:pt x="158" y="0"/>
                </a:lnTo>
                <a:lnTo>
                  <a:pt x="150" y="0"/>
                </a:lnTo>
                <a:lnTo>
                  <a:pt x="150" y="0"/>
                </a:lnTo>
                <a:lnTo>
                  <a:pt x="142" y="0"/>
                </a:lnTo>
                <a:lnTo>
                  <a:pt x="142" y="0"/>
                </a:lnTo>
                <a:lnTo>
                  <a:pt x="128" y="2"/>
                </a:lnTo>
                <a:lnTo>
                  <a:pt x="114" y="6"/>
                </a:lnTo>
                <a:lnTo>
                  <a:pt x="100" y="10"/>
                </a:lnTo>
                <a:lnTo>
                  <a:pt x="88" y="14"/>
                </a:lnTo>
                <a:lnTo>
                  <a:pt x="74" y="22"/>
                </a:lnTo>
                <a:lnTo>
                  <a:pt x="62" y="28"/>
                </a:lnTo>
                <a:lnTo>
                  <a:pt x="52" y="38"/>
                </a:lnTo>
                <a:lnTo>
                  <a:pt x="42" y="48"/>
                </a:lnTo>
                <a:lnTo>
                  <a:pt x="32" y="58"/>
                </a:lnTo>
                <a:lnTo>
                  <a:pt x="24" y="68"/>
                </a:lnTo>
                <a:lnTo>
                  <a:pt x="18" y="82"/>
                </a:lnTo>
                <a:lnTo>
                  <a:pt x="12" y="94"/>
                </a:lnTo>
                <a:lnTo>
                  <a:pt x="6" y="108"/>
                </a:lnTo>
                <a:lnTo>
                  <a:pt x="4" y="122"/>
                </a:lnTo>
                <a:lnTo>
                  <a:pt x="2" y="136"/>
                </a:lnTo>
                <a:lnTo>
                  <a:pt x="0" y="150"/>
                </a:lnTo>
                <a:lnTo>
                  <a:pt x="0" y="150"/>
                </a:lnTo>
                <a:lnTo>
                  <a:pt x="2" y="166"/>
                </a:lnTo>
                <a:lnTo>
                  <a:pt x="4" y="182"/>
                </a:lnTo>
                <a:lnTo>
                  <a:pt x="10" y="198"/>
                </a:lnTo>
                <a:lnTo>
                  <a:pt x="16" y="214"/>
                </a:lnTo>
                <a:lnTo>
                  <a:pt x="26" y="228"/>
                </a:lnTo>
                <a:lnTo>
                  <a:pt x="34" y="242"/>
                </a:lnTo>
                <a:lnTo>
                  <a:pt x="56" y="266"/>
                </a:lnTo>
                <a:lnTo>
                  <a:pt x="56" y="266"/>
                </a:lnTo>
                <a:lnTo>
                  <a:pt x="66" y="276"/>
                </a:lnTo>
                <a:lnTo>
                  <a:pt x="72" y="290"/>
                </a:lnTo>
                <a:lnTo>
                  <a:pt x="72" y="290"/>
                </a:lnTo>
                <a:lnTo>
                  <a:pt x="76" y="304"/>
                </a:lnTo>
                <a:lnTo>
                  <a:pt x="78" y="322"/>
                </a:lnTo>
                <a:lnTo>
                  <a:pt x="78" y="334"/>
                </a:lnTo>
                <a:lnTo>
                  <a:pt x="78" y="334"/>
                </a:lnTo>
                <a:lnTo>
                  <a:pt x="78" y="340"/>
                </a:lnTo>
                <a:lnTo>
                  <a:pt x="80" y="346"/>
                </a:lnTo>
                <a:lnTo>
                  <a:pt x="86" y="356"/>
                </a:lnTo>
                <a:lnTo>
                  <a:pt x="96" y="364"/>
                </a:lnTo>
                <a:lnTo>
                  <a:pt x="102" y="366"/>
                </a:lnTo>
                <a:lnTo>
                  <a:pt x="110" y="366"/>
                </a:lnTo>
                <a:lnTo>
                  <a:pt x="150" y="366"/>
                </a:lnTo>
                <a:lnTo>
                  <a:pt x="150" y="366"/>
                </a:lnTo>
                <a:lnTo>
                  <a:pt x="192" y="366"/>
                </a:lnTo>
                <a:lnTo>
                  <a:pt x="192" y="366"/>
                </a:lnTo>
                <a:lnTo>
                  <a:pt x="198" y="366"/>
                </a:lnTo>
                <a:lnTo>
                  <a:pt x="204" y="364"/>
                </a:lnTo>
                <a:lnTo>
                  <a:pt x="214" y="356"/>
                </a:lnTo>
                <a:lnTo>
                  <a:pt x="220" y="346"/>
                </a:lnTo>
                <a:lnTo>
                  <a:pt x="222" y="340"/>
                </a:lnTo>
                <a:lnTo>
                  <a:pt x="224" y="334"/>
                </a:lnTo>
                <a:lnTo>
                  <a:pt x="224" y="322"/>
                </a:lnTo>
                <a:lnTo>
                  <a:pt x="224" y="322"/>
                </a:lnTo>
                <a:lnTo>
                  <a:pt x="224" y="304"/>
                </a:lnTo>
                <a:lnTo>
                  <a:pt x="228" y="290"/>
                </a:lnTo>
                <a:lnTo>
                  <a:pt x="228" y="290"/>
                </a:lnTo>
                <a:lnTo>
                  <a:pt x="236" y="276"/>
                </a:lnTo>
                <a:lnTo>
                  <a:pt x="244" y="266"/>
                </a:lnTo>
                <a:lnTo>
                  <a:pt x="244" y="266"/>
                </a:lnTo>
                <a:lnTo>
                  <a:pt x="266" y="242"/>
                </a:lnTo>
                <a:lnTo>
                  <a:pt x="276" y="228"/>
                </a:lnTo>
                <a:lnTo>
                  <a:pt x="284" y="214"/>
                </a:lnTo>
                <a:lnTo>
                  <a:pt x="290" y="198"/>
                </a:lnTo>
                <a:lnTo>
                  <a:pt x="296" y="182"/>
                </a:lnTo>
                <a:lnTo>
                  <a:pt x="298" y="166"/>
                </a:lnTo>
                <a:lnTo>
                  <a:pt x="300" y="150"/>
                </a:lnTo>
                <a:lnTo>
                  <a:pt x="300" y="150"/>
                </a:lnTo>
                <a:lnTo>
                  <a:pt x="300" y="136"/>
                </a:lnTo>
                <a:lnTo>
                  <a:pt x="298" y="122"/>
                </a:lnTo>
                <a:lnTo>
                  <a:pt x="294" y="108"/>
                </a:lnTo>
                <a:lnTo>
                  <a:pt x="290" y="94"/>
                </a:lnTo>
                <a:lnTo>
                  <a:pt x="284" y="82"/>
                </a:lnTo>
                <a:lnTo>
                  <a:pt x="276" y="70"/>
                </a:lnTo>
                <a:lnTo>
                  <a:pt x="268" y="58"/>
                </a:lnTo>
                <a:lnTo>
                  <a:pt x="260" y="48"/>
                </a:lnTo>
                <a:lnTo>
                  <a:pt x="250" y="38"/>
                </a:lnTo>
                <a:lnTo>
                  <a:pt x="238" y="30"/>
                </a:lnTo>
                <a:lnTo>
                  <a:pt x="226" y="22"/>
                </a:lnTo>
                <a:lnTo>
                  <a:pt x="214" y="14"/>
                </a:lnTo>
                <a:lnTo>
                  <a:pt x="202" y="10"/>
                </a:lnTo>
                <a:lnTo>
                  <a:pt x="188" y="6"/>
                </a:lnTo>
                <a:lnTo>
                  <a:pt x="174" y="2"/>
                </a:lnTo>
                <a:lnTo>
                  <a:pt x="158" y="0"/>
                </a:lnTo>
                <a:lnTo>
                  <a:pt x="158" y="0"/>
                </a:lnTo>
                <a:close/>
                <a:moveTo>
                  <a:pt x="252" y="158"/>
                </a:moveTo>
                <a:lnTo>
                  <a:pt x="252" y="158"/>
                </a:lnTo>
                <a:lnTo>
                  <a:pt x="244" y="156"/>
                </a:lnTo>
                <a:lnTo>
                  <a:pt x="238" y="152"/>
                </a:lnTo>
                <a:lnTo>
                  <a:pt x="238" y="152"/>
                </a:lnTo>
                <a:lnTo>
                  <a:pt x="234" y="146"/>
                </a:lnTo>
                <a:lnTo>
                  <a:pt x="232" y="138"/>
                </a:lnTo>
                <a:lnTo>
                  <a:pt x="232" y="138"/>
                </a:lnTo>
                <a:lnTo>
                  <a:pt x="232" y="126"/>
                </a:lnTo>
                <a:lnTo>
                  <a:pt x="228" y="112"/>
                </a:lnTo>
                <a:lnTo>
                  <a:pt x="222" y="102"/>
                </a:lnTo>
                <a:lnTo>
                  <a:pt x="214" y="92"/>
                </a:lnTo>
                <a:lnTo>
                  <a:pt x="204" y="84"/>
                </a:lnTo>
                <a:lnTo>
                  <a:pt x="194" y="76"/>
                </a:lnTo>
                <a:lnTo>
                  <a:pt x="182" y="72"/>
                </a:lnTo>
                <a:lnTo>
                  <a:pt x="168" y="70"/>
                </a:lnTo>
                <a:lnTo>
                  <a:pt x="168" y="70"/>
                </a:lnTo>
                <a:lnTo>
                  <a:pt x="160" y="68"/>
                </a:lnTo>
                <a:lnTo>
                  <a:pt x="154" y="64"/>
                </a:lnTo>
                <a:lnTo>
                  <a:pt x="150" y="58"/>
                </a:lnTo>
                <a:lnTo>
                  <a:pt x="150" y="50"/>
                </a:lnTo>
                <a:lnTo>
                  <a:pt x="150" y="50"/>
                </a:lnTo>
                <a:lnTo>
                  <a:pt x="152" y="42"/>
                </a:lnTo>
                <a:lnTo>
                  <a:pt x="156" y="38"/>
                </a:lnTo>
                <a:lnTo>
                  <a:pt x="162" y="34"/>
                </a:lnTo>
                <a:lnTo>
                  <a:pt x="170" y="32"/>
                </a:lnTo>
                <a:lnTo>
                  <a:pt x="170" y="32"/>
                </a:lnTo>
                <a:lnTo>
                  <a:pt x="190" y="36"/>
                </a:lnTo>
                <a:lnTo>
                  <a:pt x="210" y="42"/>
                </a:lnTo>
                <a:lnTo>
                  <a:pt x="226" y="52"/>
                </a:lnTo>
                <a:lnTo>
                  <a:pt x="242" y="66"/>
                </a:lnTo>
                <a:lnTo>
                  <a:pt x="254" y="80"/>
                </a:lnTo>
                <a:lnTo>
                  <a:pt x="262" y="98"/>
                </a:lnTo>
                <a:lnTo>
                  <a:pt x="268" y="118"/>
                </a:lnTo>
                <a:lnTo>
                  <a:pt x="270" y="138"/>
                </a:lnTo>
                <a:lnTo>
                  <a:pt x="270" y="138"/>
                </a:lnTo>
                <a:lnTo>
                  <a:pt x="270" y="146"/>
                </a:lnTo>
                <a:lnTo>
                  <a:pt x="266" y="152"/>
                </a:lnTo>
                <a:lnTo>
                  <a:pt x="266" y="152"/>
                </a:lnTo>
                <a:lnTo>
                  <a:pt x="260" y="156"/>
                </a:lnTo>
                <a:lnTo>
                  <a:pt x="252" y="158"/>
                </a:lnTo>
                <a:lnTo>
                  <a:pt x="252" y="158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 dirty="0"/>
          </a:p>
        </p:txBody>
      </p:sp>
      <p:sp>
        <p:nvSpPr>
          <p:cNvPr id="76" name="Rectangle 51">
            <a:extLst>
              <a:ext uri="{FF2B5EF4-FFF2-40B4-BE49-F238E27FC236}">
                <a16:creationId xmlns:a16="http://schemas.microsoft.com/office/drawing/2014/main" id="{A01CAEDB-1855-4825-9F0E-AD6228824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397" y="2837071"/>
            <a:ext cx="188236" cy="40700"/>
          </a:xfrm>
          <a:prstGeom prst="rect">
            <a:avLst/>
          </a:prstGeom>
          <a:solidFill>
            <a:srgbClr val="103154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77" name="Freeform 52">
            <a:extLst>
              <a:ext uri="{FF2B5EF4-FFF2-40B4-BE49-F238E27FC236}">
                <a16:creationId xmlns:a16="http://schemas.microsoft.com/office/drawing/2014/main" id="{4560260D-FA6D-4437-B676-F1993602ABDC}"/>
              </a:ext>
            </a:extLst>
          </p:cNvPr>
          <p:cNvSpPr>
            <a:spLocks/>
          </p:cNvSpPr>
          <p:nvPr/>
        </p:nvSpPr>
        <p:spPr bwMode="auto">
          <a:xfrm>
            <a:off x="6101622" y="2152806"/>
            <a:ext cx="43243" cy="144993"/>
          </a:xfrm>
          <a:custGeom>
            <a:avLst/>
            <a:gdLst/>
            <a:ahLst/>
            <a:cxnLst>
              <a:cxn ang="0">
                <a:pos x="34" y="112"/>
              </a:cxn>
              <a:cxn ang="0">
                <a:pos x="4" y="114"/>
              </a:cxn>
              <a:cxn ang="0">
                <a:pos x="0" y="0"/>
              </a:cxn>
              <a:cxn ang="0">
                <a:pos x="28" y="0"/>
              </a:cxn>
              <a:cxn ang="0">
                <a:pos x="34" y="112"/>
              </a:cxn>
            </a:cxnLst>
            <a:rect l="0" t="0" r="r" b="b"/>
            <a:pathLst>
              <a:path w="34" h="114">
                <a:moveTo>
                  <a:pt x="34" y="112"/>
                </a:moveTo>
                <a:lnTo>
                  <a:pt x="4" y="114"/>
                </a:lnTo>
                <a:lnTo>
                  <a:pt x="0" y="0"/>
                </a:lnTo>
                <a:lnTo>
                  <a:pt x="28" y="0"/>
                </a:lnTo>
                <a:lnTo>
                  <a:pt x="34" y="112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78" name="Freeform 53">
            <a:extLst>
              <a:ext uri="{FF2B5EF4-FFF2-40B4-BE49-F238E27FC236}">
                <a16:creationId xmlns:a16="http://schemas.microsoft.com/office/drawing/2014/main" id="{A196EF78-D7F4-4C10-9421-98AEDC1DC820}"/>
              </a:ext>
            </a:extLst>
          </p:cNvPr>
          <p:cNvSpPr>
            <a:spLocks/>
          </p:cNvSpPr>
          <p:nvPr/>
        </p:nvSpPr>
        <p:spPr bwMode="auto">
          <a:xfrm>
            <a:off x="5918473" y="2193506"/>
            <a:ext cx="104293" cy="142449"/>
          </a:xfrm>
          <a:custGeom>
            <a:avLst/>
            <a:gdLst/>
            <a:ahLst/>
            <a:cxnLst>
              <a:cxn ang="0">
                <a:pos x="58" y="112"/>
              </a:cxn>
              <a:cxn ang="0">
                <a:pos x="0" y="14"/>
              </a:cxn>
              <a:cxn ang="0">
                <a:pos x="26" y="0"/>
              </a:cxn>
              <a:cxn ang="0">
                <a:pos x="82" y="98"/>
              </a:cxn>
              <a:cxn ang="0">
                <a:pos x="58" y="112"/>
              </a:cxn>
            </a:cxnLst>
            <a:rect l="0" t="0" r="r" b="b"/>
            <a:pathLst>
              <a:path w="82" h="112">
                <a:moveTo>
                  <a:pt x="58" y="112"/>
                </a:moveTo>
                <a:lnTo>
                  <a:pt x="0" y="14"/>
                </a:lnTo>
                <a:lnTo>
                  <a:pt x="26" y="0"/>
                </a:lnTo>
                <a:lnTo>
                  <a:pt x="82" y="98"/>
                </a:lnTo>
                <a:lnTo>
                  <a:pt x="58" y="112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79" name="Freeform 54">
            <a:extLst>
              <a:ext uri="{FF2B5EF4-FFF2-40B4-BE49-F238E27FC236}">
                <a16:creationId xmlns:a16="http://schemas.microsoft.com/office/drawing/2014/main" id="{5A0E4984-8E97-4347-AAD2-8F33B350C76A}"/>
              </a:ext>
            </a:extLst>
          </p:cNvPr>
          <p:cNvSpPr>
            <a:spLocks/>
          </p:cNvSpPr>
          <p:nvPr/>
        </p:nvSpPr>
        <p:spPr bwMode="auto">
          <a:xfrm>
            <a:off x="5788742" y="2323236"/>
            <a:ext cx="144993" cy="104293"/>
          </a:xfrm>
          <a:custGeom>
            <a:avLst/>
            <a:gdLst/>
            <a:ahLst/>
            <a:cxnLst>
              <a:cxn ang="0">
                <a:pos x="14" y="0"/>
              </a:cxn>
              <a:cxn ang="0">
                <a:pos x="114" y="58"/>
              </a:cxn>
              <a:cxn ang="0">
                <a:pos x="98" y="82"/>
              </a:cxn>
              <a:cxn ang="0">
                <a:pos x="0" y="26"/>
              </a:cxn>
              <a:cxn ang="0">
                <a:pos x="14" y="0"/>
              </a:cxn>
            </a:cxnLst>
            <a:rect l="0" t="0" r="r" b="b"/>
            <a:pathLst>
              <a:path w="114" h="82">
                <a:moveTo>
                  <a:pt x="14" y="0"/>
                </a:moveTo>
                <a:lnTo>
                  <a:pt x="114" y="58"/>
                </a:lnTo>
                <a:lnTo>
                  <a:pt x="98" y="82"/>
                </a:lnTo>
                <a:lnTo>
                  <a:pt x="0" y="26"/>
                </a:lnTo>
                <a:lnTo>
                  <a:pt x="14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80" name="Freeform 55">
            <a:extLst>
              <a:ext uri="{FF2B5EF4-FFF2-40B4-BE49-F238E27FC236}">
                <a16:creationId xmlns:a16="http://schemas.microsoft.com/office/drawing/2014/main" id="{43784644-DEFF-465E-A2EB-9C8DBC94D2B3}"/>
              </a:ext>
            </a:extLst>
          </p:cNvPr>
          <p:cNvSpPr>
            <a:spLocks/>
          </p:cNvSpPr>
          <p:nvPr/>
        </p:nvSpPr>
        <p:spPr bwMode="auto">
          <a:xfrm>
            <a:off x="6312752" y="2323236"/>
            <a:ext cx="142449" cy="104293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0" y="58"/>
              </a:cxn>
              <a:cxn ang="0">
                <a:pos x="14" y="82"/>
              </a:cxn>
              <a:cxn ang="0">
                <a:pos x="112" y="26"/>
              </a:cxn>
              <a:cxn ang="0">
                <a:pos x="98" y="0"/>
              </a:cxn>
            </a:cxnLst>
            <a:rect l="0" t="0" r="r" b="b"/>
            <a:pathLst>
              <a:path w="112" h="82">
                <a:moveTo>
                  <a:pt x="98" y="0"/>
                </a:moveTo>
                <a:lnTo>
                  <a:pt x="0" y="58"/>
                </a:lnTo>
                <a:lnTo>
                  <a:pt x="14" y="82"/>
                </a:lnTo>
                <a:lnTo>
                  <a:pt x="112" y="26"/>
                </a:lnTo>
                <a:lnTo>
                  <a:pt x="98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81" name="Freeform 56">
            <a:extLst>
              <a:ext uri="{FF2B5EF4-FFF2-40B4-BE49-F238E27FC236}">
                <a16:creationId xmlns:a16="http://schemas.microsoft.com/office/drawing/2014/main" id="{1C24DA63-7ADD-4DE4-A036-929D8ED0B252}"/>
              </a:ext>
            </a:extLst>
          </p:cNvPr>
          <p:cNvSpPr>
            <a:spLocks/>
          </p:cNvSpPr>
          <p:nvPr/>
        </p:nvSpPr>
        <p:spPr bwMode="auto">
          <a:xfrm>
            <a:off x="6221177" y="2193506"/>
            <a:ext cx="104293" cy="142449"/>
          </a:xfrm>
          <a:custGeom>
            <a:avLst/>
            <a:gdLst/>
            <a:ahLst/>
            <a:cxnLst>
              <a:cxn ang="0">
                <a:pos x="26" y="112"/>
              </a:cxn>
              <a:cxn ang="0">
                <a:pos x="0" y="98"/>
              </a:cxn>
              <a:cxn ang="0">
                <a:pos x="58" y="0"/>
              </a:cxn>
              <a:cxn ang="0">
                <a:pos x="82" y="14"/>
              </a:cxn>
              <a:cxn ang="0">
                <a:pos x="26" y="112"/>
              </a:cxn>
            </a:cxnLst>
            <a:rect l="0" t="0" r="r" b="b"/>
            <a:pathLst>
              <a:path w="82" h="112">
                <a:moveTo>
                  <a:pt x="26" y="112"/>
                </a:moveTo>
                <a:lnTo>
                  <a:pt x="0" y="98"/>
                </a:lnTo>
                <a:lnTo>
                  <a:pt x="58" y="0"/>
                </a:lnTo>
                <a:lnTo>
                  <a:pt x="82" y="14"/>
                </a:lnTo>
                <a:lnTo>
                  <a:pt x="26" y="112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82" name="矩形 39">
            <a:extLst>
              <a:ext uri="{FF2B5EF4-FFF2-40B4-BE49-F238E27FC236}">
                <a16:creationId xmlns:a16="http://schemas.microsoft.com/office/drawing/2014/main" id="{C2D2FA6E-22EC-4819-8DC1-6F9C94A8BCE0}"/>
              </a:ext>
            </a:extLst>
          </p:cNvPr>
          <p:cNvSpPr/>
          <p:nvPr/>
        </p:nvSpPr>
        <p:spPr>
          <a:xfrm>
            <a:off x="5674323" y="3155888"/>
            <a:ext cx="1018227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Manfaat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83" name="矩形 38">
            <a:extLst>
              <a:ext uri="{FF2B5EF4-FFF2-40B4-BE49-F238E27FC236}">
                <a16:creationId xmlns:a16="http://schemas.microsoft.com/office/drawing/2014/main" id="{13966ED8-3945-4BE5-A2B9-6D75C40C7F2B}"/>
              </a:ext>
            </a:extLst>
          </p:cNvPr>
          <p:cNvSpPr/>
          <p:nvPr/>
        </p:nvSpPr>
        <p:spPr>
          <a:xfrm>
            <a:off x="5673766" y="3526983"/>
            <a:ext cx="1197764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Penelitian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84" name="椭圆 28">
            <a:extLst>
              <a:ext uri="{FF2B5EF4-FFF2-40B4-BE49-F238E27FC236}">
                <a16:creationId xmlns:a16="http://schemas.microsoft.com/office/drawing/2014/main" id="{84A434A3-2C01-4737-99FC-2A0E67FA1486}"/>
              </a:ext>
            </a:extLst>
          </p:cNvPr>
          <p:cNvSpPr/>
          <p:nvPr/>
        </p:nvSpPr>
        <p:spPr>
          <a:xfrm>
            <a:off x="7156763" y="2017141"/>
            <a:ext cx="1059142" cy="1059142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5" name="Freeform 216">
            <a:extLst>
              <a:ext uri="{FF2B5EF4-FFF2-40B4-BE49-F238E27FC236}">
                <a16:creationId xmlns:a16="http://schemas.microsoft.com/office/drawing/2014/main" id="{B7A9E615-4E93-4DF5-B187-C328CAF95C57}"/>
              </a:ext>
            </a:extLst>
          </p:cNvPr>
          <p:cNvSpPr>
            <a:spLocks noEditPoints="1"/>
          </p:cNvSpPr>
          <p:nvPr/>
        </p:nvSpPr>
        <p:spPr bwMode="auto">
          <a:xfrm>
            <a:off x="7359031" y="2176719"/>
            <a:ext cx="704591" cy="701051"/>
          </a:xfrm>
          <a:custGeom>
            <a:avLst/>
            <a:gdLst/>
            <a:ahLst/>
            <a:cxnLst>
              <a:cxn ang="0">
                <a:pos x="178" y="0"/>
              </a:cxn>
              <a:cxn ang="0">
                <a:pos x="122" y="16"/>
              </a:cxn>
              <a:cxn ang="0">
                <a:pos x="72" y="46"/>
              </a:cxn>
              <a:cxn ang="0">
                <a:pos x="34" y="88"/>
              </a:cxn>
              <a:cxn ang="0">
                <a:pos x="10" y="140"/>
              </a:cxn>
              <a:cxn ang="0">
                <a:pos x="0" y="198"/>
              </a:cxn>
              <a:cxn ang="0">
                <a:pos x="4" y="238"/>
              </a:cxn>
              <a:cxn ang="0">
                <a:pos x="24" y="292"/>
              </a:cxn>
              <a:cxn ang="0">
                <a:pos x="58" y="338"/>
              </a:cxn>
              <a:cxn ang="0">
                <a:pos x="104" y="372"/>
              </a:cxn>
              <a:cxn ang="0">
                <a:pos x="158" y="392"/>
              </a:cxn>
              <a:cxn ang="0">
                <a:pos x="198" y="396"/>
              </a:cxn>
              <a:cxn ang="0">
                <a:pos x="258" y="388"/>
              </a:cxn>
              <a:cxn ang="0">
                <a:pos x="310" y="362"/>
              </a:cxn>
              <a:cxn ang="0">
                <a:pos x="352" y="324"/>
              </a:cxn>
              <a:cxn ang="0">
                <a:pos x="382" y="276"/>
              </a:cxn>
              <a:cxn ang="0">
                <a:pos x="396" y="218"/>
              </a:cxn>
              <a:cxn ang="0">
                <a:pos x="396" y="178"/>
              </a:cxn>
              <a:cxn ang="0">
                <a:pos x="382" y="122"/>
              </a:cxn>
              <a:cxn ang="0">
                <a:pos x="352" y="72"/>
              </a:cxn>
              <a:cxn ang="0">
                <a:pos x="310" y="34"/>
              </a:cxn>
              <a:cxn ang="0">
                <a:pos x="258" y="8"/>
              </a:cxn>
              <a:cxn ang="0">
                <a:pos x="198" y="0"/>
              </a:cxn>
              <a:cxn ang="0">
                <a:pos x="146" y="198"/>
              </a:cxn>
              <a:cxn ang="0">
                <a:pos x="230" y="244"/>
              </a:cxn>
              <a:cxn ang="0">
                <a:pos x="250" y="234"/>
              </a:cxn>
              <a:cxn ang="0">
                <a:pos x="266" y="234"/>
              </a:cxn>
              <a:cxn ang="0">
                <a:pos x="286" y="244"/>
              </a:cxn>
              <a:cxn ang="0">
                <a:pos x="296" y="264"/>
              </a:cxn>
              <a:cxn ang="0">
                <a:pos x="296" y="280"/>
              </a:cxn>
              <a:cxn ang="0">
                <a:pos x="286" y="300"/>
              </a:cxn>
              <a:cxn ang="0">
                <a:pos x="266" y="310"/>
              </a:cxn>
              <a:cxn ang="0">
                <a:pos x="250" y="310"/>
              </a:cxn>
              <a:cxn ang="0">
                <a:pos x="230" y="300"/>
              </a:cxn>
              <a:cxn ang="0">
                <a:pos x="220" y="280"/>
              </a:cxn>
              <a:cxn ang="0">
                <a:pos x="220" y="266"/>
              </a:cxn>
              <a:cxn ang="0">
                <a:pos x="130" y="230"/>
              </a:cxn>
              <a:cxn ang="0">
                <a:pos x="108" y="238"/>
              </a:cxn>
              <a:cxn ang="0">
                <a:pos x="92" y="234"/>
              </a:cxn>
              <a:cxn ang="0">
                <a:pos x="74" y="220"/>
              </a:cxn>
              <a:cxn ang="0">
                <a:pos x="68" y="198"/>
              </a:cxn>
              <a:cxn ang="0">
                <a:pos x="72" y="182"/>
              </a:cxn>
              <a:cxn ang="0">
                <a:pos x="86" y="166"/>
              </a:cxn>
              <a:cxn ang="0">
                <a:pos x="108" y="158"/>
              </a:cxn>
              <a:cxn ang="0">
                <a:pos x="124" y="162"/>
              </a:cxn>
              <a:cxn ang="0">
                <a:pos x="220" y="130"/>
              </a:cxn>
              <a:cxn ang="0">
                <a:pos x="218" y="124"/>
              </a:cxn>
              <a:cxn ang="0">
                <a:pos x="226" y="102"/>
              </a:cxn>
              <a:cxn ang="0">
                <a:pos x="242" y="88"/>
              </a:cxn>
              <a:cxn ang="0">
                <a:pos x="258" y="86"/>
              </a:cxn>
              <a:cxn ang="0">
                <a:pos x="280" y="92"/>
              </a:cxn>
              <a:cxn ang="0">
                <a:pos x="294" y="110"/>
              </a:cxn>
              <a:cxn ang="0">
                <a:pos x="298" y="124"/>
              </a:cxn>
              <a:cxn ang="0">
                <a:pos x="290" y="146"/>
              </a:cxn>
              <a:cxn ang="0">
                <a:pos x="274" y="162"/>
              </a:cxn>
              <a:cxn ang="0">
                <a:pos x="258" y="164"/>
              </a:cxn>
              <a:cxn ang="0">
                <a:pos x="236" y="156"/>
              </a:cxn>
              <a:cxn ang="0">
                <a:pos x="146" y="192"/>
              </a:cxn>
            </a:cxnLst>
            <a:rect l="0" t="0" r="r" b="b"/>
            <a:pathLst>
              <a:path w="398" h="396">
                <a:moveTo>
                  <a:pt x="198" y="0"/>
                </a:moveTo>
                <a:lnTo>
                  <a:pt x="198" y="0"/>
                </a:lnTo>
                <a:lnTo>
                  <a:pt x="178" y="0"/>
                </a:lnTo>
                <a:lnTo>
                  <a:pt x="158" y="4"/>
                </a:lnTo>
                <a:lnTo>
                  <a:pt x="140" y="8"/>
                </a:lnTo>
                <a:lnTo>
                  <a:pt x="122" y="16"/>
                </a:lnTo>
                <a:lnTo>
                  <a:pt x="104" y="24"/>
                </a:lnTo>
                <a:lnTo>
                  <a:pt x="88" y="34"/>
                </a:lnTo>
                <a:lnTo>
                  <a:pt x="72" y="46"/>
                </a:lnTo>
                <a:lnTo>
                  <a:pt x="58" y="58"/>
                </a:lnTo>
                <a:lnTo>
                  <a:pt x="46" y="72"/>
                </a:lnTo>
                <a:lnTo>
                  <a:pt x="34" y="88"/>
                </a:lnTo>
                <a:lnTo>
                  <a:pt x="24" y="104"/>
                </a:lnTo>
                <a:lnTo>
                  <a:pt x="16" y="122"/>
                </a:lnTo>
                <a:lnTo>
                  <a:pt x="10" y="140"/>
                </a:lnTo>
                <a:lnTo>
                  <a:pt x="4" y="158"/>
                </a:lnTo>
                <a:lnTo>
                  <a:pt x="2" y="178"/>
                </a:lnTo>
                <a:lnTo>
                  <a:pt x="0" y="198"/>
                </a:lnTo>
                <a:lnTo>
                  <a:pt x="0" y="198"/>
                </a:lnTo>
                <a:lnTo>
                  <a:pt x="2" y="218"/>
                </a:lnTo>
                <a:lnTo>
                  <a:pt x="4" y="238"/>
                </a:lnTo>
                <a:lnTo>
                  <a:pt x="10" y="258"/>
                </a:lnTo>
                <a:lnTo>
                  <a:pt x="16" y="276"/>
                </a:lnTo>
                <a:lnTo>
                  <a:pt x="24" y="292"/>
                </a:lnTo>
                <a:lnTo>
                  <a:pt x="34" y="310"/>
                </a:lnTo>
                <a:lnTo>
                  <a:pt x="46" y="324"/>
                </a:lnTo>
                <a:lnTo>
                  <a:pt x="58" y="338"/>
                </a:lnTo>
                <a:lnTo>
                  <a:pt x="72" y="352"/>
                </a:lnTo>
                <a:lnTo>
                  <a:pt x="88" y="362"/>
                </a:lnTo>
                <a:lnTo>
                  <a:pt x="104" y="372"/>
                </a:lnTo>
                <a:lnTo>
                  <a:pt x="122" y="382"/>
                </a:lnTo>
                <a:lnTo>
                  <a:pt x="140" y="388"/>
                </a:lnTo>
                <a:lnTo>
                  <a:pt x="158" y="392"/>
                </a:lnTo>
                <a:lnTo>
                  <a:pt x="178" y="396"/>
                </a:lnTo>
                <a:lnTo>
                  <a:pt x="198" y="396"/>
                </a:lnTo>
                <a:lnTo>
                  <a:pt x="198" y="396"/>
                </a:lnTo>
                <a:lnTo>
                  <a:pt x="220" y="396"/>
                </a:lnTo>
                <a:lnTo>
                  <a:pt x="238" y="392"/>
                </a:lnTo>
                <a:lnTo>
                  <a:pt x="258" y="388"/>
                </a:lnTo>
                <a:lnTo>
                  <a:pt x="276" y="382"/>
                </a:lnTo>
                <a:lnTo>
                  <a:pt x="294" y="372"/>
                </a:lnTo>
                <a:lnTo>
                  <a:pt x="310" y="362"/>
                </a:lnTo>
                <a:lnTo>
                  <a:pt x="326" y="352"/>
                </a:lnTo>
                <a:lnTo>
                  <a:pt x="340" y="338"/>
                </a:lnTo>
                <a:lnTo>
                  <a:pt x="352" y="324"/>
                </a:lnTo>
                <a:lnTo>
                  <a:pt x="364" y="310"/>
                </a:lnTo>
                <a:lnTo>
                  <a:pt x="374" y="292"/>
                </a:lnTo>
                <a:lnTo>
                  <a:pt x="382" y="276"/>
                </a:lnTo>
                <a:lnTo>
                  <a:pt x="388" y="258"/>
                </a:lnTo>
                <a:lnTo>
                  <a:pt x="394" y="238"/>
                </a:lnTo>
                <a:lnTo>
                  <a:pt x="396" y="218"/>
                </a:lnTo>
                <a:lnTo>
                  <a:pt x="398" y="198"/>
                </a:lnTo>
                <a:lnTo>
                  <a:pt x="398" y="198"/>
                </a:lnTo>
                <a:lnTo>
                  <a:pt x="396" y="178"/>
                </a:lnTo>
                <a:lnTo>
                  <a:pt x="394" y="158"/>
                </a:lnTo>
                <a:lnTo>
                  <a:pt x="388" y="140"/>
                </a:lnTo>
                <a:lnTo>
                  <a:pt x="382" y="122"/>
                </a:lnTo>
                <a:lnTo>
                  <a:pt x="374" y="104"/>
                </a:lnTo>
                <a:lnTo>
                  <a:pt x="364" y="88"/>
                </a:lnTo>
                <a:lnTo>
                  <a:pt x="352" y="72"/>
                </a:lnTo>
                <a:lnTo>
                  <a:pt x="340" y="58"/>
                </a:lnTo>
                <a:lnTo>
                  <a:pt x="326" y="46"/>
                </a:lnTo>
                <a:lnTo>
                  <a:pt x="310" y="34"/>
                </a:lnTo>
                <a:lnTo>
                  <a:pt x="294" y="24"/>
                </a:lnTo>
                <a:lnTo>
                  <a:pt x="276" y="16"/>
                </a:lnTo>
                <a:lnTo>
                  <a:pt x="258" y="8"/>
                </a:lnTo>
                <a:lnTo>
                  <a:pt x="238" y="4"/>
                </a:lnTo>
                <a:lnTo>
                  <a:pt x="220" y="0"/>
                </a:lnTo>
                <a:lnTo>
                  <a:pt x="198" y="0"/>
                </a:lnTo>
                <a:lnTo>
                  <a:pt x="198" y="0"/>
                </a:lnTo>
                <a:close/>
                <a:moveTo>
                  <a:pt x="146" y="198"/>
                </a:moveTo>
                <a:lnTo>
                  <a:pt x="146" y="198"/>
                </a:lnTo>
                <a:lnTo>
                  <a:pt x="146" y="204"/>
                </a:lnTo>
                <a:lnTo>
                  <a:pt x="230" y="244"/>
                </a:lnTo>
                <a:lnTo>
                  <a:pt x="230" y="244"/>
                </a:lnTo>
                <a:lnTo>
                  <a:pt x="236" y="240"/>
                </a:lnTo>
                <a:lnTo>
                  <a:pt x="242" y="236"/>
                </a:lnTo>
                <a:lnTo>
                  <a:pt x="250" y="234"/>
                </a:lnTo>
                <a:lnTo>
                  <a:pt x="258" y="232"/>
                </a:lnTo>
                <a:lnTo>
                  <a:pt x="258" y="232"/>
                </a:lnTo>
                <a:lnTo>
                  <a:pt x="266" y="234"/>
                </a:lnTo>
                <a:lnTo>
                  <a:pt x="274" y="236"/>
                </a:lnTo>
                <a:lnTo>
                  <a:pt x="280" y="240"/>
                </a:lnTo>
                <a:lnTo>
                  <a:pt x="286" y="244"/>
                </a:lnTo>
                <a:lnTo>
                  <a:pt x="290" y="250"/>
                </a:lnTo>
                <a:lnTo>
                  <a:pt x="294" y="256"/>
                </a:lnTo>
                <a:lnTo>
                  <a:pt x="296" y="264"/>
                </a:lnTo>
                <a:lnTo>
                  <a:pt x="298" y="272"/>
                </a:lnTo>
                <a:lnTo>
                  <a:pt x="298" y="272"/>
                </a:lnTo>
                <a:lnTo>
                  <a:pt x="296" y="280"/>
                </a:lnTo>
                <a:lnTo>
                  <a:pt x="294" y="288"/>
                </a:lnTo>
                <a:lnTo>
                  <a:pt x="290" y="294"/>
                </a:lnTo>
                <a:lnTo>
                  <a:pt x="286" y="300"/>
                </a:lnTo>
                <a:lnTo>
                  <a:pt x="280" y="304"/>
                </a:lnTo>
                <a:lnTo>
                  <a:pt x="274" y="308"/>
                </a:lnTo>
                <a:lnTo>
                  <a:pt x="266" y="310"/>
                </a:lnTo>
                <a:lnTo>
                  <a:pt x="258" y="312"/>
                </a:lnTo>
                <a:lnTo>
                  <a:pt x="258" y="312"/>
                </a:lnTo>
                <a:lnTo>
                  <a:pt x="250" y="310"/>
                </a:lnTo>
                <a:lnTo>
                  <a:pt x="242" y="308"/>
                </a:lnTo>
                <a:lnTo>
                  <a:pt x="236" y="304"/>
                </a:lnTo>
                <a:lnTo>
                  <a:pt x="230" y="300"/>
                </a:lnTo>
                <a:lnTo>
                  <a:pt x="226" y="294"/>
                </a:lnTo>
                <a:lnTo>
                  <a:pt x="222" y="288"/>
                </a:lnTo>
                <a:lnTo>
                  <a:pt x="220" y="280"/>
                </a:lnTo>
                <a:lnTo>
                  <a:pt x="218" y="272"/>
                </a:lnTo>
                <a:lnTo>
                  <a:pt x="218" y="272"/>
                </a:lnTo>
                <a:lnTo>
                  <a:pt x="220" y="266"/>
                </a:lnTo>
                <a:lnTo>
                  <a:pt x="136" y="226"/>
                </a:lnTo>
                <a:lnTo>
                  <a:pt x="136" y="226"/>
                </a:lnTo>
                <a:lnTo>
                  <a:pt x="130" y="230"/>
                </a:lnTo>
                <a:lnTo>
                  <a:pt x="124" y="234"/>
                </a:lnTo>
                <a:lnTo>
                  <a:pt x="116" y="236"/>
                </a:lnTo>
                <a:lnTo>
                  <a:pt x="108" y="238"/>
                </a:lnTo>
                <a:lnTo>
                  <a:pt x="108" y="238"/>
                </a:lnTo>
                <a:lnTo>
                  <a:pt x="100" y="236"/>
                </a:lnTo>
                <a:lnTo>
                  <a:pt x="92" y="234"/>
                </a:lnTo>
                <a:lnTo>
                  <a:pt x="86" y="230"/>
                </a:lnTo>
                <a:lnTo>
                  <a:pt x="80" y="226"/>
                </a:lnTo>
                <a:lnTo>
                  <a:pt x="74" y="220"/>
                </a:lnTo>
                <a:lnTo>
                  <a:pt x="72" y="214"/>
                </a:lnTo>
                <a:lnTo>
                  <a:pt x="68" y="206"/>
                </a:lnTo>
                <a:lnTo>
                  <a:pt x="68" y="198"/>
                </a:lnTo>
                <a:lnTo>
                  <a:pt x="68" y="198"/>
                </a:lnTo>
                <a:lnTo>
                  <a:pt x="68" y="190"/>
                </a:lnTo>
                <a:lnTo>
                  <a:pt x="72" y="182"/>
                </a:lnTo>
                <a:lnTo>
                  <a:pt x="74" y="176"/>
                </a:lnTo>
                <a:lnTo>
                  <a:pt x="80" y="170"/>
                </a:lnTo>
                <a:lnTo>
                  <a:pt x="86" y="166"/>
                </a:lnTo>
                <a:lnTo>
                  <a:pt x="92" y="162"/>
                </a:lnTo>
                <a:lnTo>
                  <a:pt x="100" y="160"/>
                </a:lnTo>
                <a:lnTo>
                  <a:pt x="108" y="158"/>
                </a:lnTo>
                <a:lnTo>
                  <a:pt x="108" y="158"/>
                </a:lnTo>
                <a:lnTo>
                  <a:pt x="116" y="160"/>
                </a:lnTo>
                <a:lnTo>
                  <a:pt x="124" y="162"/>
                </a:lnTo>
                <a:lnTo>
                  <a:pt x="130" y="166"/>
                </a:lnTo>
                <a:lnTo>
                  <a:pt x="136" y="172"/>
                </a:lnTo>
                <a:lnTo>
                  <a:pt x="220" y="130"/>
                </a:lnTo>
                <a:lnTo>
                  <a:pt x="220" y="130"/>
                </a:lnTo>
                <a:lnTo>
                  <a:pt x="218" y="124"/>
                </a:lnTo>
                <a:lnTo>
                  <a:pt x="218" y="124"/>
                </a:lnTo>
                <a:lnTo>
                  <a:pt x="220" y="116"/>
                </a:lnTo>
                <a:lnTo>
                  <a:pt x="222" y="110"/>
                </a:lnTo>
                <a:lnTo>
                  <a:pt x="226" y="102"/>
                </a:lnTo>
                <a:lnTo>
                  <a:pt x="230" y="98"/>
                </a:lnTo>
                <a:lnTo>
                  <a:pt x="236" y="92"/>
                </a:lnTo>
                <a:lnTo>
                  <a:pt x="242" y="88"/>
                </a:lnTo>
                <a:lnTo>
                  <a:pt x="250" y="86"/>
                </a:lnTo>
                <a:lnTo>
                  <a:pt x="258" y="86"/>
                </a:lnTo>
                <a:lnTo>
                  <a:pt x="258" y="86"/>
                </a:lnTo>
                <a:lnTo>
                  <a:pt x="266" y="86"/>
                </a:lnTo>
                <a:lnTo>
                  <a:pt x="274" y="88"/>
                </a:lnTo>
                <a:lnTo>
                  <a:pt x="280" y="92"/>
                </a:lnTo>
                <a:lnTo>
                  <a:pt x="286" y="98"/>
                </a:lnTo>
                <a:lnTo>
                  <a:pt x="290" y="102"/>
                </a:lnTo>
                <a:lnTo>
                  <a:pt x="294" y="110"/>
                </a:lnTo>
                <a:lnTo>
                  <a:pt x="296" y="116"/>
                </a:lnTo>
                <a:lnTo>
                  <a:pt x="298" y="124"/>
                </a:lnTo>
                <a:lnTo>
                  <a:pt x="298" y="124"/>
                </a:lnTo>
                <a:lnTo>
                  <a:pt x="296" y="132"/>
                </a:lnTo>
                <a:lnTo>
                  <a:pt x="294" y="140"/>
                </a:lnTo>
                <a:lnTo>
                  <a:pt x="290" y="146"/>
                </a:lnTo>
                <a:lnTo>
                  <a:pt x="286" y="152"/>
                </a:lnTo>
                <a:lnTo>
                  <a:pt x="280" y="158"/>
                </a:lnTo>
                <a:lnTo>
                  <a:pt x="274" y="162"/>
                </a:lnTo>
                <a:lnTo>
                  <a:pt x="266" y="164"/>
                </a:lnTo>
                <a:lnTo>
                  <a:pt x="258" y="164"/>
                </a:lnTo>
                <a:lnTo>
                  <a:pt x="258" y="164"/>
                </a:lnTo>
                <a:lnTo>
                  <a:pt x="250" y="164"/>
                </a:lnTo>
                <a:lnTo>
                  <a:pt x="242" y="160"/>
                </a:lnTo>
                <a:lnTo>
                  <a:pt x="236" y="156"/>
                </a:lnTo>
                <a:lnTo>
                  <a:pt x="230" y="152"/>
                </a:lnTo>
                <a:lnTo>
                  <a:pt x="146" y="192"/>
                </a:lnTo>
                <a:lnTo>
                  <a:pt x="146" y="192"/>
                </a:lnTo>
                <a:lnTo>
                  <a:pt x="146" y="198"/>
                </a:lnTo>
                <a:lnTo>
                  <a:pt x="146" y="198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6" name="矩形 39">
            <a:extLst>
              <a:ext uri="{FF2B5EF4-FFF2-40B4-BE49-F238E27FC236}">
                <a16:creationId xmlns:a16="http://schemas.microsoft.com/office/drawing/2014/main" id="{3F98E6E0-FF01-49DC-866E-65F825BB9CA9}"/>
              </a:ext>
            </a:extLst>
          </p:cNvPr>
          <p:cNvSpPr/>
          <p:nvPr/>
        </p:nvSpPr>
        <p:spPr>
          <a:xfrm>
            <a:off x="7179660" y="3155888"/>
            <a:ext cx="1172116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Kerangka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87" name="矩形 38">
            <a:extLst>
              <a:ext uri="{FF2B5EF4-FFF2-40B4-BE49-F238E27FC236}">
                <a16:creationId xmlns:a16="http://schemas.microsoft.com/office/drawing/2014/main" id="{9D6C7955-3B7F-44A7-9D75-C124740C6698}"/>
              </a:ext>
            </a:extLst>
          </p:cNvPr>
          <p:cNvSpPr/>
          <p:nvPr/>
        </p:nvSpPr>
        <p:spPr>
          <a:xfrm>
            <a:off x="7179103" y="3526983"/>
            <a:ext cx="1172116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Pikir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88" name="椭圆 9">
            <a:extLst>
              <a:ext uri="{FF2B5EF4-FFF2-40B4-BE49-F238E27FC236}">
                <a16:creationId xmlns:a16="http://schemas.microsoft.com/office/drawing/2014/main" id="{F99CAA9B-E213-47C0-8B6E-649028D171AC}"/>
              </a:ext>
            </a:extLst>
          </p:cNvPr>
          <p:cNvSpPr/>
          <p:nvPr/>
        </p:nvSpPr>
        <p:spPr>
          <a:xfrm>
            <a:off x="8761111" y="2028326"/>
            <a:ext cx="1059142" cy="1059142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Freeform 210">
            <a:extLst>
              <a:ext uri="{FF2B5EF4-FFF2-40B4-BE49-F238E27FC236}">
                <a16:creationId xmlns:a16="http://schemas.microsoft.com/office/drawing/2014/main" id="{B4B03828-96D5-4289-967D-D2EE40226DA9}"/>
              </a:ext>
            </a:extLst>
          </p:cNvPr>
          <p:cNvSpPr>
            <a:spLocks noEditPoints="1"/>
          </p:cNvSpPr>
          <p:nvPr/>
        </p:nvSpPr>
        <p:spPr bwMode="auto">
          <a:xfrm>
            <a:off x="8934604" y="2281265"/>
            <a:ext cx="708701" cy="533280"/>
          </a:xfrm>
          <a:custGeom>
            <a:avLst/>
            <a:gdLst/>
            <a:ahLst/>
            <a:cxnLst>
              <a:cxn ang="0">
                <a:pos x="202" y="202"/>
              </a:cxn>
              <a:cxn ang="0">
                <a:pos x="202" y="202"/>
              </a:cxn>
              <a:cxn ang="0">
                <a:pos x="190" y="200"/>
              </a:cxn>
              <a:cxn ang="0">
                <a:pos x="176" y="194"/>
              </a:cxn>
              <a:cxn ang="0">
                <a:pos x="0" y="102"/>
              </a:cxn>
              <a:cxn ang="0">
                <a:pos x="0" y="278"/>
              </a:cxn>
              <a:cxn ang="0">
                <a:pos x="0" y="278"/>
              </a:cxn>
              <a:cxn ang="0">
                <a:pos x="2" y="288"/>
              </a:cxn>
              <a:cxn ang="0">
                <a:pos x="6" y="296"/>
              </a:cxn>
              <a:cxn ang="0">
                <a:pos x="14" y="302"/>
              </a:cxn>
              <a:cxn ang="0">
                <a:pos x="24" y="304"/>
              </a:cxn>
              <a:cxn ang="0">
                <a:pos x="378" y="304"/>
              </a:cxn>
              <a:cxn ang="0">
                <a:pos x="378" y="304"/>
              </a:cxn>
              <a:cxn ang="0">
                <a:pos x="388" y="302"/>
              </a:cxn>
              <a:cxn ang="0">
                <a:pos x="396" y="296"/>
              </a:cxn>
              <a:cxn ang="0">
                <a:pos x="402" y="288"/>
              </a:cxn>
              <a:cxn ang="0">
                <a:pos x="404" y="278"/>
              </a:cxn>
              <a:cxn ang="0">
                <a:pos x="404" y="102"/>
              </a:cxn>
              <a:cxn ang="0">
                <a:pos x="226" y="194"/>
              </a:cxn>
              <a:cxn ang="0">
                <a:pos x="226" y="194"/>
              </a:cxn>
              <a:cxn ang="0">
                <a:pos x="212" y="200"/>
              </a:cxn>
              <a:cxn ang="0">
                <a:pos x="202" y="202"/>
              </a:cxn>
              <a:cxn ang="0">
                <a:pos x="202" y="202"/>
              </a:cxn>
              <a:cxn ang="0">
                <a:pos x="378" y="0"/>
              </a:cxn>
              <a:cxn ang="0">
                <a:pos x="24" y="0"/>
              </a:cxn>
              <a:cxn ang="0">
                <a:pos x="24" y="0"/>
              </a:cxn>
              <a:cxn ang="0">
                <a:pos x="14" y="2"/>
              </a:cxn>
              <a:cxn ang="0">
                <a:pos x="6" y="8"/>
              </a:cxn>
              <a:cxn ang="0">
                <a:pos x="2" y="16"/>
              </a:cxn>
              <a:cxn ang="0">
                <a:pos x="0" y="26"/>
              </a:cxn>
              <a:cxn ang="0">
                <a:pos x="0" y="44"/>
              </a:cxn>
              <a:cxn ang="0">
                <a:pos x="202" y="152"/>
              </a:cxn>
              <a:cxn ang="0">
                <a:pos x="404" y="44"/>
              </a:cxn>
              <a:cxn ang="0">
                <a:pos x="404" y="26"/>
              </a:cxn>
              <a:cxn ang="0">
                <a:pos x="404" y="26"/>
              </a:cxn>
              <a:cxn ang="0">
                <a:pos x="402" y="16"/>
              </a:cxn>
              <a:cxn ang="0">
                <a:pos x="396" y="8"/>
              </a:cxn>
              <a:cxn ang="0">
                <a:pos x="388" y="2"/>
              </a:cxn>
              <a:cxn ang="0">
                <a:pos x="378" y="0"/>
              </a:cxn>
              <a:cxn ang="0">
                <a:pos x="378" y="0"/>
              </a:cxn>
            </a:cxnLst>
            <a:rect l="0" t="0" r="r" b="b"/>
            <a:pathLst>
              <a:path w="404" h="304">
                <a:moveTo>
                  <a:pt x="202" y="202"/>
                </a:moveTo>
                <a:lnTo>
                  <a:pt x="202" y="202"/>
                </a:lnTo>
                <a:lnTo>
                  <a:pt x="190" y="200"/>
                </a:lnTo>
                <a:lnTo>
                  <a:pt x="176" y="194"/>
                </a:lnTo>
                <a:lnTo>
                  <a:pt x="0" y="102"/>
                </a:lnTo>
                <a:lnTo>
                  <a:pt x="0" y="278"/>
                </a:lnTo>
                <a:lnTo>
                  <a:pt x="0" y="278"/>
                </a:lnTo>
                <a:lnTo>
                  <a:pt x="2" y="288"/>
                </a:lnTo>
                <a:lnTo>
                  <a:pt x="6" y="296"/>
                </a:lnTo>
                <a:lnTo>
                  <a:pt x="14" y="302"/>
                </a:lnTo>
                <a:lnTo>
                  <a:pt x="24" y="304"/>
                </a:lnTo>
                <a:lnTo>
                  <a:pt x="378" y="304"/>
                </a:lnTo>
                <a:lnTo>
                  <a:pt x="378" y="304"/>
                </a:lnTo>
                <a:lnTo>
                  <a:pt x="388" y="302"/>
                </a:lnTo>
                <a:lnTo>
                  <a:pt x="396" y="296"/>
                </a:lnTo>
                <a:lnTo>
                  <a:pt x="402" y="288"/>
                </a:lnTo>
                <a:lnTo>
                  <a:pt x="404" y="278"/>
                </a:lnTo>
                <a:lnTo>
                  <a:pt x="404" y="102"/>
                </a:lnTo>
                <a:lnTo>
                  <a:pt x="226" y="194"/>
                </a:lnTo>
                <a:lnTo>
                  <a:pt x="226" y="194"/>
                </a:lnTo>
                <a:lnTo>
                  <a:pt x="212" y="200"/>
                </a:lnTo>
                <a:lnTo>
                  <a:pt x="202" y="202"/>
                </a:lnTo>
                <a:lnTo>
                  <a:pt x="202" y="202"/>
                </a:lnTo>
                <a:close/>
                <a:moveTo>
                  <a:pt x="378" y="0"/>
                </a:moveTo>
                <a:lnTo>
                  <a:pt x="24" y="0"/>
                </a:lnTo>
                <a:lnTo>
                  <a:pt x="24" y="0"/>
                </a:lnTo>
                <a:lnTo>
                  <a:pt x="14" y="2"/>
                </a:lnTo>
                <a:lnTo>
                  <a:pt x="6" y="8"/>
                </a:lnTo>
                <a:lnTo>
                  <a:pt x="2" y="16"/>
                </a:lnTo>
                <a:lnTo>
                  <a:pt x="0" y="26"/>
                </a:lnTo>
                <a:lnTo>
                  <a:pt x="0" y="44"/>
                </a:lnTo>
                <a:lnTo>
                  <a:pt x="202" y="152"/>
                </a:lnTo>
                <a:lnTo>
                  <a:pt x="404" y="44"/>
                </a:lnTo>
                <a:lnTo>
                  <a:pt x="404" y="26"/>
                </a:lnTo>
                <a:lnTo>
                  <a:pt x="404" y="26"/>
                </a:lnTo>
                <a:lnTo>
                  <a:pt x="402" y="16"/>
                </a:lnTo>
                <a:lnTo>
                  <a:pt x="396" y="8"/>
                </a:lnTo>
                <a:lnTo>
                  <a:pt x="388" y="2"/>
                </a:lnTo>
                <a:lnTo>
                  <a:pt x="378" y="0"/>
                </a:lnTo>
                <a:lnTo>
                  <a:pt x="378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矩形 39">
            <a:extLst>
              <a:ext uri="{FF2B5EF4-FFF2-40B4-BE49-F238E27FC236}">
                <a16:creationId xmlns:a16="http://schemas.microsoft.com/office/drawing/2014/main" id="{68798881-44BC-4A12-B5E1-B72B2C4CA9FD}"/>
              </a:ext>
            </a:extLst>
          </p:cNvPr>
          <p:cNvSpPr/>
          <p:nvPr/>
        </p:nvSpPr>
        <p:spPr>
          <a:xfrm>
            <a:off x="8773754" y="3155286"/>
            <a:ext cx="117155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Metode</a:t>
            </a:r>
            <a:r>
              <a:rPr lang="en-US" altLang="zh-CN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   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91" name="矩形 38">
            <a:extLst>
              <a:ext uri="{FF2B5EF4-FFF2-40B4-BE49-F238E27FC236}">
                <a16:creationId xmlns:a16="http://schemas.microsoft.com/office/drawing/2014/main" id="{A9A7A990-28E4-4C2D-B74A-5745A0661491}"/>
              </a:ext>
            </a:extLst>
          </p:cNvPr>
          <p:cNvSpPr/>
          <p:nvPr/>
        </p:nvSpPr>
        <p:spPr>
          <a:xfrm>
            <a:off x="8777431" y="3526381"/>
            <a:ext cx="1167882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MAUT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92" name="矩形 39">
            <a:extLst>
              <a:ext uri="{FF2B5EF4-FFF2-40B4-BE49-F238E27FC236}">
                <a16:creationId xmlns:a16="http://schemas.microsoft.com/office/drawing/2014/main" id="{18A1FAD2-C6CA-4145-A8A2-C0BF4122BA34}"/>
              </a:ext>
            </a:extLst>
          </p:cNvPr>
          <p:cNvSpPr/>
          <p:nvPr/>
        </p:nvSpPr>
        <p:spPr>
          <a:xfrm>
            <a:off x="10313712" y="3161168"/>
            <a:ext cx="117155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Use   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93" name="矩形 38">
            <a:extLst>
              <a:ext uri="{FF2B5EF4-FFF2-40B4-BE49-F238E27FC236}">
                <a16:creationId xmlns:a16="http://schemas.microsoft.com/office/drawing/2014/main" id="{E49A6C1A-5EDD-473B-B7E5-287F82A33E1A}"/>
              </a:ext>
            </a:extLst>
          </p:cNvPr>
          <p:cNvSpPr/>
          <p:nvPr/>
        </p:nvSpPr>
        <p:spPr>
          <a:xfrm>
            <a:off x="10313156" y="3528029"/>
            <a:ext cx="1172116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Case</a:t>
            </a:r>
            <a:endParaRPr lang="zh-CN" altLang="zh-CN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graphicFrame>
        <p:nvGraphicFramePr>
          <p:cNvPr id="98" name="图表 1">
            <a:extLst>
              <a:ext uri="{FF2B5EF4-FFF2-40B4-BE49-F238E27FC236}">
                <a16:creationId xmlns:a16="http://schemas.microsoft.com/office/drawing/2014/main" id="{152C93ED-1816-49FE-86B4-447A0E4E9B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0073224"/>
              </p:ext>
            </p:extLst>
          </p:nvPr>
        </p:nvGraphicFramePr>
        <p:xfrm>
          <a:off x="-12699" y="5108949"/>
          <a:ext cx="12191999" cy="1728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6271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8342512" y="316442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 PPT</a:t>
            </a:r>
            <a:r>
              <a:rPr lang="zh-CN" altLang="en-US" sz="100" dirty="0">
                <a:solidFill>
                  <a:schemeClr val="bg1"/>
                </a:solidFill>
              </a:rPr>
              <a:t>素材下载：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PPT</a:t>
            </a:r>
            <a:r>
              <a:rPr lang="zh-CN" altLang="en-US" sz="100" dirty="0">
                <a:solidFill>
                  <a:schemeClr val="bg1"/>
                </a:solidFill>
              </a:rPr>
              <a:t>图表下载：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优秀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Word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www.1ppt.com/word/              Excel</a:t>
            </a:r>
            <a:r>
              <a:rPr lang="zh-CN" altLang="en-US" sz="100" dirty="0">
                <a:solidFill>
                  <a:schemeClr val="bg1"/>
                </a:solidFill>
              </a:rPr>
              <a:t>教程：</a:t>
            </a:r>
            <a:r>
              <a:rPr lang="en-US" altLang="zh-CN" sz="100" dirty="0">
                <a:solidFill>
                  <a:schemeClr val="bg1"/>
                </a:solidFill>
              </a:rPr>
              <a:t>www.1ppt.com/excel/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资料下载：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www.1ppt.com/ziliao/                PPT</a:t>
            </a:r>
            <a:r>
              <a:rPr lang="zh-CN" altLang="en-US" sz="100" dirty="0">
                <a:solidFill>
                  <a:schemeClr val="bg1"/>
                </a:solidFill>
              </a:rPr>
              <a:t>课件下载：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范文下载：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www.1ppt.com/fanwen/             </a:t>
            </a:r>
            <a:r>
              <a:rPr lang="zh-CN" altLang="en-US" sz="100" dirty="0">
                <a:solidFill>
                  <a:schemeClr val="bg1"/>
                </a:solidFill>
              </a:rPr>
              <a:t>试卷下载：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www.1ppt.com/shiti/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教案下载：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www.1ppt.com/jiaoan/        PPT</a:t>
            </a:r>
            <a:r>
              <a:rPr lang="zh-CN" altLang="en-US" sz="100" dirty="0">
                <a:solidFill>
                  <a:schemeClr val="bg1"/>
                </a:solidFill>
              </a:rPr>
              <a:t>论坛：</a:t>
            </a:r>
            <a:r>
              <a:rPr lang="en-US" altLang="zh-CN" sz="100" dirty="0">
                <a:solidFill>
                  <a:schemeClr val="bg1"/>
                </a:solidFill>
              </a:rPr>
              <a:t>www.1ppt.cn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zh-CN" altLang="en-US" sz="1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20792" y="6014832"/>
            <a:ext cx="5471208" cy="85361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lIns="91438" tIns="45719" rIns="91438" bIns="45719" rtlCol="0" anchor="ctr"/>
          <a:lstStyle/>
          <a:p>
            <a:pPr marL="0" marR="0" lvl="0" indent="0" algn="ctr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7348" y="1021726"/>
            <a:ext cx="10317951" cy="26542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just" defTabSz="457189">
              <a:lnSpc>
                <a:spcPct val="130000"/>
              </a:lnSpc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merupakan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sumber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daya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manusia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sangat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berperan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dalam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mewujudkan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misi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suatu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perusahaan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Kualitas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semangat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kerja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diberikan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dapat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membantu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keberlangsungan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kemajuan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suatu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perusahaan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zh-CN" altLang="en-US" sz="2000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  <a:p>
            <a:pPr algn="just" defTabSz="457189">
              <a:lnSpc>
                <a:spcPct val="130000"/>
              </a:lnSpc>
            </a:pPr>
            <a:endParaRPr lang="zh-CN" altLang="en-US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7" name="矩形 39"/>
          <p:cNvSpPr/>
          <p:nvPr/>
        </p:nvSpPr>
        <p:spPr>
          <a:xfrm>
            <a:off x="337349" y="187249"/>
            <a:ext cx="3954925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LATAR BELAKANG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>
            <a:cxnSpLocks/>
          </p:cNvCxnSpPr>
          <p:nvPr/>
        </p:nvCxnSpPr>
        <p:spPr>
          <a:xfrm flipV="1">
            <a:off x="437642" y="805833"/>
            <a:ext cx="3727958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9C1333F-048F-4BF3-85E1-F7153985C9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16" name="文本框 10">
            <a:extLst>
              <a:ext uri="{FF2B5EF4-FFF2-40B4-BE49-F238E27FC236}">
                <a16:creationId xmlns:a16="http://schemas.microsoft.com/office/drawing/2014/main" id="{982480CA-5643-46D9-9B5D-580491259733}"/>
              </a:ext>
            </a:extLst>
          </p:cNvPr>
          <p:cNvSpPr txBox="1"/>
          <p:nvPr/>
        </p:nvSpPr>
        <p:spPr>
          <a:xfrm>
            <a:off x="307183" y="3466396"/>
            <a:ext cx="10348115" cy="3170097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just" defTabSz="457189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PT. Maharani Infotech Solution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perusahaan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swasta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bergerak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dibidang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teknologi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mempekerjakan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meningkatkan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kinerja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diperlukan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pemilihan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terbaik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agar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berkompetisi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bersaing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kualitas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mendapatkan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gelar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terbaik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defTabSz="457189"/>
            <a:endParaRPr kumimoji="1" lang="zh-CN" altLang="en-US" sz="3200" b="1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910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8342512" y="316442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 PPT</a:t>
            </a:r>
            <a:r>
              <a:rPr lang="zh-CN" altLang="en-US" sz="100" dirty="0">
                <a:solidFill>
                  <a:schemeClr val="bg1"/>
                </a:solidFill>
              </a:rPr>
              <a:t>素材下载：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PPT</a:t>
            </a:r>
            <a:r>
              <a:rPr lang="zh-CN" altLang="en-US" sz="100" dirty="0">
                <a:solidFill>
                  <a:schemeClr val="bg1"/>
                </a:solidFill>
              </a:rPr>
              <a:t>图表下载：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优秀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Word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www.1ppt.com/word/              Excel</a:t>
            </a:r>
            <a:r>
              <a:rPr lang="zh-CN" altLang="en-US" sz="100" dirty="0">
                <a:solidFill>
                  <a:schemeClr val="bg1"/>
                </a:solidFill>
              </a:rPr>
              <a:t>教程：</a:t>
            </a:r>
            <a:r>
              <a:rPr lang="en-US" altLang="zh-CN" sz="100" dirty="0">
                <a:solidFill>
                  <a:schemeClr val="bg1"/>
                </a:solidFill>
              </a:rPr>
              <a:t>www.1ppt.com/excel/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资料下载：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www.1ppt.com/ziliao/                PPT</a:t>
            </a:r>
            <a:r>
              <a:rPr lang="zh-CN" altLang="en-US" sz="100" dirty="0">
                <a:solidFill>
                  <a:schemeClr val="bg1"/>
                </a:solidFill>
              </a:rPr>
              <a:t>课件下载：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范文下载：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www.1ppt.com/fanwen/             </a:t>
            </a:r>
            <a:r>
              <a:rPr lang="zh-CN" altLang="en-US" sz="100" dirty="0">
                <a:solidFill>
                  <a:schemeClr val="bg1"/>
                </a:solidFill>
              </a:rPr>
              <a:t>试卷下载：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www.1ppt.com/shiti/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教案下载：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www.1ppt.com/jiaoan/        PPT</a:t>
            </a:r>
            <a:r>
              <a:rPr lang="zh-CN" altLang="en-US" sz="100" dirty="0">
                <a:solidFill>
                  <a:schemeClr val="bg1"/>
                </a:solidFill>
              </a:rPr>
              <a:t>论坛：</a:t>
            </a:r>
            <a:r>
              <a:rPr lang="en-US" altLang="zh-CN" sz="100" dirty="0">
                <a:solidFill>
                  <a:schemeClr val="bg1"/>
                </a:solidFill>
              </a:rPr>
              <a:t>www.1ppt.cn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zh-CN" altLang="en-US" sz="1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20792" y="6014832"/>
            <a:ext cx="5471208" cy="85361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lIns="91438" tIns="45719" rIns="91438" bIns="45719" rtlCol="0" anchor="ctr"/>
          <a:lstStyle/>
          <a:p>
            <a:pPr marL="0" marR="0" lvl="0" indent="0" algn="ctr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7348" y="1021726"/>
            <a:ext cx="10317951" cy="26542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just" defTabSz="457189">
              <a:lnSpc>
                <a:spcPct val="130000"/>
              </a:lnSpc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merupakan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sumber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daya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manusia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sangat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berperan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dalam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mewujudkan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misi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suatu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perusahaan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Kualitas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semangat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kerja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diberikan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dapat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membantu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keberlangsungan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kemajuan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suatu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perusahaan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zh-CN" altLang="en-US" sz="2000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  <a:p>
            <a:pPr algn="just" defTabSz="457189">
              <a:lnSpc>
                <a:spcPct val="130000"/>
              </a:lnSpc>
            </a:pPr>
            <a:endParaRPr lang="zh-CN" altLang="en-US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7" name="矩形 39"/>
          <p:cNvSpPr/>
          <p:nvPr/>
        </p:nvSpPr>
        <p:spPr>
          <a:xfrm>
            <a:off x="337349" y="187249"/>
            <a:ext cx="3954925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LATAR BELAKANG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>
            <a:cxnSpLocks/>
          </p:cNvCxnSpPr>
          <p:nvPr/>
        </p:nvCxnSpPr>
        <p:spPr>
          <a:xfrm flipV="1">
            <a:off x="437642" y="805833"/>
            <a:ext cx="3727958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9C1333F-048F-4BF3-85E1-F7153985C9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16" name="文本框 10">
            <a:extLst>
              <a:ext uri="{FF2B5EF4-FFF2-40B4-BE49-F238E27FC236}">
                <a16:creationId xmlns:a16="http://schemas.microsoft.com/office/drawing/2014/main" id="{982480CA-5643-46D9-9B5D-580491259733}"/>
              </a:ext>
            </a:extLst>
          </p:cNvPr>
          <p:cNvSpPr txBox="1"/>
          <p:nvPr/>
        </p:nvSpPr>
        <p:spPr>
          <a:xfrm>
            <a:off x="307183" y="3466396"/>
            <a:ext cx="10348115" cy="3170097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just" defTabSz="457189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PT. Maharani Infotech Solution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perusahaan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swasta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bergerak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dibidang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teknologi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mempekerjakan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meningkatkan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kinerja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diperlukan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pemilihan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terbaik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agar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berkompetisi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bersaing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kualitas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mendapatkan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gelar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karyawan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terbaik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defTabSz="457189"/>
            <a:endParaRPr kumimoji="1" lang="zh-CN" altLang="en-US" sz="3200" b="1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20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92361" y="2262929"/>
            <a:ext cx="6312052" cy="125262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6" name="矩形 39"/>
          <p:cNvSpPr/>
          <p:nvPr/>
        </p:nvSpPr>
        <p:spPr>
          <a:xfrm>
            <a:off x="337349" y="187249"/>
            <a:ext cx="4724944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RUMUSAN MASALAH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 flipV="1">
            <a:off x="386842" y="793133"/>
            <a:ext cx="4588462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 16"/>
          <p:cNvSpPr/>
          <p:nvPr/>
        </p:nvSpPr>
        <p:spPr>
          <a:xfrm rot="4450783">
            <a:off x="142652" y="2016346"/>
            <a:ext cx="1540804" cy="1683659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13721046" flipH="1">
            <a:off x="10571283" y="2251529"/>
            <a:ext cx="1540804" cy="1683659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1406698" y="355145"/>
            <a:ext cx="476838" cy="371192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Ostrich Sans Black" panose="00000A00000000000000" pitchFamily="50" charset="0"/>
                <a:cs typeface="BrowalliaUPC" panose="020B0604020202020204" pitchFamily="34" charset="-34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</a:rPr>
              <a:t>25</a:t>
            </a:r>
            <a:endParaRPr lang="zh-CN" altLang="en-US" sz="1200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67499" y="2249225"/>
            <a:ext cx="6336914" cy="1569658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Bagaimana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pendukung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keputusan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dapat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menentukan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karyawan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terbaik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</a:p>
          <a:p>
            <a:endParaRPr lang="zh-CN" altLang="en-US" sz="2400" dirty="0">
              <a:solidFill>
                <a:schemeClr val="bg1"/>
              </a:solidFill>
              <a:latin typeface="HelveticaNeueLT Pro 67 MdCn" panose="020B0606030502030204"/>
              <a:ea typeface="微软雅黑" panose="020B0503020204020204" pitchFamily="34" charset="-122"/>
              <a:sym typeface="News Gothic MT" charset="0"/>
            </a:endParaRPr>
          </a:p>
        </p:txBody>
      </p:sp>
      <p:sp>
        <p:nvSpPr>
          <p:cNvPr id="45" name="Freeform 232"/>
          <p:cNvSpPr>
            <a:spLocks/>
          </p:cNvSpPr>
          <p:nvPr/>
        </p:nvSpPr>
        <p:spPr bwMode="auto">
          <a:xfrm>
            <a:off x="10986217" y="2726296"/>
            <a:ext cx="815975" cy="520700"/>
          </a:xfrm>
          <a:custGeom>
            <a:avLst/>
            <a:gdLst/>
            <a:ahLst/>
            <a:cxnLst>
              <a:cxn ang="0">
                <a:pos x="256" y="0"/>
              </a:cxn>
              <a:cxn ang="0">
                <a:pos x="0" y="142"/>
              </a:cxn>
              <a:cxn ang="0">
                <a:pos x="256" y="282"/>
              </a:cxn>
              <a:cxn ang="0">
                <a:pos x="468" y="166"/>
              </a:cxn>
              <a:cxn ang="0">
                <a:pos x="468" y="328"/>
              </a:cxn>
              <a:cxn ang="0">
                <a:pos x="514" y="328"/>
              </a:cxn>
              <a:cxn ang="0">
                <a:pos x="514" y="142"/>
              </a:cxn>
              <a:cxn ang="0">
                <a:pos x="256" y="0"/>
              </a:cxn>
            </a:cxnLst>
            <a:rect l="0" t="0" r="r" b="b"/>
            <a:pathLst>
              <a:path w="514" h="328">
                <a:moveTo>
                  <a:pt x="256" y="0"/>
                </a:moveTo>
                <a:lnTo>
                  <a:pt x="0" y="142"/>
                </a:lnTo>
                <a:lnTo>
                  <a:pt x="256" y="282"/>
                </a:lnTo>
                <a:lnTo>
                  <a:pt x="468" y="166"/>
                </a:lnTo>
                <a:lnTo>
                  <a:pt x="468" y="328"/>
                </a:lnTo>
                <a:lnTo>
                  <a:pt x="514" y="328"/>
                </a:lnTo>
                <a:lnTo>
                  <a:pt x="514" y="142"/>
                </a:lnTo>
                <a:lnTo>
                  <a:pt x="256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233"/>
          <p:cNvSpPr>
            <a:spLocks/>
          </p:cNvSpPr>
          <p:nvPr/>
        </p:nvSpPr>
        <p:spPr bwMode="auto">
          <a:xfrm>
            <a:off x="11135442" y="3091421"/>
            <a:ext cx="517525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04"/>
              </a:cxn>
              <a:cxn ang="0">
                <a:pos x="162" y="192"/>
              </a:cxn>
              <a:cxn ang="0">
                <a:pos x="326" y="104"/>
              </a:cxn>
              <a:cxn ang="0">
                <a:pos x="326" y="0"/>
              </a:cxn>
              <a:cxn ang="0">
                <a:pos x="162" y="98"/>
              </a:cxn>
              <a:cxn ang="0">
                <a:pos x="0" y="0"/>
              </a:cxn>
            </a:cxnLst>
            <a:rect l="0" t="0" r="r" b="b"/>
            <a:pathLst>
              <a:path w="326" h="192">
                <a:moveTo>
                  <a:pt x="0" y="0"/>
                </a:moveTo>
                <a:lnTo>
                  <a:pt x="0" y="104"/>
                </a:lnTo>
                <a:lnTo>
                  <a:pt x="162" y="192"/>
                </a:lnTo>
                <a:lnTo>
                  <a:pt x="326" y="104"/>
                </a:lnTo>
                <a:lnTo>
                  <a:pt x="326" y="0"/>
                </a:lnTo>
                <a:lnTo>
                  <a:pt x="162" y="98"/>
                </a:lnTo>
                <a:lnTo>
                  <a:pt x="0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Freeform 121"/>
          <p:cNvSpPr>
            <a:spLocks/>
          </p:cNvSpPr>
          <p:nvPr/>
        </p:nvSpPr>
        <p:spPr bwMode="auto">
          <a:xfrm>
            <a:off x="8946561" y="3544767"/>
            <a:ext cx="2550680" cy="3251630"/>
          </a:xfrm>
          <a:custGeom>
            <a:avLst/>
            <a:gdLst/>
            <a:ahLst/>
            <a:cxnLst>
              <a:cxn ang="0">
                <a:pos x="170" y="224"/>
              </a:cxn>
              <a:cxn ang="0">
                <a:pos x="170" y="190"/>
              </a:cxn>
              <a:cxn ang="0">
                <a:pos x="174" y="186"/>
              </a:cxn>
              <a:cxn ang="0">
                <a:pos x="184" y="164"/>
              </a:cxn>
              <a:cxn ang="0">
                <a:pos x="188" y="152"/>
              </a:cxn>
              <a:cxn ang="0">
                <a:pos x="196" y="146"/>
              </a:cxn>
              <a:cxn ang="0">
                <a:pos x="202" y="128"/>
              </a:cxn>
              <a:cxn ang="0">
                <a:pos x="202" y="122"/>
              </a:cxn>
              <a:cxn ang="0">
                <a:pos x="196" y="112"/>
              </a:cxn>
              <a:cxn ang="0">
                <a:pos x="202" y="88"/>
              </a:cxn>
              <a:cxn ang="0">
                <a:pos x="204" y="58"/>
              </a:cxn>
              <a:cxn ang="0">
                <a:pos x="198" y="34"/>
              </a:cxn>
              <a:cxn ang="0">
                <a:pos x="190" y="24"/>
              </a:cxn>
              <a:cxn ang="0">
                <a:pos x="176" y="16"/>
              </a:cxn>
              <a:cxn ang="0">
                <a:pos x="166" y="14"/>
              </a:cxn>
              <a:cxn ang="0">
                <a:pos x="152" y="2"/>
              </a:cxn>
              <a:cxn ang="0">
                <a:pos x="130" y="0"/>
              </a:cxn>
              <a:cxn ang="0">
                <a:pos x="118" y="0"/>
              </a:cxn>
              <a:cxn ang="0">
                <a:pos x="96" y="4"/>
              </a:cxn>
              <a:cxn ang="0">
                <a:pos x="80" y="14"/>
              </a:cxn>
              <a:cxn ang="0">
                <a:pos x="70" y="26"/>
              </a:cxn>
              <a:cxn ang="0">
                <a:pos x="60" y="50"/>
              </a:cxn>
              <a:cxn ang="0">
                <a:pos x="62" y="90"/>
              </a:cxn>
              <a:cxn ang="0">
                <a:pos x="66" y="112"/>
              </a:cxn>
              <a:cxn ang="0">
                <a:pos x="60" y="122"/>
              </a:cxn>
              <a:cxn ang="0">
                <a:pos x="60" y="128"/>
              </a:cxn>
              <a:cxn ang="0">
                <a:pos x="66" y="146"/>
              </a:cxn>
              <a:cxn ang="0">
                <a:pos x="74" y="152"/>
              </a:cxn>
              <a:cxn ang="0">
                <a:pos x="76" y="164"/>
              </a:cxn>
              <a:cxn ang="0">
                <a:pos x="88" y="186"/>
              </a:cxn>
              <a:cxn ang="0">
                <a:pos x="92" y="190"/>
              </a:cxn>
              <a:cxn ang="0">
                <a:pos x="92" y="224"/>
              </a:cxn>
              <a:cxn ang="0">
                <a:pos x="86" y="234"/>
              </a:cxn>
              <a:cxn ang="0">
                <a:pos x="66" y="246"/>
              </a:cxn>
              <a:cxn ang="0">
                <a:pos x="26" y="264"/>
              </a:cxn>
              <a:cxn ang="0">
                <a:pos x="0" y="280"/>
              </a:cxn>
              <a:cxn ang="0">
                <a:pos x="12" y="290"/>
              </a:cxn>
              <a:cxn ang="0">
                <a:pos x="42" y="310"/>
              </a:cxn>
              <a:cxn ang="0">
                <a:pos x="78" y="324"/>
              </a:cxn>
              <a:cxn ang="0">
                <a:pos x="116" y="332"/>
              </a:cxn>
              <a:cxn ang="0">
                <a:pos x="136" y="334"/>
              </a:cxn>
              <a:cxn ang="0">
                <a:pos x="176" y="326"/>
              </a:cxn>
              <a:cxn ang="0">
                <a:pos x="214" y="312"/>
              </a:cxn>
              <a:cxn ang="0">
                <a:pos x="246" y="294"/>
              </a:cxn>
              <a:cxn ang="0">
                <a:pos x="262" y="280"/>
              </a:cxn>
              <a:cxn ang="0">
                <a:pos x="236" y="264"/>
              </a:cxn>
              <a:cxn ang="0">
                <a:pos x="196" y="246"/>
              </a:cxn>
              <a:cxn ang="0">
                <a:pos x="176" y="234"/>
              </a:cxn>
              <a:cxn ang="0">
                <a:pos x="170" y="224"/>
              </a:cxn>
            </a:cxnLst>
            <a:rect l="0" t="0" r="r" b="b"/>
            <a:pathLst>
              <a:path w="262" h="334">
                <a:moveTo>
                  <a:pt x="170" y="224"/>
                </a:moveTo>
                <a:lnTo>
                  <a:pt x="170" y="224"/>
                </a:lnTo>
                <a:lnTo>
                  <a:pt x="170" y="206"/>
                </a:lnTo>
                <a:lnTo>
                  <a:pt x="170" y="190"/>
                </a:lnTo>
                <a:lnTo>
                  <a:pt x="170" y="190"/>
                </a:lnTo>
                <a:lnTo>
                  <a:pt x="174" y="186"/>
                </a:lnTo>
                <a:lnTo>
                  <a:pt x="180" y="176"/>
                </a:lnTo>
                <a:lnTo>
                  <a:pt x="184" y="164"/>
                </a:lnTo>
                <a:lnTo>
                  <a:pt x="188" y="152"/>
                </a:lnTo>
                <a:lnTo>
                  <a:pt x="188" y="152"/>
                </a:lnTo>
                <a:lnTo>
                  <a:pt x="192" y="150"/>
                </a:lnTo>
                <a:lnTo>
                  <a:pt x="196" y="146"/>
                </a:lnTo>
                <a:lnTo>
                  <a:pt x="200" y="140"/>
                </a:lnTo>
                <a:lnTo>
                  <a:pt x="202" y="128"/>
                </a:lnTo>
                <a:lnTo>
                  <a:pt x="202" y="128"/>
                </a:lnTo>
                <a:lnTo>
                  <a:pt x="202" y="122"/>
                </a:lnTo>
                <a:lnTo>
                  <a:pt x="200" y="118"/>
                </a:lnTo>
                <a:lnTo>
                  <a:pt x="196" y="112"/>
                </a:lnTo>
                <a:lnTo>
                  <a:pt x="196" y="112"/>
                </a:lnTo>
                <a:lnTo>
                  <a:pt x="202" y="88"/>
                </a:lnTo>
                <a:lnTo>
                  <a:pt x="204" y="74"/>
                </a:lnTo>
                <a:lnTo>
                  <a:pt x="204" y="58"/>
                </a:lnTo>
                <a:lnTo>
                  <a:pt x="200" y="42"/>
                </a:lnTo>
                <a:lnTo>
                  <a:pt x="198" y="34"/>
                </a:lnTo>
                <a:lnTo>
                  <a:pt x="194" y="28"/>
                </a:lnTo>
                <a:lnTo>
                  <a:pt x="190" y="24"/>
                </a:lnTo>
                <a:lnTo>
                  <a:pt x="184" y="18"/>
                </a:lnTo>
                <a:lnTo>
                  <a:pt x="176" y="16"/>
                </a:lnTo>
                <a:lnTo>
                  <a:pt x="166" y="14"/>
                </a:lnTo>
                <a:lnTo>
                  <a:pt x="166" y="14"/>
                </a:lnTo>
                <a:lnTo>
                  <a:pt x="162" y="8"/>
                </a:lnTo>
                <a:lnTo>
                  <a:pt x="152" y="2"/>
                </a:lnTo>
                <a:lnTo>
                  <a:pt x="142" y="0"/>
                </a:lnTo>
                <a:lnTo>
                  <a:pt x="130" y="0"/>
                </a:lnTo>
                <a:lnTo>
                  <a:pt x="130" y="0"/>
                </a:lnTo>
                <a:lnTo>
                  <a:pt x="118" y="0"/>
                </a:lnTo>
                <a:lnTo>
                  <a:pt x="106" y="2"/>
                </a:lnTo>
                <a:lnTo>
                  <a:pt x="96" y="4"/>
                </a:lnTo>
                <a:lnTo>
                  <a:pt x="88" y="8"/>
                </a:lnTo>
                <a:lnTo>
                  <a:pt x="80" y="14"/>
                </a:lnTo>
                <a:lnTo>
                  <a:pt x="74" y="20"/>
                </a:lnTo>
                <a:lnTo>
                  <a:pt x="70" y="26"/>
                </a:lnTo>
                <a:lnTo>
                  <a:pt x="66" y="34"/>
                </a:lnTo>
                <a:lnTo>
                  <a:pt x="60" y="50"/>
                </a:lnTo>
                <a:lnTo>
                  <a:pt x="60" y="70"/>
                </a:lnTo>
                <a:lnTo>
                  <a:pt x="62" y="90"/>
                </a:lnTo>
                <a:lnTo>
                  <a:pt x="66" y="112"/>
                </a:lnTo>
                <a:lnTo>
                  <a:pt x="66" y="112"/>
                </a:lnTo>
                <a:lnTo>
                  <a:pt x="62" y="118"/>
                </a:lnTo>
                <a:lnTo>
                  <a:pt x="60" y="122"/>
                </a:lnTo>
                <a:lnTo>
                  <a:pt x="60" y="128"/>
                </a:lnTo>
                <a:lnTo>
                  <a:pt x="60" y="128"/>
                </a:lnTo>
                <a:lnTo>
                  <a:pt x="62" y="140"/>
                </a:lnTo>
                <a:lnTo>
                  <a:pt x="66" y="146"/>
                </a:lnTo>
                <a:lnTo>
                  <a:pt x="70" y="150"/>
                </a:lnTo>
                <a:lnTo>
                  <a:pt x="74" y="152"/>
                </a:lnTo>
                <a:lnTo>
                  <a:pt x="74" y="152"/>
                </a:lnTo>
                <a:lnTo>
                  <a:pt x="76" y="164"/>
                </a:lnTo>
                <a:lnTo>
                  <a:pt x="82" y="176"/>
                </a:lnTo>
                <a:lnTo>
                  <a:pt x="88" y="186"/>
                </a:lnTo>
                <a:lnTo>
                  <a:pt x="92" y="190"/>
                </a:lnTo>
                <a:lnTo>
                  <a:pt x="92" y="190"/>
                </a:lnTo>
                <a:lnTo>
                  <a:pt x="92" y="206"/>
                </a:lnTo>
                <a:lnTo>
                  <a:pt x="92" y="224"/>
                </a:lnTo>
                <a:lnTo>
                  <a:pt x="92" y="224"/>
                </a:lnTo>
                <a:lnTo>
                  <a:pt x="86" y="234"/>
                </a:lnTo>
                <a:lnTo>
                  <a:pt x="78" y="240"/>
                </a:lnTo>
                <a:lnTo>
                  <a:pt x="66" y="246"/>
                </a:lnTo>
                <a:lnTo>
                  <a:pt x="54" y="252"/>
                </a:lnTo>
                <a:lnTo>
                  <a:pt x="26" y="264"/>
                </a:lnTo>
                <a:lnTo>
                  <a:pt x="12" y="270"/>
                </a:lnTo>
                <a:lnTo>
                  <a:pt x="0" y="280"/>
                </a:lnTo>
                <a:lnTo>
                  <a:pt x="0" y="280"/>
                </a:lnTo>
                <a:lnTo>
                  <a:pt x="12" y="290"/>
                </a:lnTo>
                <a:lnTo>
                  <a:pt x="26" y="302"/>
                </a:lnTo>
                <a:lnTo>
                  <a:pt x="42" y="310"/>
                </a:lnTo>
                <a:lnTo>
                  <a:pt x="60" y="318"/>
                </a:lnTo>
                <a:lnTo>
                  <a:pt x="78" y="324"/>
                </a:lnTo>
                <a:lnTo>
                  <a:pt x="96" y="330"/>
                </a:lnTo>
                <a:lnTo>
                  <a:pt x="116" y="332"/>
                </a:lnTo>
                <a:lnTo>
                  <a:pt x="136" y="334"/>
                </a:lnTo>
                <a:lnTo>
                  <a:pt x="136" y="334"/>
                </a:lnTo>
                <a:lnTo>
                  <a:pt x="156" y="332"/>
                </a:lnTo>
                <a:lnTo>
                  <a:pt x="176" y="326"/>
                </a:lnTo>
                <a:lnTo>
                  <a:pt x="196" y="320"/>
                </a:lnTo>
                <a:lnTo>
                  <a:pt x="214" y="312"/>
                </a:lnTo>
                <a:lnTo>
                  <a:pt x="232" y="302"/>
                </a:lnTo>
                <a:lnTo>
                  <a:pt x="246" y="294"/>
                </a:lnTo>
                <a:lnTo>
                  <a:pt x="262" y="280"/>
                </a:lnTo>
                <a:lnTo>
                  <a:pt x="262" y="280"/>
                </a:lnTo>
                <a:lnTo>
                  <a:pt x="250" y="272"/>
                </a:lnTo>
                <a:lnTo>
                  <a:pt x="236" y="264"/>
                </a:lnTo>
                <a:lnTo>
                  <a:pt x="208" y="252"/>
                </a:lnTo>
                <a:lnTo>
                  <a:pt x="196" y="246"/>
                </a:lnTo>
                <a:lnTo>
                  <a:pt x="184" y="240"/>
                </a:lnTo>
                <a:lnTo>
                  <a:pt x="176" y="234"/>
                </a:lnTo>
                <a:lnTo>
                  <a:pt x="170" y="224"/>
                </a:lnTo>
                <a:lnTo>
                  <a:pt x="170" y="22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grpSp>
        <p:nvGrpSpPr>
          <p:cNvPr id="50" name="组 4"/>
          <p:cNvGrpSpPr/>
          <p:nvPr/>
        </p:nvGrpSpPr>
        <p:grpSpPr>
          <a:xfrm>
            <a:off x="9776968" y="3642741"/>
            <a:ext cx="832660" cy="997921"/>
            <a:chOff x="1536700" y="911225"/>
            <a:chExt cx="831850" cy="996950"/>
          </a:xfrm>
          <a:solidFill>
            <a:schemeClr val="bg1"/>
          </a:solidFill>
        </p:grpSpPr>
        <p:sp>
          <p:nvSpPr>
            <p:cNvPr id="51" name="Freeform 47"/>
            <p:cNvSpPr>
              <a:spLocks/>
            </p:cNvSpPr>
            <p:nvPr/>
          </p:nvSpPr>
          <p:spPr bwMode="auto">
            <a:xfrm>
              <a:off x="1838325" y="1765300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6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2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2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6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2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6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2" name="Freeform 48"/>
            <p:cNvSpPr>
              <a:spLocks/>
            </p:cNvSpPr>
            <p:nvPr/>
          </p:nvSpPr>
          <p:spPr bwMode="auto">
            <a:xfrm>
              <a:off x="1838325" y="1857375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4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0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0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4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0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0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4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3" name="Freeform 49"/>
            <p:cNvSpPr>
              <a:spLocks noEditPoints="1"/>
            </p:cNvSpPr>
            <p:nvPr/>
          </p:nvSpPr>
          <p:spPr bwMode="auto">
            <a:xfrm>
              <a:off x="1714500" y="1143000"/>
              <a:ext cx="476250" cy="581025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142" y="0"/>
                </a:cxn>
                <a:cxn ang="0">
                  <a:pos x="100" y="10"/>
                </a:cxn>
                <a:cxn ang="0">
                  <a:pos x="62" y="28"/>
                </a:cxn>
                <a:cxn ang="0">
                  <a:pos x="32" y="58"/>
                </a:cxn>
                <a:cxn ang="0">
                  <a:pos x="12" y="94"/>
                </a:cxn>
                <a:cxn ang="0">
                  <a:pos x="2" y="136"/>
                </a:cxn>
                <a:cxn ang="0">
                  <a:pos x="2" y="166"/>
                </a:cxn>
                <a:cxn ang="0">
                  <a:pos x="16" y="214"/>
                </a:cxn>
                <a:cxn ang="0">
                  <a:pos x="56" y="266"/>
                </a:cxn>
                <a:cxn ang="0">
                  <a:pos x="72" y="290"/>
                </a:cxn>
                <a:cxn ang="0">
                  <a:pos x="78" y="322"/>
                </a:cxn>
                <a:cxn ang="0">
                  <a:pos x="78" y="340"/>
                </a:cxn>
                <a:cxn ang="0">
                  <a:pos x="96" y="364"/>
                </a:cxn>
                <a:cxn ang="0">
                  <a:pos x="150" y="366"/>
                </a:cxn>
                <a:cxn ang="0">
                  <a:pos x="192" y="366"/>
                </a:cxn>
                <a:cxn ang="0">
                  <a:pos x="214" y="356"/>
                </a:cxn>
                <a:cxn ang="0">
                  <a:pos x="224" y="334"/>
                </a:cxn>
                <a:cxn ang="0">
                  <a:pos x="224" y="304"/>
                </a:cxn>
                <a:cxn ang="0">
                  <a:pos x="236" y="276"/>
                </a:cxn>
                <a:cxn ang="0">
                  <a:pos x="266" y="242"/>
                </a:cxn>
                <a:cxn ang="0">
                  <a:pos x="290" y="198"/>
                </a:cxn>
                <a:cxn ang="0">
                  <a:pos x="300" y="150"/>
                </a:cxn>
                <a:cxn ang="0">
                  <a:pos x="298" y="122"/>
                </a:cxn>
                <a:cxn ang="0">
                  <a:pos x="284" y="82"/>
                </a:cxn>
                <a:cxn ang="0">
                  <a:pos x="260" y="48"/>
                </a:cxn>
                <a:cxn ang="0">
                  <a:pos x="226" y="22"/>
                </a:cxn>
                <a:cxn ang="0">
                  <a:pos x="188" y="6"/>
                </a:cxn>
                <a:cxn ang="0">
                  <a:pos x="158" y="0"/>
                </a:cxn>
                <a:cxn ang="0">
                  <a:pos x="244" y="156"/>
                </a:cxn>
                <a:cxn ang="0">
                  <a:pos x="234" y="146"/>
                </a:cxn>
                <a:cxn ang="0">
                  <a:pos x="232" y="126"/>
                </a:cxn>
                <a:cxn ang="0">
                  <a:pos x="214" y="92"/>
                </a:cxn>
                <a:cxn ang="0">
                  <a:pos x="182" y="72"/>
                </a:cxn>
                <a:cxn ang="0">
                  <a:pos x="160" y="68"/>
                </a:cxn>
                <a:cxn ang="0">
                  <a:pos x="150" y="50"/>
                </a:cxn>
                <a:cxn ang="0">
                  <a:pos x="156" y="38"/>
                </a:cxn>
                <a:cxn ang="0">
                  <a:pos x="170" y="32"/>
                </a:cxn>
                <a:cxn ang="0">
                  <a:pos x="226" y="52"/>
                </a:cxn>
                <a:cxn ang="0">
                  <a:pos x="262" y="98"/>
                </a:cxn>
                <a:cxn ang="0">
                  <a:pos x="270" y="138"/>
                </a:cxn>
                <a:cxn ang="0">
                  <a:pos x="266" y="152"/>
                </a:cxn>
                <a:cxn ang="0">
                  <a:pos x="252" y="158"/>
                </a:cxn>
              </a:cxnLst>
              <a:rect l="0" t="0" r="r" b="b"/>
              <a:pathLst>
                <a:path w="300" h="366">
                  <a:moveTo>
                    <a:pt x="158" y="0"/>
                  </a:moveTo>
                  <a:lnTo>
                    <a:pt x="158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2"/>
                  </a:lnTo>
                  <a:lnTo>
                    <a:pt x="114" y="6"/>
                  </a:lnTo>
                  <a:lnTo>
                    <a:pt x="100" y="10"/>
                  </a:lnTo>
                  <a:lnTo>
                    <a:pt x="88" y="14"/>
                  </a:lnTo>
                  <a:lnTo>
                    <a:pt x="74" y="22"/>
                  </a:lnTo>
                  <a:lnTo>
                    <a:pt x="62" y="28"/>
                  </a:lnTo>
                  <a:lnTo>
                    <a:pt x="52" y="38"/>
                  </a:lnTo>
                  <a:lnTo>
                    <a:pt x="42" y="48"/>
                  </a:lnTo>
                  <a:lnTo>
                    <a:pt x="32" y="58"/>
                  </a:lnTo>
                  <a:lnTo>
                    <a:pt x="24" y="68"/>
                  </a:lnTo>
                  <a:lnTo>
                    <a:pt x="18" y="82"/>
                  </a:lnTo>
                  <a:lnTo>
                    <a:pt x="12" y="94"/>
                  </a:lnTo>
                  <a:lnTo>
                    <a:pt x="6" y="108"/>
                  </a:lnTo>
                  <a:lnTo>
                    <a:pt x="4" y="122"/>
                  </a:lnTo>
                  <a:lnTo>
                    <a:pt x="2" y="136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2" y="166"/>
                  </a:lnTo>
                  <a:lnTo>
                    <a:pt x="4" y="182"/>
                  </a:lnTo>
                  <a:lnTo>
                    <a:pt x="10" y="198"/>
                  </a:lnTo>
                  <a:lnTo>
                    <a:pt x="16" y="214"/>
                  </a:lnTo>
                  <a:lnTo>
                    <a:pt x="26" y="228"/>
                  </a:lnTo>
                  <a:lnTo>
                    <a:pt x="34" y="242"/>
                  </a:lnTo>
                  <a:lnTo>
                    <a:pt x="56" y="266"/>
                  </a:lnTo>
                  <a:lnTo>
                    <a:pt x="56" y="266"/>
                  </a:lnTo>
                  <a:lnTo>
                    <a:pt x="66" y="276"/>
                  </a:lnTo>
                  <a:lnTo>
                    <a:pt x="72" y="290"/>
                  </a:lnTo>
                  <a:lnTo>
                    <a:pt x="72" y="290"/>
                  </a:lnTo>
                  <a:lnTo>
                    <a:pt x="76" y="304"/>
                  </a:lnTo>
                  <a:lnTo>
                    <a:pt x="78" y="322"/>
                  </a:lnTo>
                  <a:lnTo>
                    <a:pt x="78" y="334"/>
                  </a:lnTo>
                  <a:lnTo>
                    <a:pt x="78" y="334"/>
                  </a:lnTo>
                  <a:lnTo>
                    <a:pt x="78" y="340"/>
                  </a:lnTo>
                  <a:lnTo>
                    <a:pt x="80" y="346"/>
                  </a:lnTo>
                  <a:lnTo>
                    <a:pt x="86" y="356"/>
                  </a:lnTo>
                  <a:lnTo>
                    <a:pt x="96" y="364"/>
                  </a:lnTo>
                  <a:lnTo>
                    <a:pt x="102" y="366"/>
                  </a:lnTo>
                  <a:lnTo>
                    <a:pt x="110" y="366"/>
                  </a:lnTo>
                  <a:lnTo>
                    <a:pt x="150" y="366"/>
                  </a:lnTo>
                  <a:lnTo>
                    <a:pt x="150" y="366"/>
                  </a:lnTo>
                  <a:lnTo>
                    <a:pt x="192" y="366"/>
                  </a:lnTo>
                  <a:lnTo>
                    <a:pt x="192" y="366"/>
                  </a:lnTo>
                  <a:lnTo>
                    <a:pt x="198" y="366"/>
                  </a:lnTo>
                  <a:lnTo>
                    <a:pt x="204" y="364"/>
                  </a:lnTo>
                  <a:lnTo>
                    <a:pt x="214" y="356"/>
                  </a:lnTo>
                  <a:lnTo>
                    <a:pt x="220" y="346"/>
                  </a:lnTo>
                  <a:lnTo>
                    <a:pt x="222" y="340"/>
                  </a:lnTo>
                  <a:lnTo>
                    <a:pt x="224" y="334"/>
                  </a:lnTo>
                  <a:lnTo>
                    <a:pt x="224" y="322"/>
                  </a:lnTo>
                  <a:lnTo>
                    <a:pt x="224" y="322"/>
                  </a:lnTo>
                  <a:lnTo>
                    <a:pt x="224" y="304"/>
                  </a:lnTo>
                  <a:lnTo>
                    <a:pt x="228" y="290"/>
                  </a:lnTo>
                  <a:lnTo>
                    <a:pt x="228" y="290"/>
                  </a:lnTo>
                  <a:lnTo>
                    <a:pt x="236" y="276"/>
                  </a:lnTo>
                  <a:lnTo>
                    <a:pt x="244" y="266"/>
                  </a:lnTo>
                  <a:lnTo>
                    <a:pt x="244" y="266"/>
                  </a:lnTo>
                  <a:lnTo>
                    <a:pt x="266" y="242"/>
                  </a:lnTo>
                  <a:lnTo>
                    <a:pt x="276" y="228"/>
                  </a:lnTo>
                  <a:lnTo>
                    <a:pt x="284" y="214"/>
                  </a:lnTo>
                  <a:lnTo>
                    <a:pt x="290" y="198"/>
                  </a:lnTo>
                  <a:lnTo>
                    <a:pt x="296" y="182"/>
                  </a:lnTo>
                  <a:lnTo>
                    <a:pt x="298" y="166"/>
                  </a:lnTo>
                  <a:lnTo>
                    <a:pt x="300" y="150"/>
                  </a:lnTo>
                  <a:lnTo>
                    <a:pt x="300" y="150"/>
                  </a:lnTo>
                  <a:lnTo>
                    <a:pt x="300" y="136"/>
                  </a:lnTo>
                  <a:lnTo>
                    <a:pt x="298" y="122"/>
                  </a:lnTo>
                  <a:lnTo>
                    <a:pt x="294" y="108"/>
                  </a:lnTo>
                  <a:lnTo>
                    <a:pt x="290" y="94"/>
                  </a:lnTo>
                  <a:lnTo>
                    <a:pt x="284" y="82"/>
                  </a:lnTo>
                  <a:lnTo>
                    <a:pt x="276" y="70"/>
                  </a:lnTo>
                  <a:lnTo>
                    <a:pt x="268" y="58"/>
                  </a:lnTo>
                  <a:lnTo>
                    <a:pt x="260" y="48"/>
                  </a:lnTo>
                  <a:lnTo>
                    <a:pt x="250" y="38"/>
                  </a:lnTo>
                  <a:lnTo>
                    <a:pt x="238" y="30"/>
                  </a:lnTo>
                  <a:lnTo>
                    <a:pt x="226" y="22"/>
                  </a:lnTo>
                  <a:lnTo>
                    <a:pt x="214" y="14"/>
                  </a:lnTo>
                  <a:lnTo>
                    <a:pt x="202" y="10"/>
                  </a:lnTo>
                  <a:lnTo>
                    <a:pt x="188" y="6"/>
                  </a:lnTo>
                  <a:lnTo>
                    <a:pt x="174" y="2"/>
                  </a:lnTo>
                  <a:lnTo>
                    <a:pt x="158" y="0"/>
                  </a:lnTo>
                  <a:lnTo>
                    <a:pt x="158" y="0"/>
                  </a:lnTo>
                  <a:close/>
                  <a:moveTo>
                    <a:pt x="252" y="158"/>
                  </a:moveTo>
                  <a:lnTo>
                    <a:pt x="252" y="158"/>
                  </a:lnTo>
                  <a:lnTo>
                    <a:pt x="244" y="156"/>
                  </a:lnTo>
                  <a:lnTo>
                    <a:pt x="238" y="152"/>
                  </a:lnTo>
                  <a:lnTo>
                    <a:pt x="238" y="152"/>
                  </a:lnTo>
                  <a:lnTo>
                    <a:pt x="234" y="146"/>
                  </a:lnTo>
                  <a:lnTo>
                    <a:pt x="232" y="138"/>
                  </a:lnTo>
                  <a:lnTo>
                    <a:pt x="232" y="138"/>
                  </a:lnTo>
                  <a:lnTo>
                    <a:pt x="232" y="126"/>
                  </a:lnTo>
                  <a:lnTo>
                    <a:pt x="228" y="112"/>
                  </a:lnTo>
                  <a:lnTo>
                    <a:pt x="222" y="102"/>
                  </a:lnTo>
                  <a:lnTo>
                    <a:pt x="214" y="92"/>
                  </a:lnTo>
                  <a:lnTo>
                    <a:pt x="204" y="84"/>
                  </a:lnTo>
                  <a:lnTo>
                    <a:pt x="194" y="76"/>
                  </a:lnTo>
                  <a:lnTo>
                    <a:pt x="182" y="72"/>
                  </a:lnTo>
                  <a:lnTo>
                    <a:pt x="168" y="70"/>
                  </a:lnTo>
                  <a:lnTo>
                    <a:pt x="168" y="70"/>
                  </a:lnTo>
                  <a:lnTo>
                    <a:pt x="160" y="68"/>
                  </a:lnTo>
                  <a:lnTo>
                    <a:pt x="154" y="64"/>
                  </a:lnTo>
                  <a:lnTo>
                    <a:pt x="150" y="58"/>
                  </a:lnTo>
                  <a:lnTo>
                    <a:pt x="150" y="50"/>
                  </a:lnTo>
                  <a:lnTo>
                    <a:pt x="150" y="50"/>
                  </a:lnTo>
                  <a:lnTo>
                    <a:pt x="152" y="42"/>
                  </a:lnTo>
                  <a:lnTo>
                    <a:pt x="156" y="38"/>
                  </a:lnTo>
                  <a:lnTo>
                    <a:pt x="162" y="34"/>
                  </a:lnTo>
                  <a:lnTo>
                    <a:pt x="170" y="32"/>
                  </a:lnTo>
                  <a:lnTo>
                    <a:pt x="170" y="32"/>
                  </a:lnTo>
                  <a:lnTo>
                    <a:pt x="190" y="36"/>
                  </a:lnTo>
                  <a:lnTo>
                    <a:pt x="210" y="42"/>
                  </a:lnTo>
                  <a:lnTo>
                    <a:pt x="226" y="52"/>
                  </a:lnTo>
                  <a:lnTo>
                    <a:pt x="242" y="66"/>
                  </a:lnTo>
                  <a:lnTo>
                    <a:pt x="254" y="80"/>
                  </a:lnTo>
                  <a:lnTo>
                    <a:pt x="262" y="98"/>
                  </a:lnTo>
                  <a:lnTo>
                    <a:pt x="268" y="118"/>
                  </a:lnTo>
                  <a:lnTo>
                    <a:pt x="270" y="138"/>
                  </a:lnTo>
                  <a:lnTo>
                    <a:pt x="270" y="138"/>
                  </a:lnTo>
                  <a:lnTo>
                    <a:pt x="270" y="146"/>
                  </a:lnTo>
                  <a:lnTo>
                    <a:pt x="266" y="152"/>
                  </a:lnTo>
                  <a:lnTo>
                    <a:pt x="266" y="152"/>
                  </a:lnTo>
                  <a:lnTo>
                    <a:pt x="260" y="156"/>
                  </a:lnTo>
                  <a:lnTo>
                    <a:pt x="252" y="158"/>
                  </a:lnTo>
                  <a:lnTo>
                    <a:pt x="252" y="15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1838325" y="1609725"/>
              <a:ext cx="234950" cy="1143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1838325" y="1765300"/>
              <a:ext cx="234950" cy="508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6" name="Freeform 52"/>
            <p:cNvSpPr>
              <a:spLocks/>
            </p:cNvSpPr>
            <p:nvPr/>
          </p:nvSpPr>
          <p:spPr bwMode="auto">
            <a:xfrm>
              <a:off x="1927225" y="911225"/>
              <a:ext cx="53975" cy="180975"/>
            </a:xfrm>
            <a:custGeom>
              <a:avLst/>
              <a:gdLst/>
              <a:ahLst/>
              <a:cxnLst>
                <a:cxn ang="0">
                  <a:pos x="34" y="112"/>
                </a:cxn>
                <a:cxn ang="0">
                  <a:pos x="4" y="114"/>
                </a:cxn>
                <a:cxn ang="0">
                  <a:pos x="0" y="0"/>
                </a:cxn>
                <a:cxn ang="0">
                  <a:pos x="28" y="0"/>
                </a:cxn>
                <a:cxn ang="0">
                  <a:pos x="34" y="112"/>
                </a:cxn>
              </a:cxnLst>
              <a:rect l="0" t="0" r="r" b="b"/>
              <a:pathLst>
                <a:path w="34" h="114">
                  <a:moveTo>
                    <a:pt x="34" y="112"/>
                  </a:moveTo>
                  <a:lnTo>
                    <a:pt x="4" y="114"/>
                  </a:lnTo>
                  <a:lnTo>
                    <a:pt x="0" y="0"/>
                  </a:lnTo>
                  <a:lnTo>
                    <a:pt x="28" y="0"/>
                  </a:lnTo>
                  <a:lnTo>
                    <a:pt x="34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7" name="Freeform 53"/>
            <p:cNvSpPr>
              <a:spLocks/>
            </p:cNvSpPr>
            <p:nvPr/>
          </p:nvSpPr>
          <p:spPr bwMode="auto">
            <a:xfrm>
              <a:off x="1698625" y="962025"/>
              <a:ext cx="130175" cy="177800"/>
            </a:xfrm>
            <a:custGeom>
              <a:avLst/>
              <a:gdLst/>
              <a:ahLst/>
              <a:cxnLst>
                <a:cxn ang="0">
                  <a:pos x="58" y="112"/>
                </a:cxn>
                <a:cxn ang="0">
                  <a:pos x="0" y="14"/>
                </a:cxn>
                <a:cxn ang="0">
                  <a:pos x="26" y="0"/>
                </a:cxn>
                <a:cxn ang="0">
                  <a:pos x="82" y="98"/>
                </a:cxn>
                <a:cxn ang="0">
                  <a:pos x="58" y="112"/>
                </a:cxn>
              </a:cxnLst>
              <a:rect l="0" t="0" r="r" b="b"/>
              <a:pathLst>
                <a:path w="82" h="112">
                  <a:moveTo>
                    <a:pt x="58" y="112"/>
                  </a:moveTo>
                  <a:lnTo>
                    <a:pt x="0" y="14"/>
                  </a:lnTo>
                  <a:lnTo>
                    <a:pt x="26" y="0"/>
                  </a:lnTo>
                  <a:lnTo>
                    <a:pt x="82" y="98"/>
                  </a:lnTo>
                  <a:lnTo>
                    <a:pt x="58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8" name="Freeform 54"/>
            <p:cNvSpPr>
              <a:spLocks/>
            </p:cNvSpPr>
            <p:nvPr/>
          </p:nvSpPr>
          <p:spPr bwMode="auto">
            <a:xfrm>
              <a:off x="1536700" y="1123950"/>
              <a:ext cx="180975" cy="1301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14" y="58"/>
                </a:cxn>
                <a:cxn ang="0">
                  <a:pos x="98" y="82"/>
                </a:cxn>
                <a:cxn ang="0">
                  <a:pos x="0" y="26"/>
                </a:cxn>
                <a:cxn ang="0">
                  <a:pos x="14" y="0"/>
                </a:cxn>
              </a:cxnLst>
              <a:rect l="0" t="0" r="r" b="b"/>
              <a:pathLst>
                <a:path w="114" h="82">
                  <a:moveTo>
                    <a:pt x="14" y="0"/>
                  </a:moveTo>
                  <a:lnTo>
                    <a:pt x="114" y="58"/>
                  </a:lnTo>
                  <a:lnTo>
                    <a:pt x="98" y="82"/>
                  </a:lnTo>
                  <a:lnTo>
                    <a:pt x="0" y="26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9" name="Freeform 55"/>
            <p:cNvSpPr>
              <a:spLocks/>
            </p:cNvSpPr>
            <p:nvPr/>
          </p:nvSpPr>
          <p:spPr bwMode="auto">
            <a:xfrm>
              <a:off x="2190750" y="1123950"/>
              <a:ext cx="177800" cy="130175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58"/>
                </a:cxn>
                <a:cxn ang="0">
                  <a:pos x="14" y="82"/>
                </a:cxn>
                <a:cxn ang="0">
                  <a:pos x="112" y="26"/>
                </a:cxn>
                <a:cxn ang="0">
                  <a:pos x="98" y="0"/>
                </a:cxn>
              </a:cxnLst>
              <a:rect l="0" t="0" r="r" b="b"/>
              <a:pathLst>
                <a:path w="112" h="82">
                  <a:moveTo>
                    <a:pt x="98" y="0"/>
                  </a:moveTo>
                  <a:lnTo>
                    <a:pt x="0" y="58"/>
                  </a:lnTo>
                  <a:lnTo>
                    <a:pt x="14" y="82"/>
                  </a:lnTo>
                  <a:lnTo>
                    <a:pt x="112" y="26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60" name="Freeform 56"/>
            <p:cNvSpPr>
              <a:spLocks/>
            </p:cNvSpPr>
            <p:nvPr/>
          </p:nvSpPr>
          <p:spPr bwMode="auto">
            <a:xfrm>
              <a:off x="2076450" y="962025"/>
              <a:ext cx="130175" cy="177800"/>
            </a:xfrm>
            <a:custGeom>
              <a:avLst/>
              <a:gdLst/>
              <a:ahLst/>
              <a:cxnLst>
                <a:cxn ang="0">
                  <a:pos x="26" y="112"/>
                </a:cxn>
                <a:cxn ang="0">
                  <a:pos x="0" y="98"/>
                </a:cxn>
                <a:cxn ang="0">
                  <a:pos x="58" y="0"/>
                </a:cxn>
                <a:cxn ang="0">
                  <a:pos x="82" y="14"/>
                </a:cxn>
                <a:cxn ang="0">
                  <a:pos x="26" y="112"/>
                </a:cxn>
              </a:cxnLst>
              <a:rect l="0" t="0" r="r" b="b"/>
              <a:pathLst>
                <a:path w="82" h="112">
                  <a:moveTo>
                    <a:pt x="26" y="112"/>
                  </a:moveTo>
                  <a:lnTo>
                    <a:pt x="0" y="98"/>
                  </a:lnTo>
                  <a:lnTo>
                    <a:pt x="58" y="0"/>
                  </a:lnTo>
                  <a:lnTo>
                    <a:pt x="82" y="14"/>
                  </a:lnTo>
                  <a:lnTo>
                    <a:pt x="26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</p:grpSp>
      <p:sp>
        <p:nvSpPr>
          <p:cNvPr id="68" name="矩形 4">
            <a:extLst>
              <a:ext uri="{FF2B5EF4-FFF2-40B4-BE49-F238E27FC236}">
                <a16:creationId xmlns:a16="http://schemas.microsoft.com/office/drawing/2014/main" id="{F629E085-FF34-4244-9ADD-EB6F92A4CF18}"/>
              </a:ext>
            </a:extLst>
          </p:cNvPr>
          <p:cNvSpPr/>
          <p:nvPr/>
        </p:nvSpPr>
        <p:spPr>
          <a:xfrm>
            <a:off x="1916505" y="4385471"/>
            <a:ext cx="6312052" cy="112632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71" name="矩形 42">
            <a:extLst>
              <a:ext uri="{FF2B5EF4-FFF2-40B4-BE49-F238E27FC236}">
                <a16:creationId xmlns:a16="http://schemas.microsoft.com/office/drawing/2014/main" id="{52252133-BCCD-4823-BE47-874F6F2B8665}"/>
              </a:ext>
            </a:extLst>
          </p:cNvPr>
          <p:cNvSpPr/>
          <p:nvPr/>
        </p:nvSpPr>
        <p:spPr>
          <a:xfrm>
            <a:off x="1916505" y="4314299"/>
            <a:ext cx="6219198" cy="182100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lvl="0" algn="just">
              <a:spcAft>
                <a:spcPts val="1000"/>
              </a:spcAft>
            </a:pP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Bagaimana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menerapkan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metode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Multi Attribute Utility Theory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(MAUT)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pemilihan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karyawan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terbaik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</a:p>
          <a:p>
            <a:endParaRPr lang="zh-CN" altLang="en-US" sz="3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News Gothic MT" charset="0"/>
            </a:endParaRPr>
          </a:p>
        </p:txBody>
      </p:sp>
      <p:sp>
        <p:nvSpPr>
          <p:cNvPr id="72" name="任意多边形 16">
            <a:extLst>
              <a:ext uri="{FF2B5EF4-FFF2-40B4-BE49-F238E27FC236}">
                <a16:creationId xmlns:a16="http://schemas.microsoft.com/office/drawing/2014/main" id="{103988A7-A046-4DA9-BA72-41273B5DDDDC}"/>
              </a:ext>
            </a:extLst>
          </p:cNvPr>
          <p:cNvSpPr/>
          <p:nvPr/>
        </p:nvSpPr>
        <p:spPr>
          <a:xfrm rot="4450783">
            <a:off x="168052" y="4022946"/>
            <a:ext cx="1540804" cy="1683659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5E8436A-1A80-4460-9741-7F89FA3E12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75" name="Freeform 210">
            <a:extLst>
              <a:ext uri="{FF2B5EF4-FFF2-40B4-BE49-F238E27FC236}">
                <a16:creationId xmlns:a16="http://schemas.microsoft.com/office/drawing/2014/main" id="{7D989CC4-5BAD-4154-B113-B0C138D857CC}"/>
              </a:ext>
            </a:extLst>
          </p:cNvPr>
          <p:cNvSpPr>
            <a:spLocks noEditPoints="1"/>
          </p:cNvSpPr>
          <p:nvPr/>
        </p:nvSpPr>
        <p:spPr bwMode="auto">
          <a:xfrm>
            <a:off x="478395" y="2591535"/>
            <a:ext cx="708701" cy="533280"/>
          </a:xfrm>
          <a:custGeom>
            <a:avLst/>
            <a:gdLst/>
            <a:ahLst/>
            <a:cxnLst>
              <a:cxn ang="0">
                <a:pos x="202" y="202"/>
              </a:cxn>
              <a:cxn ang="0">
                <a:pos x="202" y="202"/>
              </a:cxn>
              <a:cxn ang="0">
                <a:pos x="190" y="200"/>
              </a:cxn>
              <a:cxn ang="0">
                <a:pos x="176" y="194"/>
              </a:cxn>
              <a:cxn ang="0">
                <a:pos x="0" y="102"/>
              </a:cxn>
              <a:cxn ang="0">
                <a:pos x="0" y="278"/>
              </a:cxn>
              <a:cxn ang="0">
                <a:pos x="0" y="278"/>
              </a:cxn>
              <a:cxn ang="0">
                <a:pos x="2" y="288"/>
              </a:cxn>
              <a:cxn ang="0">
                <a:pos x="6" y="296"/>
              </a:cxn>
              <a:cxn ang="0">
                <a:pos x="14" y="302"/>
              </a:cxn>
              <a:cxn ang="0">
                <a:pos x="24" y="304"/>
              </a:cxn>
              <a:cxn ang="0">
                <a:pos x="378" y="304"/>
              </a:cxn>
              <a:cxn ang="0">
                <a:pos x="378" y="304"/>
              </a:cxn>
              <a:cxn ang="0">
                <a:pos x="388" y="302"/>
              </a:cxn>
              <a:cxn ang="0">
                <a:pos x="396" y="296"/>
              </a:cxn>
              <a:cxn ang="0">
                <a:pos x="402" y="288"/>
              </a:cxn>
              <a:cxn ang="0">
                <a:pos x="404" y="278"/>
              </a:cxn>
              <a:cxn ang="0">
                <a:pos x="404" y="102"/>
              </a:cxn>
              <a:cxn ang="0">
                <a:pos x="226" y="194"/>
              </a:cxn>
              <a:cxn ang="0">
                <a:pos x="226" y="194"/>
              </a:cxn>
              <a:cxn ang="0">
                <a:pos x="212" y="200"/>
              </a:cxn>
              <a:cxn ang="0">
                <a:pos x="202" y="202"/>
              </a:cxn>
              <a:cxn ang="0">
                <a:pos x="202" y="202"/>
              </a:cxn>
              <a:cxn ang="0">
                <a:pos x="378" y="0"/>
              </a:cxn>
              <a:cxn ang="0">
                <a:pos x="24" y="0"/>
              </a:cxn>
              <a:cxn ang="0">
                <a:pos x="24" y="0"/>
              </a:cxn>
              <a:cxn ang="0">
                <a:pos x="14" y="2"/>
              </a:cxn>
              <a:cxn ang="0">
                <a:pos x="6" y="8"/>
              </a:cxn>
              <a:cxn ang="0">
                <a:pos x="2" y="16"/>
              </a:cxn>
              <a:cxn ang="0">
                <a:pos x="0" y="26"/>
              </a:cxn>
              <a:cxn ang="0">
                <a:pos x="0" y="44"/>
              </a:cxn>
              <a:cxn ang="0">
                <a:pos x="202" y="152"/>
              </a:cxn>
              <a:cxn ang="0">
                <a:pos x="404" y="44"/>
              </a:cxn>
              <a:cxn ang="0">
                <a:pos x="404" y="26"/>
              </a:cxn>
              <a:cxn ang="0">
                <a:pos x="404" y="26"/>
              </a:cxn>
              <a:cxn ang="0">
                <a:pos x="402" y="16"/>
              </a:cxn>
              <a:cxn ang="0">
                <a:pos x="396" y="8"/>
              </a:cxn>
              <a:cxn ang="0">
                <a:pos x="388" y="2"/>
              </a:cxn>
              <a:cxn ang="0">
                <a:pos x="378" y="0"/>
              </a:cxn>
              <a:cxn ang="0">
                <a:pos x="378" y="0"/>
              </a:cxn>
            </a:cxnLst>
            <a:rect l="0" t="0" r="r" b="b"/>
            <a:pathLst>
              <a:path w="404" h="304">
                <a:moveTo>
                  <a:pt x="202" y="202"/>
                </a:moveTo>
                <a:lnTo>
                  <a:pt x="202" y="202"/>
                </a:lnTo>
                <a:lnTo>
                  <a:pt x="190" y="200"/>
                </a:lnTo>
                <a:lnTo>
                  <a:pt x="176" y="194"/>
                </a:lnTo>
                <a:lnTo>
                  <a:pt x="0" y="102"/>
                </a:lnTo>
                <a:lnTo>
                  <a:pt x="0" y="278"/>
                </a:lnTo>
                <a:lnTo>
                  <a:pt x="0" y="278"/>
                </a:lnTo>
                <a:lnTo>
                  <a:pt x="2" y="288"/>
                </a:lnTo>
                <a:lnTo>
                  <a:pt x="6" y="296"/>
                </a:lnTo>
                <a:lnTo>
                  <a:pt x="14" y="302"/>
                </a:lnTo>
                <a:lnTo>
                  <a:pt x="24" y="304"/>
                </a:lnTo>
                <a:lnTo>
                  <a:pt x="378" y="304"/>
                </a:lnTo>
                <a:lnTo>
                  <a:pt x="378" y="304"/>
                </a:lnTo>
                <a:lnTo>
                  <a:pt x="388" y="302"/>
                </a:lnTo>
                <a:lnTo>
                  <a:pt x="396" y="296"/>
                </a:lnTo>
                <a:lnTo>
                  <a:pt x="402" y="288"/>
                </a:lnTo>
                <a:lnTo>
                  <a:pt x="404" y="278"/>
                </a:lnTo>
                <a:lnTo>
                  <a:pt x="404" y="102"/>
                </a:lnTo>
                <a:lnTo>
                  <a:pt x="226" y="194"/>
                </a:lnTo>
                <a:lnTo>
                  <a:pt x="226" y="194"/>
                </a:lnTo>
                <a:lnTo>
                  <a:pt x="212" y="200"/>
                </a:lnTo>
                <a:lnTo>
                  <a:pt x="202" y="202"/>
                </a:lnTo>
                <a:lnTo>
                  <a:pt x="202" y="202"/>
                </a:lnTo>
                <a:close/>
                <a:moveTo>
                  <a:pt x="378" y="0"/>
                </a:moveTo>
                <a:lnTo>
                  <a:pt x="24" y="0"/>
                </a:lnTo>
                <a:lnTo>
                  <a:pt x="24" y="0"/>
                </a:lnTo>
                <a:lnTo>
                  <a:pt x="14" y="2"/>
                </a:lnTo>
                <a:lnTo>
                  <a:pt x="6" y="8"/>
                </a:lnTo>
                <a:lnTo>
                  <a:pt x="2" y="16"/>
                </a:lnTo>
                <a:lnTo>
                  <a:pt x="0" y="26"/>
                </a:lnTo>
                <a:lnTo>
                  <a:pt x="0" y="44"/>
                </a:lnTo>
                <a:lnTo>
                  <a:pt x="202" y="152"/>
                </a:lnTo>
                <a:lnTo>
                  <a:pt x="404" y="44"/>
                </a:lnTo>
                <a:lnTo>
                  <a:pt x="404" y="26"/>
                </a:lnTo>
                <a:lnTo>
                  <a:pt x="404" y="26"/>
                </a:lnTo>
                <a:lnTo>
                  <a:pt x="402" y="16"/>
                </a:lnTo>
                <a:lnTo>
                  <a:pt x="396" y="8"/>
                </a:lnTo>
                <a:lnTo>
                  <a:pt x="388" y="2"/>
                </a:lnTo>
                <a:lnTo>
                  <a:pt x="378" y="0"/>
                </a:lnTo>
                <a:lnTo>
                  <a:pt x="378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210">
            <a:extLst>
              <a:ext uri="{FF2B5EF4-FFF2-40B4-BE49-F238E27FC236}">
                <a16:creationId xmlns:a16="http://schemas.microsoft.com/office/drawing/2014/main" id="{1534AABC-92C9-4F7D-97A6-942CB48A1FED}"/>
              </a:ext>
            </a:extLst>
          </p:cNvPr>
          <p:cNvSpPr>
            <a:spLocks noEditPoints="1"/>
          </p:cNvSpPr>
          <p:nvPr/>
        </p:nvSpPr>
        <p:spPr bwMode="auto">
          <a:xfrm>
            <a:off x="540987" y="4640662"/>
            <a:ext cx="708701" cy="533280"/>
          </a:xfrm>
          <a:custGeom>
            <a:avLst/>
            <a:gdLst/>
            <a:ahLst/>
            <a:cxnLst>
              <a:cxn ang="0">
                <a:pos x="202" y="202"/>
              </a:cxn>
              <a:cxn ang="0">
                <a:pos x="202" y="202"/>
              </a:cxn>
              <a:cxn ang="0">
                <a:pos x="190" y="200"/>
              </a:cxn>
              <a:cxn ang="0">
                <a:pos x="176" y="194"/>
              </a:cxn>
              <a:cxn ang="0">
                <a:pos x="0" y="102"/>
              </a:cxn>
              <a:cxn ang="0">
                <a:pos x="0" y="278"/>
              </a:cxn>
              <a:cxn ang="0">
                <a:pos x="0" y="278"/>
              </a:cxn>
              <a:cxn ang="0">
                <a:pos x="2" y="288"/>
              </a:cxn>
              <a:cxn ang="0">
                <a:pos x="6" y="296"/>
              </a:cxn>
              <a:cxn ang="0">
                <a:pos x="14" y="302"/>
              </a:cxn>
              <a:cxn ang="0">
                <a:pos x="24" y="304"/>
              </a:cxn>
              <a:cxn ang="0">
                <a:pos x="378" y="304"/>
              </a:cxn>
              <a:cxn ang="0">
                <a:pos x="378" y="304"/>
              </a:cxn>
              <a:cxn ang="0">
                <a:pos x="388" y="302"/>
              </a:cxn>
              <a:cxn ang="0">
                <a:pos x="396" y="296"/>
              </a:cxn>
              <a:cxn ang="0">
                <a:pos x="402" y="288"/>
              </a:cxn>
              <a:cxn ang="0">
                <a:pos x="404" y="278"/>
              </a:cxn>
              <a:cxn ang="0">
                <a:pos x="404" y="102"/>
              </a:cxn>
              <a:cxn ang="0">
                <a:pos x="226" y="194"/>
              </a:cxn>
              <a:cxn ang="0">
                <a:pos x="226" y="194"/>
              </a:cxn>
              <a:cxn ang="0">
                <a:pos x="212" y="200"/>
              </a:cxn>
              <a:cxn ang="0">
                <a:pos x="202" y="202"/>
              </a:cxn>
              <a:cxn ang="0">
                <a:pos x="202" y="202"/>
              </a:cxn>
              <a:cxn ang="0">
                <a:pos x="378" y="0"/>
              </a:cxn>
              <a:cxn ang="0">
                <a:pos x="24" y="0"/>
              </a:cxn>
              <a:cxn ang="0">
                <a:pos x="24" y="0"/>
              </a:cxn>
              <a:cxn ang="0">
                <a:pos x="14" y="2"/>
              </a:cxn>
              <a:cxn ang="0">
                <a:pos x="6" y="8"/>
              </a:cxn>
              <a:cxn ang="0">
                <a:pos x="2" y="16"/>
              </a:cxn>
              <a:cxn ang="0">
                <a:pos x="0" y="26"/>
              </a:cxn>
              <a:cxn ang="0">
                <a:pos x="0" y="44"/>
              </a:cxn>
              <a:cxn ang="0">
                <a:pos x="202" y="152"/>
              </a:cxn>
              <a:cxn ang="0">
                <a:pos x="404" y="44"/>
              </a:cxn>
              <a:cxn ang="0">
                <a:pos x="404" y="26"/>
              </a:cxn>
              <a:cxn ang="0">
                <a:pos x="404" y="26"/>
              </a:cxn>
              <a:cxn ang="0">
                <a:pos x="402" y="16"/>
              </a:cxn>
              <a:cxn ang="0">
                <a:pos x="396" y="8"/>
              </a:cxn>
              <a:cxn ang="0">
                <a:pos x="388" y="2"/>
              </a:cxn>
              <a:cxn ang="0">
                <a:pos x="378" y="0"/>
              </a:cxn>
              <a:cxn ang="0">
                <a:pos x="378" y="0"/>
              </a:cxn>
            </a:cxnLst>
            <a:rect l="0" t="0" r="r" b="b"/>
            <a:pathLst>
              <a:path w="404" h="304">
                <a:moveTo>
                  <a:pt x="202" y="202"/>
                </a:moveTo>
                <a:lnTo>
                  <a:pt x="202" y="202"/>
                </a:lnTo>
                <a:lnTo>
                  <a:pt x="190" y="200"/>
                </a:lnTo>
                <a:lnTo>
                  <a:pt x="176" y="194"/>
                </a:lnTo>
                <a:lnTo>
                  <a:pt x="0" y="102"/>
                </a:lnTo>
                <a:lnTo>
                  <a:pt x="0" y="278"/>
                </a:lnTo>
                <a:lnTo>
                  <a:pt x="0" y="278"/>
                </a:lnTo>
                <a:lnTo>
                  <a:pt x="2" y="288"/>
                </a:lnTo>
                <a:lnTo>
                  <a:pt x="6" y="296"/>
                </a:lnTo>
                <a:lnTo>
                  <a:pt x="14" y="302"/>
                </a:lnTo>
                <a:lnTo>
                  <a:pt x="24" y="304"/>
                </a:lnTo>
                <a:lnTo>
                  <a:pt x="378" y="304"/>
                </a:lnTo>
                <a:lnTo>
                  <a:pt x="378" y="304"/>
                </a:lnTo>
                <a:lnTo>
                  <a:pt x="388" y="302"/>
                </a:lnTo>
                <a:lnTo>
                  <a:pt x="396" y="296"/>
                </a:lnTo>
                <a:lnTo>
                  <a:pt x="402" y="288"/>
                </a:lnTo>
                <a:lnTo>
                  <a:pt x="404" y="278"/>
                </a:lnTo>
                <a:lnTo>
                  <a:pt x="404" y="102"/>
                </a:lnTo>
                <a:lnTo>
                  <a:pt x="226" y="194"/>
                </a:lnTo>
                <a:lnTo>
                  <a:pt x="226" y="194"/>
                </a:lnTo>
                <a:lnTo>
                  <a:pt x="212" y="200"/>
                </a:lnTo>
                <a:lnTo>
                  <a:pt x="202" y="202"/>
                </a:lnTo>
                <a:lnTo>
                  <a:pt x="202" y="202"/>
                </a:lnTo>
                <a:close/>
                <a:moveTo>
                  <a:pt x="378" y="0"/>
                </a:moveTo>
                <a:lnTo>
                  <a:pt x="24" y="0"/>
                </a:lnTo>
                <a:lnTo>
                  <a:pt x="24" y="0"/>
                </a:lnTo>
                <a:lnTo>
                  <a:pt x="14" y="2"/>
                </a:lnTo>
                <a:lnTo>
                  <a:pt x="6" y="8"/>
                </a:lnTo>
                <a:lnTo>
                  <a:pt x="2" y="16"/>
                </a:lnTo>
                <a:lnTo>
                  <a:pt x="0" y="26"/>
                </a:lnTo>
                <a:lnTo>
                  <a:pt x="0" y="44"/>
                </a:lnTo>
                <a:lnTo>
                  <a:pt x="202" y="152"/>
                </a:lnTo>
                <a:lnTo>
                  <a:pt x="404" y="44"/>
                </a:lnTo>
                <a:lnTo>
                  <a:pt x="404" y="26"/>
                </a:lnTo>
                <a:lnTo>
                  <a:pt x="404" y="26"/>
                </a:lnTo>
                <a:lnTo>
                  <a:pt x="402" y="16"/>
                </a:lnTo>
                <a:lnTo>
                  <a:pt x="396" y="8"/>
                </a:lnTo>
                <a:lnTo>
                  <a:pt x="388" y="2"/>
                </a:lnTo>
                <a:lnTo>
                  <a:pt x="378" y="0"/>
                </a:lnTo>
                <a:lnTo>
                  <a:pt x="378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93822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92361" y="2262929"/>
            <a:ext cx="6312052" cy="125262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6" name="矩形 39"/>
          <p:cNvSpPr/>
          <p:nvPr/>
        </p:nvSpPr>
        <p:spPr>
          <a:xfrm>
            <a:off x="337349" y="187249"/>
            <a:ext cx="4532775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TUJUAN PENELITIAN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 flipV="1">
            <a:off x="386842" y="793133"/>
            <a:ext cx="4588462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 16"/>
          <p:cNvSpPr/>
          <p:nvPr/>
        </p:nvSpPr>
        <p:spPr>
          <a:xfrm rot="4450783">
            <a:off x="142652" y="2016346"/>
            <a:ext cx="1540804" cy="1683659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13721046" flipH="1">
            <a:off x="10571283" y="2251529"/>
            <a:ext cx="1540804" cy="1683659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1406698" y="355145"/>
            <a:ext cx="476838" cy="371192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Ostrich Sans Black" panose="00000A00000000000000" pitchFamily="50" charset="0"/>
                <a:cs typeface="BrowalliaUPC" panose="020B0604020202020204" pitchFamily="34" charset="-34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</a:rPr>
              <a:t>25</a:t>
            </a:r>
            <a:endParaRPr lang="zh-CN" altLang="en-US" sz="1200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67499" y="2249225"/>
            <a:ext cx="6336914" cy="120032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pendukung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keputusan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dapat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menentukan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karyawan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terbaik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schemeClr val="bg1"/>
              </a:solidFill>
              <a:latin typeface="HelveticaNeueLT Pro 67 MdCn" panose="020B0606030502030204"/>
              <a:ea typeface="微软雅黑" panose="020B0503020204020204" pitchFamily="34" charset="-122"/>
              <a:sym typeface="News Gothic MT" charset="0"/>
            </a:endParaRPr>
          </a:p>
        </p:txBody>
      </p:sp>
      <p:sp>
        <p:nvSpPr>
          <p:cNvPr id="45" name="Freeform 232"/>
          <p:cNvSpPr>
            <a:spLocks/>
          </p:cNvSpPr>
          <p:nvPr/>
        </p:nvSpPr>
        <p:spPr bwMode="auto">
          <a:xfrm>
            <a:off x="10986217" y="2726296"/>
            <a:ext cx="815975" cy="520700"/>
          </a:xfrm>
          <a:custGeom>
            <a:avLst/>
            <a:gdLst/>
            <a:ahLst/>
            <a:cxnLst>
              <a:cxn ang="0">
                <a:pos x="256" y="0"/>
              </a:cxn>
              <a:cxn ang="0">
                <a:pos x="0" y="142"/>
              </a:cxn>
              <a:cxn ang="0">
                <a:pos x="256" y="282"/>
              </a:cxn>
              <a:cxn ang="0">
                <a:pos x="468" y="166"/>
              </a:cxn>
              <a:cxn ang="0">
                <a:pos x="468" y="328"/>
              </a:cxn>
              <a:cxn ang="0">
                <a:pos x="514" y="328"/>
              </a:cxn>
              <a:cxn ang="0">
                <a:pos x="514" y="142"/>
              </a:cxn>
              <a:cxn ang="0">
                <a:pos x="256" y="0"/>
              </a:cxn>
            </a:cxnLst>
            <a:rect l="0" t="0" r="r" b="b"/>
            <a:pathLst>
              <a:path w="514" h="328">
                <a:moveTo>
                  <a:pt x="256" y="0"/>
                </a:moveTo>
                <a:lnTo>
                  <a:pt x="0" y="142"/>
                </a:lnTo>
                <a:lnTo>
                  <a:pt x="256" y="282"/>
                </a:lnTo>
                <a:lnTo>
                  <a:pt x="468" y="166"/>
                </a:lnTo>
                <a:lnTo>
                  <a:pt x="468" y="328"/>
                </a:lnTo>
                <a:lnTo>
                  <a:pt x="514" y="328"/>
                </a:lnTo>
                <a:lnTo>
                  <a:pt x="514" y="142"/>
                </a:lnTo>
                <a:lnTo>
                  <a:pt x="256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233"/>
          <p:cNvSpPr>
            <a:spLocks/>
          </p:cNvSpPr>
          <p:nvPr/>
        </p:nvSpPr>
        <p:spPr bwMode="auto">
          <a:xfrm>
            <a:off x="11135442" y="3091421"/>
            <a:ext cx="517525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04"/>
              </a:cxn>
              <a:cxn ang="0">
                <a:pos x="162" y="192"/>
              </a:cxn>
              <a:cxn ang="0">
                <a:pos x="326" y="104"/>
              </a:cxn>
              <a:cxn ang="0">
                <a:pos x="326" y="0"/>
              </a:cxn>
              <a:cxn ang="0">
                <a:pos x="162" y="98"/>
              </a:cxn>
              <a:cxn ang="0">
                <a:pos x="0" y="0"/>
              </a:cxn>
            </a:cxnLst>
            <a:rect l="0" t="0" r="r" b="b"/>
            <a:pathLst>
              <a:path w="326" h="192">
                <a:moveTo>
                  <a:pt x="0" y="0"/>
                </a:moveTo>
                <a:lnTo>
                  <a:pt x="0" y="104"/>
                </a:lnTo>
                <a:lnTo>
                  <a:pt x="162" y="192"/>
                </a:lnTo>
                <a:lnTo>
                  <a:pt x="326" y="104"/>
                </a:lnTo>
                <a:lnTo>
                  <a:pt x="326" y="0"/>
                </a:lnTo>
                <a:lnTo>
                  <a:pt x="162" y="98"/>
                </a:lnTo>
                <a:lnTo>
                  <a:pt x="0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Freeform 121"/>
          <p:cNvSpPr>
            <a:spLocks/>
          </p:cNvSpPr>
          <p:nvPr/>
        </p:nvSpPr>
        <p:spPr bwMode="auto">
          <a:xfrm>
            <a:off x="8946561" y="3544767"/>
            <a:ext cx="2550680" cy="3251630"/>
          </a:xfrm>
          <a:custGeom>
            <a:avLst/>
            <a:gdLst/>
            <a:ahLst/>
            <a:cxnLst>
              <a:cxn ang="0">
                <a:pos x="170" y="224"/>
              </a:cxn>
              <a:cxn ang="0">
                <a:pos x="170" y="190"/>
              </a:cxn>
              <a:cxn ang="0">
                <a:pos x="174" y="186"/>
              </a:cxn>
              <a:cxn ang="0">
                <a:pos x="184" y="164"/>
              </a:cxn>
              <a:cxn ang="0">
                <a:pos x="188" y="152"/>
              </a:cxn>
              <a:cxn ang="0">
                <a:pos x="196" y="146"/>
              </a:cxn>
              <a:cxn ang="0">
                <a:pos x="202" y="128"/>
              </a:cxn>
              <a:cxn ang="0">
                <a:pos x="202" y="122"/>
              </a:cxn>
              <a:cxn ang="0">
                <a:pos x="196" y="112"/>
              </a:cxn>
              <a:cxn ang="0">
                <a:pos x="202" y="88"/>
              </a:cxn>
              <a:cxn ang="0">
                <a:pos x="204" y="58"/>
              </a:cxn>
              <a:cxn ang="0">
                <a:pos x="198" y="34"/>
              </a:cxn>
              <a:cxn ang="0">
                <a:pos x="190" y="24"/>
              </a:cxn>
              <a:cxn ang="0">
                <a:pos x="176" y="16"/>
              </a:cxn>
              <a:cxn ang="0">
                <a:pos x="166" y="14"/>
              </a:cxn>
              <a:cxn ang="0">
                <a:pos x="152" y="2"/>
              </a:cxn>
              <a:cxn ang="0">
                <a:pos x="130" y="0"/>
              </a:cxn>
              <a:cxn ang="0">
                <a:pos x="118" y="0"/>
              </a:cxn>
              <a:cxn ang="0">
                <a:pos x="96" y="4"/>
              </a:cxn>
              <a:cxn ang="0">
                <a:pos x="80" y="14"/>
              </a:cxn>
              <a:cxn ang="0">
                <a:pos x="70" y="26"/>
              </a:cxn>
              <a:cxn ang="0">
                <a:pos x="60" y="50"/>
              </a:cxn>
              <a:cxn ang="0">
                <a:pos x="62" y="90"/>
              </a:cxn>
              <a:cxn ang="0">
                <a:pos x="66" y="112"/>
              </a:cxn>
              <a:cxn ang="0">
                <a:pos x="60" y="122"/>
              </a:cxn>
              <a:cxn ang="0">
                <a:pos x="60" y="128"/>
              </a:cxn>
              <a:cxn ang="0">
                <a:pos x="66" y="146"/>
              </a:cxn>
              <a:cxn ang="0">
                <a:pos x="74" y="152"/>
              </a:cxn>
              <a:cxn ang="0">
                <a:pos x="76" y="164"/>
              </a:cxn>
              <a:cxn ang="0">
                <a:pos x="88" y="186"/>
              </a:cxn>
              <a:cxn ang="0">
                <a:pos x="92" y="190"/>
              </a:cxn>
              <a:cxn ang="0">
                <a:pos x="92" y="224"/>
              </a:cxn>
              <a:cxn ang="0">
                <a:pos x="86" y="234"/>
              </a:cxn>
              <a:cxn ang="0">
                <a:pos x="66" y="246"/>
              </a:cxn>
              <a:cxn ang="0">
                <a:pos x="26" y="264"/>
              </a:cxn>
              <a:cxn ang="0">
                <a:pos x="0" y="280"/>
              </a:cxn>
              <a:cxn ang="0">
                <a:pos x="12" y="290"/>
              </a:cxn>
              <a:cxn ang="0">
                <a:pos x="42" y="310"/>
              </a:cxn>
              <a:cxn ang="0">
                <a:pos x="78" y="324"/>
              </a:cxn>
              <a:cxn ang="0">
                <a:pos x="116" y="332"/>
              </a:cxn>
              <a:cxn ang="0">
                <a:pos x="136" y="334"/>
              </a:cxn>
              <a:cxn ang="0">
                <a:pos x="176" y="326"/>
              </a:cxn>
              <a:cxn ang="0">
                <a:pos x="214" y="312"/>
              </a:cxn>
              <a:cxn ang="0">
                <a:pos x="246" y="294"/>
              </a:cxn>
              <a:cxn ang="0">
                <a:pos x="262" y="280"/>
              </a:cxn>
              <a:cxn ang="0">
                <a:pos x="236" y="264"/>
              </a:cxn>
              <a:cxn ang="0">
                <a:pos x="196" y="246"/>
              </a:cxn>
              <a:cxn ang="0">
                <a:pos x="176" y="234"/>
              </a:cxn>
              <a:cxn ang="0">
                <a:pos x="170" y="224"/>
              </a:cxn>
            </a:cxnLst>
            <a:rect l="0" t="0" r="r" b="b"/>
            <a:pathLst>
              <a:path w="262" h="334">
                <a:moveTo>
                  <a:pt x="170" y="224"/>
                </a:moveTo>
                <a:lnTo>
                  <a:pt x="170" y="224"/>
                </a:lnTo>
                <a:lnTo>
                  <a:pt x="170" y="206"/>
                </a:lnTo>
                <a:lnTo>
                  <a:pt x="170" y="190"/>
                </a:lnTo>
                <a:lnTo>
                  <a:pt x="170" y="190"/>
                </a:lnTo>
                <a:lnTo>
                  <a:pt x="174" y="186"/>
                </a:lnTo>
                <a:lnTo>
                  <a:pt x="180" y="176"/>
                </a:lnTo>
                <a:lnTo>
                  <a:pt x="184" y="164"/>
                </a:lnTo>
                <a:lnTo>
                  <a:pt x="188" y="152"/>
                </a:lnTo>
                <a:lnTo>
                  <a:pt x="188" y="152"/>
                </a:lnTo>
                <a:lnTo>
                  <a:pt x="192" y="150"/>
                </a:lnTo>
                <a:lnTo>
                  <a:pt x="196" y="146"/>
                </a:lnTo>
                <a:lnTo>
                  <a:pt x="200" y="140"/>
                </a:lnTo>
                <a:lnTo>
                  <a:pt x="202" y="128"/>
                </a:lnTo>
                <a:lnTo>
                  <a:pt x="202" y="128"/>
                </a:lnTo>
                <a:lnTo>
                  <a:pt x="202" y="122"/>
                </a:lnTo>
                <a:lnTo>
                  <a:pt x="200" y="118"/>
                </a:lnTo>
                <a:lnTo>
                  <a:pt x="196" y="112"/>
                </a:lnTo>
                <a:lnTo>
                  <a:pt x="196" y="112"/>
                </a:lnTo>
                <a:lnTo>
                  <a:pt x="202" y="88"/>
                </a:lnTo>
                <a:lnTo>
                  <a:pt x="204" y="74"/>
                </a:lnTo>
                <a:lnTo>
                  <a:pt x="204" y="58"/>
                </a:lnTo>
                <a:lnTo>
                  <a:pt x="200" y="42"/>
                </a:lnTo>
                <a:lnTo>
                  <a:pt x="198" y="34"/>
                </a:lnTo>
                <a:lnTo>
                  <a:pt x="194" y="28"/>
                </a:lnTo>
                <a:lnTo>
                  <a:pt x="190" y="24"/>
                </a:lnTo>
                <a:lnTo>
                  <a:pt x="184" y="18"/>
                </a:lnTo>
                <a:lnTo>
                  <a:pt x="176" y="16"/>
                </a:lnTo>
                <a:lnTo>
                  <a:pt x="166" y="14"/>
                </a:lnTo>
                <a:lnTo>
                  <a:pt x="166" y="14"/>
                </a:lnTo>
                <a:lnTo>
                  <a:pt x="162" y="8"/>
                </a:lnTo>
                <a:lnTo>
                  <a:pt x="152" y="2"/>
                </a:lnTo>
                <a:lnTo>
                  <a:pt x="142" y="0"/>
                </a:lnTo>
                <a:lnTo>
                  <a:pt x="130" y="0"/>
                </a:lnTo>
                <a:lnTo>
                  <a:pt x="130" y="0"/>
                </a:lnTo>
                <a:lnTo>
                  <a:pt x="118" y="0"/>
                </a:lnTo>
                <a:lnTo>
                  <a:pt x="106" y="2"/>
                </a:lnTo>
                <a:lnTo>
                  <a:pt x="96" y="4"/>
                </a:lnTo>
                <a:lnTo>
                  <a:pt x="88" y="8"/>
                </a:lnTo>
                <a:lnTo>
                  <a:pt x="80" y="14"/>
                </a:lnTo>
                <a:lnTo>
                  <a:pt x="74" y="20"/>
                </a:lnTo>
                <a:lnTo>
                  <a:pt x="70" y="26"/>
                </a:lnTo>
                <a:lnTo>
                  <a:pt x="66" y="34"/>
                </a:lnTo>
                <a:lnTo>
                  <a:pt x="60" y="50"/>
                </a:lnTo>
                <a:lnTo>
                  <a:pt x="60" y="70"/>
                </a:lnTo>
                <a:lnTo>
                  <a:pt x="62" y="90"/>
                </a:lnTo>
                <a:lnTo>
                  <a:pt x="66" y="112"/>
                </a:lnTo>
                <a:lnTo>
                  <a:pt x="66" y="112"/>
                </a:lnTo>
                <a:lnTo>
                  <a:pt x="62" y="118"/>
                </a:lnTo>
                <a:lnTo>
                  <a:pt x="60" y="122"/>
                </a:lnTo>
                <a:lnTo>
                  <a:pt x="60" y="128"/>
                </a:lnTo>
                <a:lnTo>
                  <a:pt x="60" y="128"/>
                </a:lnTo>
                <a:lnTo>
                  <a:pt x="62" y="140"/>
                </a:lnTo>
                <a:lnTo>
                  <a:pt x="66" y="146"/>
                </a:lnTo>
                <a:lnTo>
                  <a:pt x="70" y="150"/>
                </a:lnTo>
                <a:lnTo>
                  <a:pt x="74" y="152"/>
                </a:lnTo>
                <a:lnTo>
                  <a:pt x="74" y="152"/>
                </a:lnTo>
                <a:lnTo>
                  <a:pt x="76" y="164"/>
                </a:lnTo>
                <a:lnTo>
                  <a:pt x="82" y="176"/>
                </a:lnTo>
                <a:lnTo>
                  <a:pt x="88" y="186"/>
                </a:lnTo>
                <a:lnTo>
                  <a:pt x="92" y="190"/>
                </a:lnTo>
                <a:lnTo>
                  <a:pt x="92" y="190"/>
                </a:lnTo>
                <a:lnTo>
                  <a:pt x="92" y="206"/>
                </a:lnTo>
                <a:lnTo>
                  <a:pt x="92" y="224"/>
                </a:lnTo>
                <a:lnTo>
                  <a:pt x="92" y="224"/>
                </a:lnTo>
                <a:lnTo>
                  <a:pt x="86" y="234"/>
                </a:lnTo>
                <a:lnTo>
                  <a:pt x="78" y="240"/>
                </a:lnTo>
                <a:lnTo>
                  <a:pt x="66" y="246"/>
                </a:lnTo>
                <a:lnTo>
                  <a:pt x="54" y="252"/>
                </a:lnTo>
                <a:lnTo>
                  <a:pt x="26" y="264"/>
                </a:lnTo>
                <a:lnTo>
                  <a:pt x="12" y="270"/>
                </a:lnTo>
                <a:lnTo>
                  <a:pt x="0" y="280"/>
                </a:lnTo>
                <a:lnTo>
                  <a:pt x="0" y="280"/>
                </a:lnTo>
                <a:lnTo>
                  <a:pt x="12" y="290"/>
                </a:lnTo>
                <a:lnTo>
                  <a:pt x="26" y="302"/>
                </a:lnTo>
                <a:lnTo>
                  <a:pt x="42" y="310"/>
                </a:lnTo>
                <a:lnTo>
                  <a:pt x="60" y="318"/>
                </a:lnTo>
                <a:lnTo>
                  <a:pt x="78" y="324"/>
                </a:lnTo>
                <a:lnTo>
                  <a:pt x="96" y="330"/>
                </a:lnTo>
                <a:lnTo>
                  <a:pt x="116" y="332"/>
                </a:lnTo>
                <a:lnTo>
                  <a:pt x="136" y="334"/>
                </a:lnTo>
                <a:lnTo>
                  <a:pt x="136" y="334"/>
                </a:lnTo>
                <a:lnTo>
                  <a:pt x="156" y="332"/>
                </a:lnTo>
                <a:lnTo>
                  <a:pt x="176" y="326"/>
                </a:lnTo>
                <a:lnTo>
                  <a:pt x="196" y="320"/>
                </a:lnTo>
                <a:lnTo>
                  <a:pt x="214" y="312"/>
                </a:lnTo>
                <a:lnTo>
                  <a:pt x="232" y="302"/>
                </a:lnTo>
                <a:lnTo>
                  <a:pt x="246" y="294"/>
                </a:lnTo>
                <a:lnTo>
                  <a:pt x="262" y="280"/>
                </a:lnTo>
                <a:lnTo>
                  <a:pt x="262" y="280"/>
                </a:lnTo>
                <a:lnTo>
                  <a:pt x="250" y="272"/>
                </a:lnTo>
                <a:lnTo>
                  <a:pt x="236" y="264"/>
                </a:lnTo>
                <a:lnTo>
                  <a:pt x="208" y="252"/>
                </a:lnTo>
                <a:lnTo>
                  <a:pt x="196" y="246"/>
                </a:lnTo>
                <a:lnTo>
                  <a:pt x="184" y="240"/>
                </a:lnTo>
                <a:lnTo>
                  <a:pt x="176" y="234"/>
                </a:lnTo>
                <a:lnTo>
                  <a:pt x="170" y="224"/>
                </a:lnTo>
                <a:lnTo>
                  <a:pt x="170" y="22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grpSp>
        <p:nvGrpSpPr>
          <p:cNvPr id="50" name="组 4"/>
          <p:cNvGrpSpPr/>
          <p:nvPr/>
        </p:nvGrpSpPr>
        <p:grpSpPr>
          <a:xfrm>
            <a:off x="9776968" y="3642741"/>
            <a:ext cx="832660" cy="997921"/>
            <a:chOff x="1536700" y="911225"/>
            <a:chExt cx="831850" cy="996950"/>
          </a:xfrm>
          <a:solidFill>
            <a:schemeClr val="bg1"/>
          </a:solidFill>
        </p:grpSpPr>
        <p:sp>
          <p:nvSpPr>
            <p:cNvPr id="51" name="Freeform 47"/>
            <p:cNvSpPr>
              <a:spLocks/>
            </p:cNvSpPr>
            <p:nvPr/>
          </p:nvSpPr>
          <p:spPr bwMode="auto">
            <a:xfrm>
              <a:off x="1838325" y="1765300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6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2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2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6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2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6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2" name="Freeform 48"/>
            <p:cNvSpPr>
              <a:spLocks/>
            </p:cNvSpPr>
            <p:nvPr/>
          </p:nvSpPr>
          <p:spPr bwMode="auto">
            <a:xfrm>
              <a:off x="1838325" y="1857375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4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0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0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4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0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0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4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3" name="Freeform 49"/>
            <p:cNvSpPr>
              <a:spLocks noEditPoints="1"/>
            </p:cNvSpPr>
            <p:nvPr/>
          </p:nvSpPr>
          <p:spPr bwMode="auto">
            <a:xfrm>
              <a:off x="1714500" y="1143000"/>
              <a:ext cx="476250" cy="581025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142" y="0"/>
                </a:cxn>
                <a:cxn ang="0">
                  <a:pos x="100" y="10"/>
                </a:cxn>
                <a:cxn ang="0">
                  <a:pos x="62" y="28"/>
                </a:cxn>
                <a:cxn ang="0">
                  <a:pos x="32" y="58"/>
                </a:cxn>
                <a:cxn ang="0">
                  <a:pos x="12" y="94"/>
                </a:cxn>
                <a:cxn ang="0">
                  <a:pos x="2" y="136"/>
                </a:cxn>
                <a:cxn ang="0">
                  <a:pos x="2" y="166"/>
                </a:cxn>
                <a:cxn ang="0">
                  <a:pos x="16" y="214"/>
                </a:cxn>
                <a:cxn ang="0">
                  <a:pos x="56" y="266"/>
                </a:cxn>
                <a:cxn ang="0">
                  <a:pos x="72" y="290"/>
                </a:cxn>
                <a:cxn ang="0">
                  <a:pos x="78" y="322"/>
                </a:cxn>
                <a:cxn ang="0">
                  <a:pos x="78" y="340"/>
                </a:cxn>
                <a:cxn ang="0">
                  <a:pos x="96" y="364"/>
                </a:cxn>
                <a:cxn ang="0">
                  <a:pos x="150" y="366"/>
                </a:cxn>
                <a:cxn ang="0">
                  <a:pos x="192" y="366"/>
                </a:cxn>
                <a:cxn ang="0">
                  <a:pos x="214" y="356"/>
                </a:cxn>
                <a:cxn ang="0">
                  <a:pos x="224" y="334"/>
                </a:cxn>
                <a:cxn ang="0">
                  <a:pos x="224" y="304"/>
                </a:cxn>
                <a:cxn ang="0">
                  <a:pos x="236" y="276"/>
                </a:cxn>
                <a:cxn ang="0">
                  <a:pos x="266" y="242"/>
                </a:cxn>
                <a:cxn ang="0">
                  <a:pos x="290" y="198"/>
                </a:cxn>
                <a:cxn ang="0">
                  <a:pos x="300" y="150"/>
                </a:cxn>
                <a:cxn ang="0">
                  <a:pos x="298" y="122"/>
                </a:cxn>
                <a:cxn ang="0">
                  <a:pos x="284" y="82"/>
                </a:cxn>
                <a:cxn ang="0">
                  <a:pos x="260" y="48"/>
                </a:cxn>
                <a:cxn ang="0">
                  <a:pos x="226" y="22"/>
                </a:cxn>
                <a:cxn ang="0">
                  <a:pos x="188" y="6"/>
                </a:cxn>
                <a:cxn ang="0">
                  <a:pos x="158" y="0"/>
                </a:cxn>
                <a:cxn ang="0">
                  <a:pos x="244" y="156"/>
                </a:cxn>
                <a:cxn ang="0">
                  <a:pos x="234" y="146"/>
                </a:cxn>
                <a:cxn ang="0">
                  <a:pos x="232" y="126"/>
                </a:cxn>
                <a:cxn ang="0">
                  <a:pos x="214" y="92"/>
                </a:cxn>
                <a:cxn ang="0">
                  <a:pos x="182" y="72"/>
                </a:cxn>
                <a:cxn ang="0">
                  <a:pos x="160" y="68"/>
                </a:cxn>
                <a:cxn ang="0">
                  <a:pos x="150" y="50"/>
                </a:cxn>
                <a:cxn ang="0">
                  <a:pos x="156" y="38"/>
                </a:cxn>
                <a:cxn ang="0">
                  <a:pos x="170" y="32"/>
                </a:cxn>
                <a:cxn ang="0">
                  <a:pos x="226" y="52"/>
                </a:cxn>
                <a:cxn ang="0">
                  <a:pos x="262" y="98"/>
                </a:cxn>
                <a:cxn ang="0">
                  <a:pos x="270" y="138"/>
                </a:cxn>
                <a:cxn ang="0">
                  <a:pos x="266" y="152"/>
                </a:cxn>
                <a:cxn ang="0">
                  <a:pos x="252" y="158"/>
                </a:cxn>
              </a:cxnLst>
              <a:rect l="0" t="0" r="r" b="b"/>
              <a:pathLst>
                <a:path w="300" h="366">
                  <a:moveTo>
                    <a:pt x="158" y="0"/>
                  </a:moveTo>
                  <a:lnTo>
                    <a:pt x="158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2"/>
                  </a:lnTo>
                  <a:lnTo>
                    <a:pt x="114" y="6"/>
                  </a:lnTo>
                  <a:lnTo>
                    <a:pt x="100" y="10"/>
                  </a:lnTo>
                  <a:lnTo>
                    <a:pt x="88" y="14"/>
                  </a:lnTo>
                  <a:lnTo>
                    <a:pt x="74" y="22"/>
                  </a:lnTo>
                  <a:lnTo>
                    <a:pt x="62" y="28"/>
                  </a:lnTo>
                  <a:lnTo>
                    <a:pt x="52" y="38"/>
                  </a:lnTo>
                  <a:lnTo>
                    <a:pt x="42" y="48"/>
                  </a:lnTo>
                  <a:lnTo>
                    <a:pt x="32" y="58"/>
                  </a:lnTo>
                  <a:lnTo>
                    <a:pt x="24" y="68"/>
                  </a:lnTo>
                  <a:lnTo>
                    <a:pt x="18" y="82"/>
                  </a:lnTo>
                  <a:lnTo>
                    <a:pt x="12" y="94"/>
                  </a:lnTo>
                  <a:lnTo>
                    <a:pt x="6" y="108"/>
                  </a:lnTo>
                  <a:lnTo>
                    <a:pt x="4" y="122"/>
                  </a:lnTo>
                  <a:lnTo>
                    <a:pt x="2" y="136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2" y="166"/>
                  </a:lnTo>
                  <a:lnTo>
                    <a:pt x="4" y="182"/>
                  </a:lnTo>
                  <a:lnTo>
                    <a:pt x="10" y="198"/>
                  </a:lnTo>
                  <a:lnTo>
                    <a:pt x="16" y="214"/>
                  </a:lnTo>
                  <a:lnTo>
                    <a:pt x="26" y="228"/>
                  </a:lnTo>
                  <a:lnTo>
                    <a:pt x="34" y="242"/>
                  </a:lnTo>
                  <a:lnTo>
                    <a:pt x="56" y="266"/>
                  </a:lnTo>
                  <a:lnTo>
                    <a:pt x="56" y="266"/>
                  </a:lnTo>
                  <a:lnTo>
                    <a:pt x="66" y="276"/>
                  </a:lnTo>
                  <a:lnTo>
                    <a:pt x="72" y="290"/>
                  </a:lnTo>
                  <a:lnTo>
                    <a:pt x="72" y="290"/>
                  </a:lnTo>
                  <a:lnTo>
                    <a:pt x="76" y="304"/>
                  </a:lnTo>
                  <a:lnTo>
                    <a:pt x="78" y="322"/>
                  </a:lnTo>
                  <a:lnTo>
                    <a:pt x="78" y="334"/>
                  </a:lnTo>
                  <a:lnTo>
                    <a:pt x="78" y="334"/>
                  </a:lnTo>
                  <a:lnTo>
                    <a:pt x="78" y="340"/>
                  </a:lnTo>
                  <a:lnTo>
                    <a:pt x="80" y="346"/>
                  </a:lnTo>
                  <a:lnTo>
                    <a:pt x="86" y="356"/>
                  </a:lnTo>
                  <a:lnTo>
                    <a:pt x="96" y="364"/>
                  </a:lnTo>
                  <a:lnTo>
                    <a:pt x="102" y="366"/>
                  </a:lnTo>
                  <a:lnTo>
                    <a:pt x="110" y="366"/>
                  </a:lnTo>
                  <a:lnTo>
                    <a:pt x="150" y="366"/>
                  </a:lnTo>
                  <a:lnTo>
                    <a:pt x="150" y="366"/>
                  </a:lnTo>
                  <a:lnTo>
                    <a:pt x="192" y="366"/>
                  </a:lnTo>
                  <a:lnTo>
                    <a:pt x="192" y="366"/>
                  </a:lnTo>
                  <a:lnTo>
                    <a:pt x="198" y="366"/>
                  </a:lnTo>
                  <a:lnTo>
                    <a:pt x="204" y="364"/>
                  </a:lnTo>
                  <a:lnTo>
                    <a:pt x="214" y="356"/>
                  </a:lnTo>
                  <a:lnTo>
                    <a:pt x="220" y="346"/>
                  </a:lnTo>
                  <a:lnTo>
                    <a:pt x="222" y="340"/>
                  </a:lnTo>
                  <a:lnTo>
                    <a:pt x="224" y="334"/>
                  </a:lnTo>
                  <a:lnTo>
                    <a:pt x="224" y="322"/>
                  </a:lnTo>
                  <a:lnTo>
                    <a:pt x="224" y="322"/>
                  </a:lnTo>
                  <a:lnTo>
                    <a:pt x="224" y="304"/>
                  </a:lnTo>
                  <a:lnTo>
                    <a:pt x="228" y="290"/>
                  </a:lnTo>
                  <a:lnTo>
                    <a:pt x="228" y="290"/>
                  </a:lnTo>
                  <a:lnTo>
                    <a:pt x="236" y="276"/>
                  </a:lnTo>
                  <a:lnTo>
                    <a:pt x="244" y="266"/>
                  </a:lnTo>
                  <a:lnTo>
                    <a:pt x="244" y="266"/>
                  </a:lnTo>
                  <a:lnTo>
                    <a:pt x="266" y="242"/>
                  </a:lnTo>
                  <a:lnTo>
                    <a:pt x="276" y="228"/>
                  </a:lnTo>
                  <a:lnTo>
                    <a:pt x="284" y="214"/>
                  </a:lnTo>
                  <a:lnTo>
                    <a:pt x="290" y="198"/>
                  </a:lnTo>
                  <a:lnTo>
                    <a:pt x="296" y="182"/>
                  </a:lnTo>
                  <a:lnTo>
                    <a:pt x="298" y="166"/>
                  </a:lnTo>
                  <a:lnTo>
                    <a:pt x="300" y="150"/>
                  </a:lnTo>
                  <a:lnTo>
                    <a:pt x="300" y="150"/>
                  </a:lnTo>
                  <a:lnTo>
                    <a:pt x="300" y="136"/>
                  </a:lnTo>
                  <a:lnTo>
                    <a:pt x="298" y="122"/>
                  </a:lnTo>
                  <a:lnTo>
                    <a:pt x="294" y="108"/>
                  </a:lnTo>
                  <a:lnTo>
                    <a:pt x="290" y="94"/>
                  </a:lnTo>
                  <a:lnTo>
                    <a:pt x="284" y="82"/>
                  </a:lnTo>
                  <a:lnTo>
                    <a:pt x="276" y="70"/>
                  </a:lnTo>
                  <a:lnTo>
                    <a:pt x="268" y="58"/>
                  </a:lnTo>
                  <a:lnTo>
                    <a:pt x="260" y="48"/>
                  </a:lnTo>
                  <a:lnTo>
                    <a:pt x="250" y="38"/>
                  </a:lnTo>
                  <a:lnTo>
                    <a:pt x="238" y="30"/>
                  </a:lnTo>
                  <a:lnTo>
                    <a:pt x="226" y="22"/>
                  </a:lnTo>
                  <a:lnTo>
                    <a:pt x="214" y="14"/>
                  </a:lnTo>
                  <a:lnTo>
                    <a:pt x="202" y="10"/>
                  </a:lnTo>
                  <a:lnTo>
                    <a:pt x="188" y="6"/>
                  </a:lnTo>
                  <a:lnTo>
                    <a:pt x="174" y="2"/>
                  </a:lnTo>
                  <a:lnTo>
                    <a:pt x="158" y="0"/>
                  </a:lnTo>
                  <a:lnTo>
                    <a:pt x="158" y="0"/>
                  </a:lnTo>
                  <a:close/>
                  <a:moveTo>
                    <a:pt x="252" y="158"/>
                  </a:moveTo>
                  <a:lnTo>
                    <a:pt x="252" y="158"/>
                  </a:lnTo>
                  <a:lnTo>
                    <a:pt x="244" y="156"/>
                  </a:lnTo>
                  <a:lnTo>
                    <a:pt x="238" y="152"/>
                  </a:lnTo>
                  <a:lnTo>
                    <a:pt x="238" y="152"/>
                  </a:lnTo>
                  <a:lnTo>
                    <a:pt x="234" y="146"/>
                  </a:lnTo>
                  <a:lnTo>
                    <a:pt x="232" y="138"/>
                  </a:lnTo>
                  <a:lnTo>
                    <a:pt x="232" y="138"/>
                  </a:lnTo>
                  <a:lnTo>
                    <a:pt x="232" y="126"/>
                  </a:lnTo>
                  <a:lnTo>
                    <a:pt x="228" y="112"/>
                  </a:lnTo>
                  <a:lnTo>
                    <a:pt x="222" y="102"/>
                  </a:lnTo>
                  <a:lnTo>
                    <a:pt x="214" y="92"/>
                  </a:lnTo>
                  <a:lnTo>
                    <a:pt x="204" y="84"/>
                  </a:lnTo>
                  <a:lnTo>
                    <a:pt x="194" y="76"/>
                  </a:lnTo>
                  <a:lnTo>
                    <a:pt x="182" y="72"/>
                  </a:lnTo>
                  <a:lnTo>
                    <a:pt x="168" y="70"/>
                  </a:lnTo>
                  <a:lnTo>
                    <a:pt x="168" y="70"/>
                  </a:lnTo>
                  <a:lnTo>
                    <a:pt x="160" y="68"/>
                  </a:lnTo>
                  <a:lnTo>
                    <a:pt x="154" y="64"/>
                  </a:lnTo>
                  <a:lnTo>
                    <a:pt x="150" y="58"/>
                  </a:lnTo>
                  <a:lnTo>
                    <a:pt x="150" y="50"/>
                  </a:lnTo>
                  <a:lnTo>
                    <a:pt x="150" y="50"/>
                  </a:lnTo>
                  <a:lnTo>
                    <a:pt x="152" y="42"/>
                  </a:lnTo>
                  <a:lnTo>
                    <a:pt x="156" y="38"/>
                  </a:lnTo>
                  <a:lnTo>
                    <a:pt x="162" y="34"/>
                  </a:lnTo>
                  <a:lnTo>
                    <a:pt x="170" y="32"/>
                  </a:lnTo>
                  <a:lnTo>
                    <a:pt x="170" y="32"/>
                  </a:lnTo>
                  <a:lnTo>
                    <a:pt x="190" y="36"/>
                  </a:lnTo>
                  <a:lnTo>
                    <a:pt x="210" y="42"/>
                  </a:lnTo>
                  <a:lnTo>
                    <a:pt x="226" y="52"/>
                  </a:lnTo>
                  <a:lnTo>
                    <a:pt x="242" y="66"/>
                  </a:lnTo>
                  <a:lnTo>
                    <a:pt x="254" y="80"/>
                  </a:lnTo>
                  <a:lnTo>
                    <a:pt x="262" y="98"/>
                  </a:lnTo>
                  <a:lnTo>
                    <a:pt x="268" y="118"/>
                  </a:lnTo>
                  <a:lnTo>
                    <a:pt x="270" y="138"/>
                  </a:lnTo>
                  <a:lnTo>
                    <a:pt x="270" y="138"/>
                  </a:lnTo>
                  <a:lnTo>
                    <a:pt x="270" y="146"/>
                  </a:lnTo>
                  <a:lnTo>
                    <a:pt x="266" y="152"/>
                  </a:lnTo>
                  <a:lnTo>
                    <a:pt x="266" y="152"/>
                  </a:lnTo>
                  <a:lnTo>
                    <a:pt x="260" y="156"/>
                  </a:lnTo>
                  <a:lnTo>
                    <a:pt x="252" y="158"/>
                  </a:lnTo>
                  <a:lnTo>
                    <a:pt x="252" y="15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1838325" y="1609725"/>
              <a:ext cx="234950" cy="1143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1838325" y="1765300"/>
              <a:ext cx="234950" cy="508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6" name="Freeform 52"/>
            <p:cNvSpPr>
              <a:spLocks/>
            </p:cNvSpPr>
            <p:nvPr/>
          </p:nvSpPr>
          <p:spPr bwMode="auto">
            <a:xfrm>
              <a:off x="1927225" y="911225"/>
              <a:ext cx="53975" cy="180975"/>
            </a:xfrm>
            <a:custGeom>
              <a:avLst/>
              <a:gdLst/>
              <a:ahLst/>
              <a:cxnLst>
                <a:cxn ang="0">
                  <a:pos x="34" y="112"/>
                </a:cxn>
                <a:cxn ang="0">
                  <a:pos x="4" y="114"/>
                </a:cxn>
                <a:cxn ang="0">
                  <a:pos x="0" y="0"/>
                </a:cxn>
                <a:cxn ang="0">
                  <a:pos x="28" y="0"/>
                </a:cxn>
                <a:cxn ang="0">
                  <a:pos x="34" y="112"/>
                </a:cxn>
              </a:cxnLst>
              <a:rect l="0" t="0" r="r" b="b"/>
              <a:pathLst>
                <a:path w="34" h="114">
                  <a:moveTo>
                    <a:pt x="34" y="112"/>
                  </a:moveTo>
                  <a:lnTo>
                    <a:pt x="4" y="114"/>
                  </a:lnTo>
                  <a:lnTo>
                    <a:pt x="0" y="0"/>
                  </a:lnTo>
                  <a:lnTo>
                    <a:pt x="28" y="0"/>
                  </a:lnTo>
                  <a:lnTo>
                    <a:pt x="34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7" name="Freeform 53"/>
            <p:cNvSpPr>
              <a:spLocks/>
            </p:cNvSpPr>
            <p:nvPr/>
          </p:nvSpPr>
          <p:spPr bwMode="auto">
            <a:xfrm>
              <a:off x="1698625" y="962025"/>
              <a:ext cx="130175" cy="177800"/>
            </a:xfrm>
            <a:custGeom>
              <a:avLst/>
              <a:gdLst/>
              <a:ahLst/>
              <a:cxnLst>
                <a:cxn ang="0">
                  <a:pos x="58" y="112"/>
                </a:cxn>
                <a:cxn ang="0">
                  <a:pos x="0" y="14"/>
                </a:cxn>
                <a:cxn ang="0">
                  <a:pos x="26" y="0"/>
                </a:cxn>
                <a:cxn ang="0">
                  <a:pos x="82" y="98"/>
                </a:cxn>
                <a:cxn ang="0">
                  <a:pos x="58" y="112"/>
                </a:cxn>
              </a:cxnLst>
              <a:rect l="0" t="0" r="r" b="b"/>
              <a:pathLst>
                <a:path w="82" h="112">
                  <a:moveTo>
                    <a:pt x="58" y="112"/>
                  </a:moveTo>
                  <a:lnTo>
                    <a:pt x="0" y="14"/>
                  </a:lnTo>
                  <a:lnTo>
                    <a:pt x="26" y="0"/>
                  </a:lnTo>
                  <a:lnTo>
                    <a:pt x="82" y="98"/>
                  </a:lnTo>
                  <a:lnTo>
                    <a:pt x="58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8" name="Freeform 54"/>
            <p:cNvSpPr>
              <a:spLocks/>
            </p:cNvSpPr>
            <p:nvPr/>
          </p:nvSpPr>
          <p:spPr bwMode="auto">
            <a:xfrm>
              <a:off x="1536700" y="1123950"/>
              <a:ext cx="180975" cy="1301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14" y="58"/>
                </a:cxn>
                <a:cxn ang="0">
                  <a:pos x="98" y="82"/>
                </a:cxn>
                <a:cxn ang="0">
                  <a:pos x="0" y="26"/>
                </a:cxn>
                <a:cxn ang="0">
                  <a:pos x="14" y="0"/>
                </a:cxn>
              </a:cxnLst>
              <a:rect l="0" t="0" r="r" b="b"/>
              <a:pathLst>
                <a:path w="114" h="82">
                  <a:moveTo>
                    <a:pt x="14" y="0"/>
                  </a:moveTo>
                  <a:lnTo>
                    <a:pt x="114" y="58"/>
                  </a:lnTo>
                  <a:lnTo>
                    <a:pt x="98" y="82"/>
                  </a:lnTo>
                  <a:lnTo>
                    <a:pt x="0" y="26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9" name="Freeform 55"/>
            <p:cNvSpPr>
              <a:spLocks/>
            </p:cNvSpPr>
            <p:nvPr/>
          </p:nvSpPr>
          <p:spPr bwMode="auto">
            <a:xfrm>
              <a:off x="2190750" y="1123950"/>
              <a:ext cx="177800" cy="130175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58"/>
                </a:cxn>
                <a:cxn ang="0">
                  <a:pos x="14" y="82"/>
                </a:cxn>
                <a:cxn ang="0">
                  <a:pos x="112" y="26"/>
                </a:cxn>
                <a:cxn ang="0">
                  <a:pos x="98" y="0"/>
                </a:cxn>
              </a:cxnLst>
              <a:rect l="0" t="0" r="r" b="b"/>
              <a:pathLst>
                <a:path w="112" h="82">
                  <a:moveTo>
                    <a:pt x="98" y="0"/>
                  </a:moveTo>
                  <a:lnTo>
                    <a:pt x="0" y="58"/>
                  </a:lnTo>
                  <a:lnTo>
                    <a:pt x="14" y="82"/>
                  </a:lnTo>
                  <a:lnTo>
                    <a:pt x="112" y="26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60" name="Freeform 56"/>
            <p:cNvSpPr>
              <a:spLocks/>
            </p:cNvSpPr>
            <p:nvPr/>
          </p:nvSpPr>
          <p:spPr bwMode="auto">
            <a:xfrm>
              <a:off x="2076450" y="962025"/>
              <a:ext cx="130175" cy="177800"/>
            </a:xfrm>
            <a:custGeom>
              <a:avLst/>
              <a:gdLst/>
              <a:ahLst/>
              <a:cxnLst>
                <a:cxn ang="0">
                  <a:pos x="26" y="112"/>
                </a:cxn>
                <a:cxn ang="0">
                  <a:pos x="0" y="98"/>
                </a:cxn>
                <a:cxn ang="0">
                  <a:pos x="58" y="0"/>
                </a:cxn>
                <a:cxn ang="0">
                  <a:pos x="82" y="14"/>
                </a:cxn>
                <a:cxn ang="0">
                  <a:pos x="26" y="112"/>
                </a:cxn>
              </a:cxnLst>
              <a:rect l="0" t="0" r="r" b="b"/>
              <a:pathLst>
                <a:path w="82" h="112">
                  <a:moveTo>
                    <a:pt x="26" y="112"/>
                  </a:moveTo>
                  <a:lnTo>
                    <a:pt x="0" y="98"/>
                  </a:lnTo>
                  <a:lnTo>
                    <a:pt x="58" y="0"/>
                  </a:lnTo>
                  <a:lnTo>
                    <a:pt x="82" y="14"/>
                  </a:lnTo>
                  <a:lnTo>
                    <a:pt x="26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</p:grpSp>
      <p:sp>
        <p:nvSpPr>
          <p:cNvPr id="68" name="矩形 4">
            <a:extLst>
              <a:ext uri="{FF2B5EF4-FFF2-40B4-BE49-F238E27FC236}">
                <a16:creationId xmlns:a16="http://schemas.microsoft.com/office/drawing/2014/main" id="{F629E085-FF34-4244-9ADD-EB6F92A4CF18}"/>
              </a:ext>
            </a:extLst>
          </p:cNvPr>
          <p:cNvSpPr/>
          <p:nvPr/>
        </p:nvSpPr>
        <p:spPr>
          <a:xfrm>
            <a:off x="1916505" y="4385471"/>
            <a:ext cx="6312052" cy="112632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71" name="矩形 42">
            <a:extLst>
              <a:ext uri="{FF2B5EF4-FFF2-40B4-BE49-F238E27FC236}">
                <a16:creationId xmlns:a16="http://schemas.microsoft.com/office/drawing/2014/main" id="{52252133-BCCD-4823-BE47-874F6F2B8665}"/>
              </a:ext>
            </a:extLst>
          </p:cNvPr>
          <p:cNvSpPr/>
          <p:nvPr/>
        </p:nvSpPr>
        <p:spPr>
          <a:xfrm>
            <a:off x="1916505" y="4314299"/>
            <a:ext cx="6219198" cy="120032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lvl="0" algn="just">
              <a:spcAft>
                <a:spcPts val="1000"/>
              </a:spcAft>
            </a:pP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menerapkan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metode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i="1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Multi Attribute Utility Theory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(MAUT)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penentuan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karyawan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terbaik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3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News Gothic MT" charset="0"/>
            </a:endParaRPr>
          </a:p>
        </p:txBody>
      </p:sp>
      <p:sp>
        <p:nvSpPr>
          <p:cNvPr id="72" name="任意多边形 16">
            <a:extLst>
              <a:ext uri="{FF2B5EF4-FFF2-40B4-BE49-F238E27FC236}">
                <a16:creationId xmlns:a16="http://schemas.microsoft.com/office/drawing/2014/main" id="{103988A7-A046-4DA9-BA72-41273B5DDDDC}"/>
              </a:ext>
            </a:extLst>
          </p:cNvPr>
          <p:cNvSpPr/>
          <p:nvPr/>
        </p:nvSpPr>
        <p:spPr>
          <a:xfrm rot="4450783">
            <a:off x="168052" y="4022946"/>
            <a:ext cx="1540804" cy="1683659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5E8436A-1A80-4460-9741-7F89FA3E12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75" name="Freeform 210">
            <a:extLst>
              <a:ext uri="{FF2B5EF4-FFF2-40B4-BE49-F238E27FC236}">
                <a16:creationId xmlns:a16="http://schemas.microsoft.com/office/drawing/2014/main" id="{7D989CC4-5BAD-4154-B113-B0C138D857CC}"/>
              </a:ext>
            </a:extLst>
          </p:cNvPr>
          <p:cNvSpPr>
            <a:spLocks noEditPoints="1"/>
          </p:cNvSpPr>
          <p:nvPr/>
        </p:nvSpPr>
        <p:spPr bwMode="auto">
          <a:xfrm>
            <a:off x="478395" y="2591535"/>
            <a:ext cx="708701" cy="533280"/>
          </a:xfrm>
          <a:custGeom>
            <a:avLst/>
            <a:gdLst/>
            <a:ahLst/>
            <a:cxnLst>
              <a:cxn ang="0">
                <a:pos x="202" y="202"/>
              </a:cxn>
              <a:cxn ang="0">
                <a:pos x="202" y="202"/>
              </a:cxn>
              <a:cxn ang="0">
                <a:pos x="190" y="200"/>
              </a:cxn>
              <a:cxn ang="0">
                <a:pos x="176" y="194"/>
              </a:cxn>
              <a:cxn ang="0">
                <a:pos x="0" y="102"/>
              </a:cxn>
              <a:cxn ang="0">
                <a:pos x="0" y="278"/>
              </a:cxn>
              <a:cxn ang="0">
                <a:pos x="0" y="278"/>
              </a:cxn>
              <a:cxn ang="0">
                <a:pos x="2" y="288"/>
              </a:cxn>
              <a:cxn ang="0">
                <a:pos x="6" y="296"/>
              </a:cxn>
              <a:cxn ang="0">
                <a:pos x="14" y="302"/>
              </a:cxn>
              <a:cxn ang="0">
                <a:pos x="24" y="304"/>
              </a:cxn>
              <a:cxn ang="0">
                <a:pos x="378" y="304"/>
              </a:cxn>
              <a:cxn ang="0">
                <a:pos x="378" y="304"/>
              </a:cxn>
              <a:cxn ang="0">
                <a:pos x="388" y="302"/>
              </a:cxn>
              <a:cxn ang="0">
                <a:pos x="396" y="296"/>
              </a:cxn>
              <a:cxn ang="0">
                <a:pos x="402" y="288"/>
              </a:cxn>
              <a:cxn ang="0">
                <a:pos x="404" y="278"/>
              </a:cxn>
              <a:cxn ang="0">
                <a:pos x="404" y="102"/>
              </a:cxn>
              <a:cxn ang="0">
                <a:pos x="226" y="194"/>
              </a:cxn>
              <a:cxn ang="0">
                <a:pos x="226" y="194"/>
              </a:cxn>
              <a:cxn ang="0">
                <a:pos x="212" y="200"/>
              </a:cxn>
              <a:cxn ang="0">
                <a:pos x="202" y="202"/>
              </a:cxn>
              <a:cxn ang="0">
                <a:pos x="202" y="202"/>
              </a:cxn>
              <a:cxn ang="0">
                <a:pos x="378" y="0"/>
              </a:cxn>
              <a:cxn ang="0">
                <a:pos x="24" y="0"/>
              </a:cxn>
              <a:cxn ang="0">
                <a:pos x="24" y="0"/>
              </a:cxn>
              <a:cxn ang="0">
                <a:pos x="14" y="2"/>
              </a:cxn>
              <a:cxn ang="0">
                <a:pos x="6" y="8"/>
              </a:cxn>
              <a:cxn ang="0">
                <a:pos x="2" y="16"/>
              </a:cxn>
              <a:cxn ang="0">
                <a:pos x="0" y="26"/>
              </a:cxn>
              <a:cxn ang="0">
                <a:pos x="0" y="44"/>
              </a:cxn>
              <a:cxn ang="0">
                <a:pos x="202" y="152"/>
              </a:cxn>
              <a:cxn ang="0">
                <a:pos x="404" y="44"/>
              </a:cxn>
              <a:cxn ang="0">
                <a:pos x="404" y="26"/>
              </a:cxn>
              <a:cxn ang="0">
                <a:pos x="404" y="26"/>
              </a:cxn>
              <a:cxn ang="0">
                <a:pos x="402" y="16"/>
              </a:cxn>
              <a:cxn ang="0">
                <a:pos x="396" y="8"/>
              </a:cxn>
              <a:cxn ang="0">
                <a:pos x="388" y="2"/>
              </a:cxn>
              <a:cxn ang="0">
                <a:pos x="378" y="0"/>
              </a:cxn>
              <a:cxn ang="0">
                <a:pos x="378" y="0"/>
              </a:cxn>
            </a:cxnLst>
            <a:rect l="0" t="0" r="r" b="b"/>
            <a:pathLst>
              <a:path w="404" h="304">
                <a:moveTo>
                  <a:pt x="202" y="202"/>
                </a:moveTo>
                <a:lnTo>
                  <a:pt x="202" y="202"/>
                </a:lnTo>
                <a:lnTo>
                  <a:pt x="190" y="200"/>
                </a:lnTo>
                <a:lnTo>
                  <a:pt x="176" y="194"/>
                </a:lnTo>
                <a:lnTo>
                  <a:pt x="0" y="102"/>
                </a:lnTo>
                <a:lnTo>
                  <a:pt x="0" y="278"/>
                </a:lnTo>
                <a:lnTo>
                  <a:pt x="0" y="278"/>
                </a:lnTo>
                <a:lnTo>
                  <a:pt x="2" y="288"/>
                </a:lnTo>
                <a:lnTo>
                  <a:pt x="6" y="296"/>
                </a:lnTo>
                <a:lnTo>
                  <a:pt x="14" y="302"/>
                </a:lnTo>
                <a:lnTo>
                  <a:pt x="24" y="304"/>
                </a:lnTo>
                <a:lnTo>
                  <a:pt x="378" y="304"/>
                </a:lnTo>
                <a:lnTo>
                  <a:pt x="378" y="304"/>
                </a:lnTo>
                <a:lnTo>
                  <a:pt x="388" y="302"/>
                </a:lnTo>
                <a:lnTo>
                  <a:pt x="396" y="296"/>
                </a:lnTo>
                <a:lnTo>
                  <a:pt x="402" y="288"/>
                </a:lnTo>
                <a:lnTo>
                  <a:pt x="404" y="278"/>
                </a:lnTo>
                <a:lnTo>
                  <a:pt x="404" y="102"/>
                </a:lnTo>
                <a:lnTo>
                  <a:pt x="226" y="194"/>
                </a:lnTo>
                <a:lnTo>
                  <a:pt x="226" y="194"/>
                </a:lnTo>
                <a:lnTo>
                  <a:pt x="212" y="200"/>
                </a:lnTo>
                <a:lnTo>
                  <a:pt x="202" y="202"/>
                </a:lnTo>
                <a:lnTo>
                  <a:pt x="202" y="202"/>
                </a:lnTo>
                <a:close/>
                <a:moveTo>
                  <a:pt x="378" y="0"/>
                </a:moveTo>
                <a:lnTo>
                  <a:pt x="24" y="0"/>
                </a:lnTo>
                <a:lnTo>
                  <a:pt x="24" y="0"/>
                </a:lnTo>
                <a:lnTo>
                  <a:pt x="14" y="2"/>
                </a:lnTo>
                <a:lnTo>
                  <a:pt x="6" y="8"/>
                </a:lnTo>
                <a:lnTo>
                  <a:pt x="2" y="16"/>
                </a:lnTo>
                <a:lnTo>
                  <a:pt x="0" y="26"/>
                </a:lnTo>
                <a:lnTo>
                  <a:pt x="0" y="44"/>
                </a:lnTo>
                <a:lnTo>
                  <a:pt x="202" y="152"/>
                </a:lnTo>
                <a:lnTo>
                  <a:pt x="404" y="44"/>
                </a:lnTo>
                <a:lnTo>
                  <a:pt x="404" y="26"/>
                </a:lnTo>
                <a:lnTo>
                  <a:pt x="404" y="26"/>
                </a:lnTo>
                <a:lnTo>
                  <a:pt x="402" y="16"/>
                </a:lnTo>
                <a:lnTo>
                  <a:pt x="396" y="8"/>
                </a:lnTo>
                <a:lnTo>
                  <a:pt x="388" y="2"/>
                </a:lnTo>
                <a:lnTo>
                  <a:pt x="378" y="0"/>
                </a:lnTo>
                <a:lnTo>
                  <a:pt x="378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210">
            <a:extLst>
              <a:ext uri="{FF2B5EF4-FFF2-40B4-BE49-F238E27FC236}">
                <a16:creationId xmlns:a16="http://schemas.microsoft.com/office/drawing/2014/main" id="{1534AABC-92C9-4F7D-97A6-942CB48A1FED}"/>
              </a:ext>
            </a:extLst>
          </p:cNvPr>
          <p:cNvSpPr>
            <a:spLocks noEditPoints="1"/>
          </p:cNvSpPr>
          <p:nvPr/>
        </p:nvSpPr>
        <p:spPr bwMode="auto">
          <a:xfrm>
            <a:off x="540987" y="4640662"/>
            <a:ext cx="708701" cy="533280"/>
          </a:xfrm>
          <a:custGeom>
            <a:avLst/>
            <a:gdLst/>
            <a:ahLst/>
            <a:cxnLst>
              <a:cxn ang="0">
                <a:pos x="202" y="202"/>
              </a:cxn>
              <a:cxn ang="0">
                <a:pos x="202" y="202"/>
              </a:cxn>
              <a:cxn ang="0">
                <a:pos x="190" y="200"/>
              </a:cxn>
              <a:cxn ang="0">
                <a:pos x="176" y="194"/>
              </a:cxn>
              <a:cxn ang="0">
                <a:pos x="0" y="102"/>
              </a:cxn>
              <a:cxn ang="0">
                <a:pos x="0" y="278"/>
              </a:cxn>
              <a:cxn ang="0">
                <a:pos x="0" y="278"/>
              </a:cxn>
              <a:cxn ang="0">
                <a:pos x="2" y="288"/>
              </a:cxn>
              <a:cxn ang="0">
                <a:pos x="6" y="296"/>
              </a:cxn>
              <a:cxn ang="0">
                <a:pos x="14" y="302"/>
              </a:cxn>
              <a:cxn ang="0">
                <a:pos x="24" y="304"/>
              </a:cxn>
              <a:cxn ang="0">
                <a:pos x="378" y="304"/>
              </a:cxn>
              <a:cxn ang="0">
                <a:pos x="378" y="304"/>
              </a:cxn>
              <a:cxn ang="0">
                <a:pos x="388" y="302"/>
              </a:cxn>
              <a:cxn ang="0">
                <a:pos x="396" y="296"/>
              </a:cxn>
              <a:cxn ang="0">
                <a:pos x="402" y="288"/>
              </a:cxn>
              <a:cxn ang="0">
                <a:pos x="404" y="278"/>
              </a:cxn>
              <a:cxn ang="0">
                <a:pos x="404" y="102"/>
              </a:cxn>
              <a:cxn ang="0">
                <a:pos x="226" y="194"/>
              </a:cxn>
              <a:cxn ang="0">
                <a:pos x="226" y="194"/>
              </a:cxn>
              <a:cxn ang="0">
                <a:pos x="212" y="200"/>
              </a:cxn>
              <a:cxn ang="0">
                <a:pos x="202" y="202"/>
              </a:cxn>
              <a:cxn ang="0">
                <a:pos x="202" y="202"/>
              </a:cxn>
              <a:cxn ang="0">
                <a:pos x="378" y="0"/>
              </a:cxn>
              <a:cxn ang="0">
                <a:pos x="24" y="0"/>
              </a:cxn>
              <a:cxn ang="0">
                <a:pos x="24" y="0"/>
              </a:cxn>
              <a:cxn ang="0">
                <a:pos x="14" y="2"/>
              </a:cxn>
              <a:cxn ang="0">
                <a:pos x="6" y="8"/>
              </a:cxn>
              <a:cxn ang="0">
                <a:pos x="2" y="16"/>
              </a:cxn>
              <a:cxn ang="0">
                <a:pos x="0" y="26"/>
              </a:cxn>
              <a:cxn ang="0">
                <a:pos x="0" y="44"/>
              </a:cxn>
              <a:cxn ang="0">
                <a:pos x="202" y="152"/>
              </a:cxn>
              <a:cxn ang="0">
                <a:pos x="404" y="44"/>
              </a:cxn>
              <a:cxn ang="0">
                <a:pos x="404" y="26"/>
              </a:cxn>
              <a:cxn ang="0">
                <a:pos x="404" y="26"/>
              </a:cxn>
              <a:cxn ang="0">
                <a:pos x="402" y="16"/>
              </a:cxn>
              <a:cxn ang="0">
                <a:pos x="396" y="8"/>
              </a:cxn>
              <a:cxn ang="0">
                <a:pos x="388" y="2"/>
              </a:cxn>
              <a:cxn ang="0">
                <a:pos x="378" y="0"/>
              </a:cxn>
              <a:cxn ang="0">
                <a:pos x="378" y="0"/>
              </a:cxn>
            </a:cxnLst>
            <a:rect l="0" t="0" r="r" b="b"/>
            <a:pathLst>
              <a:path w="404" h="304">
                <a:moveTo>
                  <a:pt x="202" y="202"/>
                </a:moveTo>
                <a:lnTo>
                  <a:pt x="202" y="202"/>
                </a:lnTo>
                <a:lnTo>
                  <a:pt x="190" y="200"/>
                </a:lnTo>
                <a:lnTo>
                  <a:pt x="176" y="194"/>
                </a:lnTo>
                <a:lnTo>
                  <a:pt x="0" y="102"/>
                </a:lnTo>
                <a:lnTo>
                  <a:pt x="0" y="278"/>
                </a:lnTo>
                <a:lnTo>
                  <a:pt x="0" y="278"/>
                </a:lnTo>
                <a:lnTo>
                  <a:pt x="2" y="288"/>
                </a:lnTo>
                <a:lnTo>
                  <a:pt x="6" y="296"/>
                </a:lnTo>
                <a:lnTo>
                  <a:pt x="14" y="302"/>
                </a:lnTo>
                <a:lnTo>
                  <a:pt x="24" y="304"/>
                </a:lnTo>
                <a:lnTo>
                  <a:pt x="378" y="304"/>
                </a:lnTo>
                <a:lnTo>
                  <a:pt x="378" y="304"/>
                </a:lnTo>
                <a:lnTo>
                  <a:pt x="388" y="302"/>
                </a:lnTo>
                <a:lnTo>
                  <a:pt x="396" y="296"/>
                </a:lnTo>
                <a:lnTo>
                  <a:pt x="402" y="288"/>
                </a:lnTo>
                <a:lnTo>
                  <a:pt x="404" y="278"/>
                </a:lnTo>
                <a:lnTo>
                  <a:pt x="404" y="102"/>
                </a:lnTo>
                <a:lnTo>
                  <a:pt x="226" y="194"/>
                </a:lnTo>
                <a:lnTo>
                  <a:pt x="226" y="194"/>
                </a:lnTo>
                <a:lnTo>
                  <a:pt x="212" y="200"/>
                </a:lnTo>
                <a:lnTo>
                  <a:pt x="202" y="202"/>
                </a:lnTo>
                <a:lnTo>
                  <a:pt x="202" y="202"/>
                </a:lnTo>
                <a:close/>
                <a:moveTo>
                  <a:pt x="378" y="0"/>
                </a:moveTo>
                <a:lnTo>
                  <a:pt x="24" y="0"/>
                </a:lnTo>
                <a:lnTo>
                  <a:pt x="24" y="0"/>
                </a:lnTo>
                <a:lnTo>
                  <a:pt x="14" y="2"/>
                </a:lnTo>
                <a:lnTo>
                  <a:pt x="6" y="8"/>
                </a:lnTo>
                <a:lnTo>
                  <a:pt x="2" y="16"/>
                </a:lnTo>
                <a:lnTo>
                  <a:pt x="0" y="26"/>
                </a:lnTo>
                <a:lnTo>
                  <a:pt x="0" y="44"/>
                </a:lnTo>
                <a:lnTo>
                  <a:pt x="202" y="152"/>
                </a:lnTo>
                <a:lnTo>
                  <a:pt x="404" y="44"/>
                </a:lnTo>
                <a:lnTo>
                  <a:pt x="404" y="26"/>
                </a:lnTo>
                <a:lnTo>
                  <a:pt x="404" y="26"/>
                </a:lnTo>
                <a:lnTo>
                  <a:pt x="402" y="16"/>
                </a:lnTo>
                <a:lnTo>
                  <a:pt x="396" y="8"/>
                </a:lnTo>
                <a:lnTo>
                  <a:pt x="388" y="2"/>
                </a:lnTo>
                <a:lnTo>
                  <a:pt x="378" y="0"/>
                </a:lnTo>
                <a:lnTo>
                  <a:pt x="378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378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92361" y="1022503"/>
            <a:ext cx="6312052" cy="296347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6" name="矩形 39"/>
          <p:cNvSpPr/>
          <p:nvPr/>
        </p:nvSpPr>
        <p:spPr>
          <a:xfrm>
            <a:off x="337349" y="187249"/>
            <a:ext cx="4933206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MANFAAT PENELITIAN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 flipV="1">
            <a:off x="386842" y="793133"/>
            <a:ext cx="4588462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 19"/>
          <p:cNvSpPr/>
          <p:nvPr/>
        </p:nvSpPr>
        <p:spPr>
          <a:xfrm rot="13721046" flipH="1">
            <a:off x="10571283" y="2251529"/>
            <a:ext cx="1540804" cy="1683659"/>
          </a:xfrm>
          <a:custGeom>
            <a:avLst/>
            <a:gdLst>
              <a:gd name="connsiteX0" fmla="*/ 0 w 1149799"/>
              <a:gd name="connsiteY0" fmla="*/ 681503 h 1256402"/>
              <a:gd name="connsiteX1" fmla="*/ 459037 w 1149799"/>
              <a:gd name="connsiteY1" fmla="*/ 118283 h 1256402"/>
              <a:gd name="connsiteX2" fmla="*/ 510975 w 1149799"/>
              <a:gd name="connsiteY2" fmla="*/ 113048 h 1256402"/>
              <a:gd name="connsiteX3" fmla="*/ 593014 w 1149799"/>
              <a:gd name="connsiteY3" fmla="*/ 0 h 1256402"/>
              <a:gd name="connsiteX4" fmla="*/ 677913 w 1149799"/>
              <a:gd name="connsiteY4" fmla="*/ 116988 h 1256402"/>
              <a:gd name="connsiteX5" fmla="*/ 690762 w 1149799"/>
              <a:gd name="connsiteY5" fmla="*/ 118283 h 1256402"/>
              <a:gd name="connsiteX6" fmla="*/ 1149799 w 1149799"/>
              <a:gd name="connsiteY6" fmla="*/ 681503 h 1256402"/>
              <a:gd name="connsiteX7" fmla="*/ 574900 w 1149799"/>
              <a:gd name="connsiteY7" fmla="*/ 1256402 h 1256402"/>
              <a:gd name="connsiteX8" fmla="*/ 0 w 1149799"/>
              <a:gd name="connsiteY8" fmla="*/ 681503 h 12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9799" h="1256402">
                <a:moveTo>
                  <a:pt x="0" y="681503"/>
                </a:moveTo>
                <a:cubicBezTo>
                  <a:pt x="0" y="403683"/>
                  <a:pt x="197065" y="171891"/>
                  <a:pt x="459037" y="118283"/>
                </a:cubicBezTo>
                <a:lnTo>
                  <a:pt x="510975" y="113048"/>
                </a:lnTo>
                <a:lnTo>
                  <a:pt x="593014" y="0"/>
                </a:lnTo>
                <a:lnTo>
                  <a:pt x="677913" y="116988"/>
                </a:lnTo>
                <a:lnTo>
                  <a:pt x="690762" y="118283"/>
                </a:lnTo>
                <a:cubicBezTo>
                  <a:pt x="952734" y="171891"/>
                  <a:pt x="1149799" y="403683"/>
                  <a:pt x="1149799" y="681503"/>
                </a:cubicBezTo>
                <a:cubicBezTo>
                  <a:pt x="1149799" y="999011"/>
                  <a:pt x="892408" y="1256402"/>
                  <a:pt x="574900" y="1256402"/>
                </a:cubicBezTo>
                <a:cubicBezTo>
                  <a:pt x="257391" y="1256402"/>
                  <a:pt x="0" y="999011"/>
                  <a:pt x="0" y="681503"/>
                </a:cubicBezTo>
                <a:close/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1406698" y="355145"/>
            <a:ext cx="476838" cy="371192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Ostrich Sans Black" panose="00000A00000000000000" pitchFamily="50" charset="0"/>
                <a:cs typeface="BrowalliaUPC" panose="020B0604020202020204" pitchFamily="34" charset="-34"/>
              </a:defRPr>
            </a:lvl1pPr>
          </a:lstStyle>
          <a:p>
            <a:pPr algn="ctr"/>
            <a:r>
              <a:rPr lang="en-US" altLang="zh-CN" sz="1200" dirty="0">
                <a:solidFill>
                  <a:schemeClr val="bg1"/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</a:rPr>
              <a:t>25</a:t>
            </a:r>
            <a:endParaRPr lang="zh-CN" altLang="en-US" sz="1200" dirty="0">
              <a:solidFill>
                <a:schemeClr val="bg1"/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  <p:sp>
        <p:nvSpPr>
          <p:cNvPr id="45" name="Freeform 232"/>
          <p:cNvSpPr>
            <a:spLocks/>
          </p:cNvSpPr>
          <p:nvPr/>
        </p:nvSpPr>
        <p:spPr bwMode="auto">
          <a:xfrm>
            <a:off x="10986217" y="2726296"/>
            <a:ext cx="815975" cy="520700"/>
          </a:xfrm>
          <a:custGeom>
            <a:avLst/>
            <a:gdLst/>
            <a:ahLst/>
            <a:cxnLst>
              <a:cxn ang="0">
                <a:pos x="256" y="0"/>
              </a:cxn>
              <a:cxn ang="0">
                <a:pos x="0" y="142"/>
              </a:cxn>
              <a:cxn ang="0">
                <a:pos x="256" y="282"/>
              </a:cxn>
              <a:cxn ang="0">
                <a:pos x="468" y="166"/>
              </a:cxn>
              <a:cxn ang="0">
                <a:pos x="468" y="328"/>
              </a:cxn>
              <a:cxn ang="0">
                <a:pos x="514" y="328"/>
              </a:cxn>
              <a:cxn ang="0">
                <a:pos x="514" y="142"/>
              </a:cxn>
              <a:cxn ang="0">
                <a:pos x="256" y="0"/>
              </a:cxn>
            </a:cxnLst>
            <a:rect l="0" t="0" r="r" b="b"/>
            <a:pathLst>
              <a:path w="514" h="328">
                <a:moveTo>
                  <a:pt x="256" y="0"/>
                </a:moveTo>
                <a:lnTo>
                  <a:pt x="0" y="142"/>
                </a:lnTo>
                <a:lnTo>
                  <a:pt x="256" y="282"/>
                </a:lnTo>
                <a:lnTo>
                  <a:pt x="468" y="166"/>
                </a:lnTo>
                <a:lnTo>
                  <a:pt x="468" y="328"/>
                </a:lnTo>
                <a:lnTo>
                  <a:pt x="514" y="328"/>
                </a:lnTo>
                <a:lnTo>
                  <a:pt x="514" y="142"/>
                </a:lnTo>
                <a:lnTo>
                  <a:pt x="256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233"/>
          <p:cNvSpPr>
            <a:spLocks/>
          </p:cNvSpPr>
          <p:nvPr/>
        </p:nvSpPr>
        <p:spPr bwMode="auto">
          <a:xfrm>
            <a:off x="11135442" y="3091421"/>
            <a:ext cx="517525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04"/>
              </a:cxn>
              <a:cxn ang="0">
                <a:pos x="162" y="192"/>
              </a:cxn>
              <a:cxn ang="0">
                <a:pos x="326" y="104"/>
              </a:cxn>
              <a:cxn ang="0">
                <a:pos x="326" y="0"/>
              </a:cxn>
              <a:cxn ang="0">
                <a:pos x="162" y="98"/>
              </a:cxn>
              <a:cxn ang="0">
                <a:pos x="0" y="0"/>
              </a:cxn>
            </a:cxnLst>
            <a:rect l="0" t="0" r="r" b="b"/>
            <a:pathLst>
              <a:path w="326" h="192">
                <a:moveTo>
                  <a:pt x="0" y="0"/>
                </a:moveTo>
                <a:lnTo>
                  <a:pt x="0" y="104"/>
                </a:lnTo>
                <a:lnTo>
                  <a:pt x="162" y="192"/>
                </a:lnTo>
                <a:lnTo>
                  <a:pt x="326" y="104"/>
                </a:lnTo>
                <a:lnTo>
                  <a:pt x="326" y="0"/>
                </a:lnTo>
                <a:lnTo>
                  <a:pt x="162" y="98"/>
                </a:lnTo>
                <a:lnTo>
                  <a:pt x="0" y="0"/>
                </a:lnTo>
                <a:close/>
              </a:path>
            </a:pathLst>
          </a:custGeom>
          <a:solidFill>
            <a:srgbClr val="1031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Freeform 121"/>
          <p:cNvSpPr>
            <a:spLocks/>
          </p:cNvSpPr>
          <p:nvPr/>
        </p:nvSpPr>
        <p:spPr bwMode="auto">
          <a:xfrm>
            <a:off x="8946561" y="3544767"/>
            <a:ext cx="2550680" cy="3251630"/>
          </a:xfrm>
          <a:custGeom>
            <a:avLst/>
            <a:gdLst/>
            <a:ahLst/>
            <a:cxnLst>
              <a:cxn ang="0">
                <a:pos x="170" y="224"/>
              </a:cxn>
              <a:cxn ang="0">
                <a:pos x="170" y="190"/>
              </a:cxn>
              <a:cxn ang="0">
                <a:pos x="174" y="186"/>
              </a:cxn>
              <a:cxn ang="0">
                <a:pos x="184" y="164"/>
              </a:cxn>
              <a:cxn ang="0">
                <a:pos x="188" y="152"/>
              </a:cxn>
              <a:cxn ang="0">
                <a:pos x="196" y="146"/>
              </a:cxn>
              <a:cxn ang="0">
                <a:pos x="202" y="128"/>
              </a:cxn>
              <a:cxn ang="0">
                <a:pos x="202" y="122"/>
              </a:cxn>
              <a:cxn ang="0">
                <a:pos x="196" y="112"/>
              </a:cxn>
              <a:cxn ang="0">
                <a:pos x="202" y="88"/>
              </a:cxn>
              <a:cxn ang="0">
                <a:pos x="204" y="58"/>
              </a:cxn>
              <a:cxn ang="0">
                <a:pos x="198" y="34"/>
              </a:cxn>
              <a:cxn ang="0">
                <a:pos x="190" y="24"/>
              </a:cxn>
              <a:cxn ang="0">
                <a:pos x="176" y="16"/>
              </a:cxn>
              <a:cxn ang="0">
                <a:pos x="166" y="14"/>
              </a:cxn>
              <a:cxn ang="0">
                <a:pos x="152" y="2"/>
              </a:cxn>
              <a:cxn ang="0">
                <a:pos x="130" y="0"/>
              </a:cxn>
              <a:cxn ang="0">
                <a:pos x="118" y="0"/>
              </a:cxn>
              <a:cxn ang="0">
                <a:pos x="96" y="4"/>
              </a:cxn>
              <a:cxn ang="0">
                <a:pos x="80" y="14"/>
              </a:cxn>
              <a:cxn ang="0">
                <a:pos x="70" y="26"/>
              </a:cxn>
              <a:cxn ang="0">
                <a:pos x="60" y="50"/>
              </a:cxn>
              <a:cxn ang="0">
                <a:pos x="62" y="90"/>
              </a:cxn>
              <a:cxn ang="0">
                <a:pos x="66" y="112"/>
              </a:cxn>
              <a:cxn ang="0">
                <a:pos x="60" y="122"/>
              </a:cxn>
              <a:cxn ang="0">
                <a:pos x="60" y="128"/>
              </a:cxn>
              <a:cxn ang="0">
                <a:pos x="66" y="146"/>
              </a:cxn>
              <a:cxn ang="0">
                <a:pos x="74" y="152"/>
              </a:cxn>
              <a:cxn ang="0">
                <a:pos x="76" y="164"/>
              </a:cxn>
              <a:cxn ang="0">
                <a:pos x="88" y="186"/>
              </a:cxn>
              <a:cxn ang="0">
                <a:pos x="92" y="190"/>
              </a:cxn>
              <a:cxn ang="0">
                <a:pos x="92" y="224"/>
              </a:cxn>
              <a:cxn ang="0">
                <a:pos x="86" y="234"/>
              </a:cxn>
              <a:cxn ang="0">
                <a:pos x="66" y="246"/>
              </a:cxn>
              <a:cxn ang="0">
                <a:pos x="26" y="264"/>
              </a:cxn>
              <a:cxn ang="0">
                <a:pos x="0" y="280"/>
              </a:cxn>
              <a:cxn ang="0">
                <a:pos x="12" y="290"/>
              </a:cxn>
              <a:cxn ang="0">
                <a:pos x="42" y="310"/>
              </a:cxn>
              <a:cxn ang="0">
                <a:pos x="78" y="324"/>
              </a:cxn>
              <a:cxn ang="0">
                <a:pos x="116" y="332"/>
              </a:cxn>
              <a:cxn ang="0">
                <a:pos x="136" y="334"/>
              </a:cxn>
              <a:cxn ang="0">
                <a:pos x="176" y="326"/>
              </a:cxn>
              <a:cxn ang="0">
                <a:pos x="214" y="312"/>
              </a:cxn>
              <a:cxn ang="0">
                <a:pos x="246" y="294"/>
              </a:cxn>
              <a:cxn ang="0">
                <a:pos x="262" y="280"/>
              </a:cxn>
              <a:cxn ang="0">
                <a:pos x="236" y="264"/>
              </a:cxn>
              <a:cxn ang="0">
                <a:pos x="196" y="246"/>
              </a:cxn>
              <a:cxn ang="0">
                <a:pos x="176" y="234"/>
              </a:cxn>
              <a:cxn ang="0">
                <a:pos x="170" y="224"/>
              </a:cxn>
            </a:cxnLst>
            <a:rect l="0" t="0" r="r" b="b"/>
            <a:pathLst>
              <a:path w="262" h="334">
                <a:moveTo>
                  <a:pt x="170" y="224"/>
                </a:moveTo>
                <a:lnTo>
                  <a:pt x="170" y="224"/>
                </a:lnTo>
                <a:lnTo>
                  <a:pt x="170" y="206"/>
                </a:lnTo>
                <a:lnTo>
                  <a:pt x="170" y="190"/>
                </a:lnTo>
                <a:lnTo>
                  <a:pt x="170" y="190"/>
                </a:lnTo>
                <a:lnTo>
                  <a:pt x="174" y="186"/>
                </a:lnTo>
                <a:lnTo>
                  <a:pt x="180" y="176"/>
                </a:lnTo>
                <a:lnTo>
                  <a:pt x="184" y="164"/>
                </a:lnTo>
                <a:lnTo>
                  <a:pt x="188" y="152"/>
                </a:lnTo>
                <a:lnTo>
                  <a:pt x="188" y="152"/>
                </a:lnTo>
                <a:lnTo>
                  <a:pt x="192" y="150"/>
                </a:lnTo>
                <a:lnTo>
                  <a:pt x="196" y="146"/>
                </a:lnTo>
                <a:lnTo>
                  <a:pt x="200" y="140"/>
                </a:lnTo>
                <a:lnTo>
                  <a:pt x="202" y="128"/>
                </a:lnTo>
                <a:lnTo>
                  <a:pt x="202" y="128"/>
                </a:lnTo>
                <a:lnTo>
                  <a:pt x="202" y="122"/>
                </a:lnTo>
                <a:lnTo>
                  <a:pt x="200" y="118"/>
                </a:lnTo>
                <a:lnTo>
                  <a:pt x="196" y="112"/>
                </a:lnTo>
                <a:lnTo>
                  <a:pt x="196" y="112"/>
                </a:lnTo>
                <a:lnTo>
                  <a:pt x="202" y="88"/>
                </a:lnTo>
                <a:lnTo>
                  <a:pt x="204" y="74"/>
                </a:lnTo>
                <a:lnTo>
                  <a:pt x="204" y="58"/>
                </a:lnTo>
                <a:lnTo>
                  <a:pt x="200" y="42"/>
                </a:lnTo>
                <a:lnTo>
                  <a:pt x="198" y="34"/>
                </a:lnTo>
                <a:lnTo>
                  <a:pt x="194" y="28"/>
                </a:lnTo>
                <a:lnTo>
                  <a:pt x="190" y="24"/>
                </a:lnTo>
                <a:lnTo>
                  <a:pt x="184" y="18"/>
                </a:lnTo>
                <a:lnTo>
                  <a:pt x="176" y="16"/>
                </a:lnTo>
                <a:lnTo>
                  <a:pt x="166" y="14"/>
                </a:lnTo>
                <a:lnTo>
                  <a:pt x="166" y="14"/>
                </a:lnTo>
                <a:lnTo>
                  <a:pt x="162" y="8"/>
                </a:lnTo>
                <a:lnTo>
                  <a:pt x="152" y="2"/>
                </a:lnTo>
                <a:lnTo>
                  <a:pt x="142" y="0"/>
                </a:lnTo>
                <a:lnTo>
                  <a:pt x="130" y="0"/>
                </a:lnTo>
                <a:lnTo>
                  <a:pt x="130" y="0"/>
                </a:lnTo>
                <a:lnTo>
                  <a:pt x="118" y="0"/>
                </a:lnTo>
                <a:lnTo>
                  <a:pt x="106" y="2"/>
                </a:lnTo>
                <a:lnTo>
                  <a:pt x="96" y="4"/>
                </a:lnTo>
                <a:lnTo>
                  <a:pt x="88" y="8"/>
                </a:lnTo>
                <a:lnTo>
                  <a:pt x="80" y="14"/>
                </a:lnTo>
                <a:lnTo>
                  <a:pt x="74" y="20"/>
                </a:lnTo>
                <a:lnTo>
                  <a:pt x="70" y="26"/>
                </a:lnTo>
                <a:lnTo>
                  <a:pt x="66" y="34"/>
                </a:lnTo>
                <a:lnTo>
                  <a:pt x="60" y="50"/>
                </a:lnTo>
                <a:lnTo>
                  <a:pt x="60" y="70"/>
                </a:lnTo>
                <a:lnTo>
                  <a:pt x="62" y="90"/>
                </a:lnTo>
                <a:lnTo>
                  <a:pt x="66" y="112"/>
                </a:lnTo>
                <a:lnTo>
                  <a:pt x="66" y="112"/>
                </a:lnTo>
                <a:lnTo>
                  <a:pt x="62" y="118"/>
                </a:lnTo>
                <a:lnTo>
                  <a:pt x="60" y="122"/>
                </a:lnTo>
                <a:lnTo>
                  <a:pt x="60" y="128"/>
                </a:lnTo>
                <a:lnTo>
                  <a:pt x="60" y="128"/>
                </a:lnTo>
                <a:lnTo>
                  <a:pt x="62" y="140"/>
                </a:lnTo>
                <a:lnTo>
                  <a:pt x="66" y="146"/>
                </a:lnTo>
                <a:lnTo>
                  <a:pt x="70" y="150"/>
                </a:lnTo>
                <a:lnTo>
                  <a:pt x="74" y="152"/>
                </a:lnTo>
                <a:lnTo>
                  <a:pt x="74" y="152"/>
                </a:lnTo>
                <a:lnTo>
                  <a:pt x="76" y="164"/>
                </a:lnTo>
                <a:lnTo>
                  <a:pt x="82" y="176"/>
                </a:lnTo>
                <a:lnTo>
                  <a:pt x="88" y="186"/>
                </a:lnTo>
                <a:lnTo>
                  <a:pt x="92" y="190"/>
                </a:lnTo>
                <a:lnTo>
                  <a:pt x="92" y="190"/>
                </a:lnTo>
                <a:lnTo>
                  <a:pt x="92" y="206"/>
                </a:lnTo>
                <a:lnTo>
                  <a:pt x="92" y="224"/>
                </a:lnTo>
                <a:lnTo>
                  <a:pt x="92" y="224"/>
                </a:lnTo>
                <a:lnTo>
                  <a:pt x="86" y="234"/>
                </a:lnTo>
                <a:lnTo>
                  <a:pt x="78" y="240"/>
                </a:lnTo>
                <a:lnTo>
                  <a:pt x="66" y="246"/>
                </a:lnTo>
                <a:lnTo>
                  <a:pt x="54" y="252"/>
                </a:lnTo>
                <a:lnTo>
                  <a:pt x="26" y="264"/>
                </a:lnTo>
                <a:lnTo>
                  <a:pt x="12" y="270"/>
                </a:lnTo>
                <a:lnTo>
                  <a:pt x="0" y="280"/>
                </a:lnTo>
                <a:lnTo>
                  <a:pt x="0" y="280"/>
                </a:lnTo>
                <a:lnTo>
                  <a:pt x="12" y="290"/>
                </a:lnTo>
                <a:lnTo>
                  <a:pt x="26" y="302"/>
                </a:lnTo>
                <a:lnTo>
                  <a:pt x="42" y="310"/>
                </a:lnTo>
                <a:lnTo>
                  <a:pt x="60" y="318"/>
                </a:lnTo>
                <a:lnTo>
                  <a:pt x="78" y="324"/>
                </a:lnTo>
                <a:lnTo>
                  <a:pt x="96" y="330"/>
                </a:lnTo>
                <a:lnTo>
                  <a:pt x="116" y="332"/>
                </a:lnTo>
                <a:lnTo>
                  <a:pt x="136" y="334"/>
                </a:lnTo>
                <a:lnTo>
                  <a:pt x="136" y="334"/>
                </a:lnTo>
                <a:lnTo>
                  <a:pt x="156" y="332"/>
                </a:lnTo>
                <a:lnTo>
                  <a:pt x="176" y="326"/>
                </a:lnTo>
                <a:lnTo>
                  <a:pt x="196" y="320"/>
                </a:lnTo>
                <a:lnTo>
                  <a:pt x="214" y="312"/>
                </a:lnTo>
                <a:lnTo>
                  <a:pt x="232" y="302"/>
                </a:lnTo>
                <a:lnTo>
                  <a:pt x="246" y="294"/>
                </a:lnTo>
                <a:lnTo>
                  <a:pt x="262" y="280"/>
                </a:lnTo>
                <a:lnTo>
                  <a:pt x="262" y="280"/>
                </a:lnTo>
                <a:lnTo>
                  <a:pt x="250" y="272"/>
                </a:lnTo>
                <a:lnTo>
                  <a:pt x="236" y="264"/>
                </a:lnTo>
                <a:lnTo>
                  <a:pt x="208" y="252"/>
                </a:lnTo>
                <a:lnTo>
                  <a:pt x="196" y="246"/>
                </a:lnTo>
                <a:lnTo>
                  <a:pt x="184" y="240"/>
                </a:lnTo>
                <a:lnTo>
                  <a:pt x="176" y="234"/>
                </a:lnTo>
                <a:lnTo>
                  <a:pt x="170" y="224"/>
                </a:lnTo>
                <a:lnTo>
                  <a:pt x="170" y="22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grpSp>
        <p:nvGrpSpPr>
          <p:cNvPr id="50" name="组 4"/>
          <p:cNvGrpSpPr/>
          <p:nvPr/>
        </p:nvGrpSpPr>
        <p:grpSpPr>
          <a:xfrm>
            <a:off x="9776968" y="3642741"/>
            <a:ext cx="832660" cy="997921"/>
            <a:chOff x="1536700" y="911225"/>
            <a:chExt cx="831850" cy="996950"/>
          </a:xfrm>
          <a:solidFill>
            <a:schemeClr val="bg1"/>
          </a:solidFill>
        </p:grpSpPr>
        <p:sp>
          <p:nvSpPr>
            <p:cNvPr id="51" name="Freeform 47"/>
            <p:cNvSpPr>
              <a:spLocks/>
            </p:cNvSpPr>
            <p:nvPr/>
          </p:nvSpPr>
          <p:spPr bwMode="auto">
            <a:xfrm>
              <a:off x="1838325" y="1765300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6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2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2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6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2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6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2" name="Freeform 48"/>
            <p:cNvSpPr>
              <a:spLocks/>
            </p:cNvSpPr>
            <p:nvPr/>
          </p:nvSpPr>
          <p:spPr bwMode="auto">
            <a:xfrm>
              <a:off x="1838325" y="1857375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4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0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0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4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0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0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4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3" name="Freeform 49"/>
            <p:cNvSpPr>
              <a:spLocks noEditPoints="1"/>
            </p:cNvSpPr>
            <p:nvPr/>
          </p:nvSpPr>
          <p:spPr bwMode="auto">
            <a:xfrm>
              <a:off x="1714500" y="1143000"/>
              <a:ext cx="476250" cy="581025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142" y="0"/>
                </a:cxn>
                <a:cxn ang="0">
                  <a:pos x="100" y="10"/>
                </a:cxn>
                <a:cxn ang="0">
                  <a:pos x="62" y="28"/>
                </a:cxn>
                <a:cxn ang="0">
                  <a:pos x="32" y="58"/>
                </a:cxn>
                <a:cxn ang="0">
                  <a:pos x="12" y="94"/>
                </a:cxn>
                <a:cxn ang="0">
                  <a:pos x="2" y="136"/>
                </a:cxn>
                <a:cxn ang="0">
                  <a:pos x="2" y="166"/>
                </a:cxn>
                <a:cxn ang="0">
                  <a:pos x="16" y="214"/>
                </a:cxn>
                <a:cxn ang="0">
                  <a:pos x="56" y="266"/>
                </a:cxn>
                <a:cxn ang="0">
                  <a:pos x="72" y="290"/>
                </a:cxn>
                <a:cxn ang="0">
                  <a:pos x="78" y="322"/>
                </a:cxn>
                <a:cxn ang="0">
                  <a:pos x="78" y="340"/>
                </a:cxn>
                <a:cxn ang="0">
                  <a:pos x="96" y="364"/>
                </a:cxn>
                <a:cxn ang="0">
                  <a:pos x="150" y="366"/>
                </a:cxn>
                <a:cxn ang="0">
                  <a:pos x="192" y="366"/>
                </a:cxn>
                <a:cxn ang="0">
                  <a:pos x="214" y="356"/>
                </a:cxn>
                <a:cxn ang="0">
                  <a:pos x="224" y="334"/>
                </a:cxn>
                <a:cxn ang="0">
                  <a:pos x="224" y="304"/>
                </a:cxn>
                <a:cxn ang="0">
                  <a:pos x="236" y="276"/>
                </a:cxn>
                <a:cxn ang="0">
                  <a:pos x="266" y="242"/>
                </a:cxn>
                <a:cxn ang="0">
                  <a:pos x="290" y="198"/>
                </a:cxn>
                <a:cxn ang="0">
                  <a:pos x="300" y="150"/>
                </a:cxn>
                <a:cxn ang="0">
                  <a:pos x="298" y="122"/>
                </a:cxn>
                <a:cxn ang="0">
                  <a:pos x="284" y="82"/>
                </a:cxn>
                <a:cxn ang="0">
                  <a:pos x="260" y="48"/>
                </a:cxn>
                <a:cxn ang="0">
                  <a:pos x="226" y="22"/>
                </a:cxn>
                <a:cxn ang="0">
                  <a:pos x="188" y="6"/>
                </a:cxn>
                <a:cxn ang="0">
                  <a:pos x="158" y="0"/>
                </a:cxn>
                <a:cxn ang="0">
                  <a:pos x="244" y="156"/>
                </a:cxn>
                <a:cxn ang="0">
                  <a:pos x="234" y="146"/>
                </a:cxn>
                <a:cxn ang="0">
                  <a:pos x="232" y="126"/>
                </a:cxn>
                <a:cxn ang="0">
                  <a:pos x="214" y="92"/>
                </a:cxn>
                <a:cxn ang="0">
                  <a:pos x="182" y="72"/>
                </a:cxn>
                <a:cxn ang="0">
                  <a:pos x="160" y="68"/>
                </a:cxn>
                <a:cxn ang="0">
                  <a:pos x="150" y="50"/>
                </a:cxn>
                <a:cxn ang="0">
                  <a:pos x="156" y="38"/>
                </a:cxn>
                <a:cxn ang="0">
                  <a:pos x="170" y="32"/>
                </a:cxn>
                <a:cxn ang="0">
                  <a:pos x="226" y="52"/>
                </a:cxn>
                <a:cxn ang="0">
                  <a:pos x="262" y="98"/>
                </a:cxn>
                <a:cxn ang="0">
                  <a:pos x="270" y="138"/>
                </a:cxn>
                <a:cxn ang="0">
                  <a:pos x="266" y="152"/>
                </a:cxn>
                <a:cxn ang="0">
                  <a:pos x="252" y="158"/>
                </a:cxn>
              </a:cxnLst>
              <a:rect l="0" t="0" r="r" b="b"/>
              <a:pathLst>
                <a:path w="300" h="366">
                  <a:moveTo>
                    <a:pt x="158" y="0"/>
                  </a:moveTo>
                  <a:lnTo>
                    <a:pt x="158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2"/>
                  </a:lnTo>
                  <a:lnTo>
                    <a:pt x="114" y="6"/>
                  </a:lnTo>
                  <a:lnTo>
                    <a:pt x="100" y="10"/>
                  </a:lnTo>
                  <a:lnTo>
                    <a:pt x="88" y="14"/>
                  </a:lnTo>
                  <a:lnTo>
                    <a:pt x="74" y="22"/>
                  </a:lnTo>
                  <a:lnTo>
                    <a:pt x="62" y="28"/>
                  </a:lnTo>
                  <a:lnTo>
                    <a:pt x="52" y="38"/>
                  </a:lnTo>
                  <a:lnTo>
                    <a:pt x="42" y="48"/>
                  </a:lnTo>
                  <a:lnTo>
                    <a:pt x="32" y="58"/>
                  </a:lnTo>
                  <a:lnTo>
                    <a:pt x="24" y="68"/>
                  </a:lnTo>
                  <a:lnTo>
                    <a:pt x="18" y="82"/>
                  </a:lnTo>
                  <a:lnTo>
                    <a:pt x="12" y="94"/>
                  </a:lnTo>
                  <a:lnTo>
                    <a:pt x="6" y="108"/>
                  </a:lnTo>
                  <a:lnTo>
                    <a:pt x="4" y="122"/>
                  </a:lnTo>
                  <a:lnTo>
                    <a:pt x="2" y="136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2" y="166"/>
                  </a:lnTo>
                  <a:lnTo>
                    <a:pt x="4" y="182"/>
                  </a:lnTo>
                  <a:lnTo>
                    <a:pt x="10" y="198"/>
                  </a:lnTo>
                  <a:lnTo>
                    <a:pt x="16" y="214"/>
                  </a:lnTo>
                  <a:lnTo>
                    <a:pt x="26" y="228"/>
                  </a:lnTo>
                  <a:lnTo>
                    <a:pt x="34" y="242"/>
                  </a:lnTo>
                  <a:lnTo>
                    <a:pt x="56" y="266"/>
                  </a:lnTo>
                  <a:lnTo>
                    <a:pt x="56" y="266"/>
                  </a:lnTo>
                  <a:lnTo>
                    <a:pt x="66" y="276"/>
                  </a:lnTo>
                  <a:lnTo>
                    <a:pt x="72" y="290"/>
                  </a:lnTo>
                  <a:lnTo>
                    <a:pt x="72" y="290"/>
                  </a:lnTo>
                  <a:lnTo>
                    <a:pt x="76" y="304"/>
                  </a:lnTo>
                  <a:lnTo>
                    <a:pt x="78" y="322"/>
                  </a:lnTo>
                  <a:lnTo>
                    <a:pt x="78" y="334"/>
                  </a:lnTo>
                  <a:lnTo>
                    <a:pt x="78" y="334"/>
                  </a:lnTo>
                  <a:lnTo>
                    <a:pt x="78" y="340"/>
                  </a:lnTo>
                  <a:lnTo>
                    <a:pt x="80" y="346"/>
                  </a:lnTo>
                  <a:lnTo>
                    <a:pt x="86" y="356"/>
                  </a:lnTo>
                  <a:lnTo>
                    <a:pt x="96" y="364"/>
                  </a:lnTo>
                  <a:lnTo>
                    <a:pt x="102" y="366"/>
                  </a:lnTo>
                  <a:lnTo>
                    <a:pt x="110" y="366"/>
                  </a:lnTo>
                  <a:lnTo>
                    <a:pt x="150" y="366"/>
                  </a:lnTo>
                  <a:lnTo>
                    <a:pt x="150" y="366"/>
                  </a:lnTo>
                  <a:lnTo>
                    <a:pt x="192" y="366"/>
                  </a:lnTo>
                  <a:lnTo>
                    <a:pt x="192" y="366"/>
                  </a:lnTo>
                  <a:lnTo>
                    <a:pt x="198" y="366"/>
                  </a:lnTo>
                  <a:lnTo>
                    <a:pt x="204" y="364"/>
                  </a:lnTo>
                  <a:lnTo>
                    <a:pt x="214" y="356"/>
                  </a:lnTo>
                  <a:lnTo>
                    <a:pt x="220" y="346"/>
                  </a:lnTo>
                  <a:lnTo>
                    <a:pt x="222" y="340"/>
                  </a:lnTo>
                  <a:lnTo>
                    <a:pt x="224" y="334"/>
                  </a:lnTo>
                  <a:lnTo>
                    <a:pt x="224" y="322"/>
                  </a:lnTo>
                  <a:lnTo>
                    <a:pt x="224" y="322"/>
                  </a:lnTo>
                  <a:lnTo>
                    <a:pt x="224" y="304"/>
                  </a:lnTo>
                  <a:lnTo>
                    <a:pt x="228" y="290"/>
                  </a:lnTo>
                  <a:lnTo>
                    <a:pt x="228" y="290"/>
                  </a:lnTo>
                  <a:lnTo>
                    <a:pt x="236" y="276"/>
                  </a:lnTo>
                  <a:lnTo>
                    <a:pt x="244" y="266"/>
                  </a:lnTo>
                  <a:lnTo>
                    <a:pt x="244" y="266"/>
                  </a:lnTo>
                  <a:lnTo>
                    <a:pt x="266" y="242"/>
                  </a:lnTo>
                  <a:lnTo>
                    <a:pt x="276" y="228"/>
                  </a:lnTo>
                  <a:lnTo>
                    <a:pt x="284" y="214"/>
                  </a:lnTo>
                  <a:lnTo>
                    <a:pt x="290" y="198"/>
                  </a:lnTo>
                  <a:lnTo>
                    <a:pt x="296" y="182"/>
                  </a:lnTo>
                  <a:lnTo>
                    <a:pt x="298" y="166"/>
                  </a:lnTo>
                  <a:lnTo>
                    <a:pt x="300" y="150"/>
                  </a:lnTo>
                  <a:lnTo>
                    <a:pt x="300" y="150"/>
                  </a:lnTo>
                  <a:lnTo>
                    <a:pt x="300" y="136"/>
                  </a:lnTo>
                  <a:lnTo>
                    <a:pt x="298" y="122"/>
                  </a:lnTo>
                  <a:lnTo>
                    <a:pt x="294" y="108"/>
                  </a:lnTo>
                  <a:lnTo>
                    <a:pt x="290" y="94"/>
                  </a:lnTo>
                  <a:lnTo>
                    <a:pt x="284" y="82"/>
                  </a:lnTo>
                  <a:lnTo>
                    <a:pt x="276" y="70"/>
                  </a:lnTo>
                  <a:lnTo>
                    <a:pt x="268" y="58"/>
                  </a:lnTo>
                  <a:lnTo>
                    <a:pt x="260" y="48"/>
                  </a:lnTo>
                  <a:lnTo>
                    <a:pt x="250" y="38"/>
                  </a:lnTo>
                  <a:lnTo>
                    <a:pt x="238" y="30"/>
                  </a:lnTo>
                  <a:lnTo>
                    <a:pt x="226" y="22"/>
                  </a:lnTo>
                  <a:lnTo>
                    <a:pt x="214" y="14"/>
                  </a:lnTo>
                  <a:lnTo>
                    <a:pt x="202" y="10"/>
                  </a:lnTo>
                  <a:lnTo>
                    <a:pt x="188" y="6"/>
                  </a:lnTo>
                  <a:lnTo>
                    <a:pt x="174" y="2"/>
                  </a:lnTo>
                  <a:lnTo>
                    <a:pt x="158" y="0"/>
                  </a:lnTo>
                  <a:lnTo>
                    <a:pt x="158" y="0"/>
                  </a:lnTo>
                  <a:close/>
                  <a:moveTo>
                    <a:pt x="252" y="158"/>
                  </a:moveTo>
                  <a:lnTo>
                    <a:pt x="252" y="158"/>
                  </a:lnTo>
                  <a:lnTo>
                    <a:pt x="244" y="156"/>
                  </a:lnTo>
                  <a:lnTo>
                    <a:pt x="238" y="152"/>
                  </a:lnTo>
                  <a:lnTo>
                    <a:pt x="238" y="152"/>
                  </a:lnTo>
                  <a:lnTo>
                    <a:pt x="234" y="146"/>
                  </a:lnTo>
                  <a:lnTo>
                    <a:pt x="232" y="138"/>
                  </a:lnTo>
                  <a:lnTo>
                    <a:pt x="232" y="138"/>
                  </a:lnTo>
                  <a:lnTo>
                    <a:pt x="232" y="126"/>
                  </a:lnTo>
                  <a:lnTo>
                    <a:pt x="228" y="112"/>
                  </a:lnTo>
                  <a:lnTo>
                    <a:pt x="222" y="102"/>
                  </a:lnTo>
                  <a:lnTo>
                    <a:pt x="214" y="92"/>
                  </a:lnTo>
                  <a:lnTo>
                    <a:pt x="204" y="84"/>
                  </a:lnTo>
                  <a:lnTo>
                    <a:pt x="194" y="76"/>
                  </a:lnTo>
                  <a:lnTo>
                    <a:pt x="182" y="72"/>
                  </a:lnTo>
                  <a:lnTo>
                    <a:pt x="168" y="70"/>
                  </a:lnTo>
                  <a:lnTo>
                    <a:pt x="168" y="70"/>
                  </a:lnTo>
                  <a:lnTo>
                    <a:pt x="160" y="68"/>
                  </a:lnTo>
                  <a:lnTo>
                    <a:pt x="154" y="64"/>
                  </a:lnTo>
                  <a:lnTo>
                    <a:pt x="150" y="58"/>
                  </a:lnTo>
                  <a:lnTo>
                    <a:pt x="150" y="50"/>
                  </a:lnTo>
                  <a:lnTo>
                    <a:pt x="150" y="50"/>
                  </a:lnTo>
                  <a:lnTo>
                    <a:pt x="152" y="42"/>
                  </a:lnTo>
                  <a:lnTo>
                    <a:pt x="156" y="38"/>
                  </a:lnTo>
                  <a:lnTo>
                    <a:pt x="162" y="34"/>
                  </a:lnTo>
                  <a:lnTo>
                    <a:pt x="170" y="32"/>
                  </a:lnTo>
                  <a:lnTo>
                    <a:pt x="170" y="32"/>
                  </a:lnTo>
                  <a:lnTo>
                    <a:pt x="190" y="36"/>
                  </a:lnTo>
                  <a:lnTo>
                    <a:pt x="210" y="42"/>
                  </a:lnTo>
                  <a:lnTo>
                    <a:pt x="226" y="52"/>
                  </a:lnTo>
                  <a:lnTo>
                    <a:pt x="242" y="66"/>
                  </a:lnTo>
                  <a:lnTo>
                    <a:pt x="254" y="80"/>
                  </a:lnTo>
                  <a:lnTo>
                    <a:pt x="262" y="98"/>
                  </a:lnTo>
                  <a:lnTo>
                    <a:pt x="268" y="118"/>
                  </a:lnTo>
                  <a:lnTo>
                    <a:pt x="270" y="138"/>
                  </a:lnTo>
                  <a:lnTo>
                    <a:pt x="270" y="138"/>
                  </a:lnTo>
                  <a:lnTo>
                    <a:pt x="270" y="146"/>
                  </a:lnTo>
                  <a:lnTo>
                    <a:pt x="266" y="152"/>
                  </a:lnTo>
                  <a:lnTo>
                    <a:pt x="266" y="152"/>
                  </a:lnTo>
                  <a:lnTo>
                    <a:pt x="260" y="156"/>
                  </a:lnTo>
                  <a:lnTo>
                    <a:pt x="252" y="158"/>
                  </a:lnTo>
                  <a:lnTo>
                    <a:pt x="252" y="15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1838325" y="1609725"/>
              <a:ext cx="234950" cy="1143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1838325" y="1765300"/>
              <a:ext cx="234950" cy="508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6" name="Freeform 52"/>
            <p:cNvSpPr>
              <a:spLocks/>
            </p:cNvSpPr>
            <p:nvPr/>
          </p:nvSpPr>
          <p:spPr bwMode="auto">
            <a:xfrm>
              <a:off x="1927225" y="911225"/>
              <a:ext cx="53975" cy="180975"/>
            </a:xfrm>
            <a:custGeom>
              <a:avLst/>
              <a:gdLst/>
              <a:ahLst/>
              <a:cxnLst>
                <a:cxn ang="0">
                  <a:pos x="34" y="112"/>
                </a:cxn>
                <a:cxn ang="0">
                  <a:pos x="4" y="114"/>
                </a:cxn>
                <a:cxn ang="0">
                  <a:pos x="0" y="0"/>
                </a:cxn>
                <a:cxn ang="0">
                  <a:pos x="28" y="0"/>
                </a:cxn>
                <a:cxn ang="0">
                  <a:pos x="34" y="112"/>
                </a:cxn>
              </a:cxnLst>
              <a:rect l="0" t="0" r="r" b="b"/>
              <a:pathLst>
                <a:path w="34" h="114">
                  <a:moveTo>
                    <a:pt x="34" y="112"/>
                  </a:moveTo>
                  <a:lnTo>
                    <a:pt x="4" y="114"/>
                  </a:lnTo>
                  <a:lnTo>
                    <a:pt x="0" y="0"/>
                  </a:lnTo>
                  <a:lnTo>
                    <a:pt x="28" y="0"/>
                  </a:lnTo>
                  <a:lnTo>
                    <a:pt x="34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7" name="Freeform 53"/>
            <p:cNvSpPr>
              <a:spLocks/>
            </p:cNvSpPr>
            <p:nvPr/>
          </p:nvSpPr>
          <p:spPr bwMode="auto">
            <a:xfrm>
              <a:off x="1698625" y="962025"/>
              <a:ext cx="130175" cy="177800"/>
            </a:xfrm>
            <a:custGeom>
              <a:avLst/>
              <a:gdLst/>
              <a:ahLst/>
              <a:cxnLst>
                <a:cxn ang="0">
                  <a:pos x="58" y="112"/>
                </a:cxn>
                <a:cxn ang="0">
                  <a:pos x="0" y="14"/>
                </a:cxn>
                <a:cxn ang="0">
                  <a:pos x="26" y="0"/>
                </a:cxn>
                <a:cxn ang="0">
                  <a:pos x="82" y="98"/>
                </a:cxn>
                <a:cxn ang="0">
                  <a:pos x="58" y="112"/>
                </a:cxn>
              </a:cxnLst>
              <a:rect l="0" t="0" r="r" b="b"/>
              <a:pathLst>
                <a:path w="82" h="112">
                  <a:moveTo>
                    <a:pt x="58" y="112"/>
                  </a:moveTo>
                  <a:lnTo>
                    <a:pt x="0" y="14"/>
                  </a:lnTo>
                  <a:lnTo>
                    <a:pt x="26" y="0"/>
                  </a:lnTo>
                  <a:lnTo>
                    <a:pt x="82" y="98"/>
                  </a:lnTo>
                  <a:lnTo>
                    <a:pt x="58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8" name="Freeform 54"/>
            <p:cNvSpPr>
              <a:spLocks/>
            </p:cNvSpPr>
            <p:nvPr/>
          </p:nvSpPr>
          <p:spPr bwMode="auto">
            <a:xfrm>
              <a:off x="1536700" y="1123950"/>
              <a:ext cx="180975" cy="1301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14" y="58"/>
                </a:cxn>
                <a:cxn ang="0">
                  <a:pos x="98" y="82"/>
                </a:cxn>
                <a:cxn ang="0">
                  <a:pos x="0" y="26"/>
                </a:cxn>
                <a:cxn ang="0">
                  <a:pos x="14" y="0"/>
                </a:cxn>
              </a:cxnLst>
              <a:rect l="0" t="0" r="r" b="b"/>
              <a:pathLst>
                <a:path w="114" h="82">
                  <a:moveTo>
                    <a:pt x="14" y="0"/>
                  </a:moveTo>
                  <a:lnTo>
                    <a:pt x="114" y="58"/>
                  </a:lnTo>
                  <a:lnTo>
                    <a:pt x="98" y="82"/>
                  </a:lnTo>
                  <a:lnTo>
                    <a:pt x="0" y="26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59" name="Freeform 55"/>
            <p:cNvSpPr>
              <a:spLocks/>
            </p:cNvSpPr>
            <p:nvPr/>
          </p:nvSpPr>
          <p:spPr bwMode="auto">
            <a:xfrm>
              <a:off x="2190750" y="1123950"/>
              <a:ext cx="177800" cy="130175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58"/>
                </a:cxn>
                <a:cxn ang="0">
                  <a:pos x="14" y="82"/>
                </a:cxn>
                <a:cxn ang="0">
                  <a:pos x="112" y="26"/>
                </a:cxn>
                <a:cxn ang="0">
                  <a:pos x="98" y="0"/>
                </a:cxn>
              </a:cxnLst>
              <a:rect l="0" t="0" r="r" b="b"/>
              <a:pathLst>
                <a:path w="112" h="82">
                  <a:moveTo>
                    <a:pt x="98" y="0"/>
                  </a:moveTo>
                  <a:lnTo>
                    <a:pt x="0" y="58"/>
                  </a:lnTo>
                  <a:lnTo>
                    <a:pt x="14" y="82"/>
                  </a:lnTo>
                  <a:lnTo>
                    <a:pt x="112" y="26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  <p:sp>
          <p:nvSpPr>
            <p:cNvPr id="60" name="Freeform 56"/>
            <p:cNvSpPr>
              <a:spLocks/>
            </p:cNvSpPr>
            <p:nvPr/>
          </p:nvSpPr>
          <p:spPr bwMode="auto">
            <a:xfrm>
              <a:off x="2076450" y="962025"/>
              <a:ext cx="130175" cy="177800"/>
            </a:xfrm>
            <a:custGeom>
              <a:avLst/>
              <a:gdLst/>
              <a:ahLst/>
              <a:cxnLst>
                <a:cxn ang="0">
                  <a:pos x="26" y="112"/>
                </a:cxn>
                <a:cxn ang="0">
                  <a:pos x="0" y="98"/>
                </a:cxn>
                <a:cxn ang="0">
                  <a:pos x="58" y="0"/>
                </a:cxn>
                <a:cxn ang="0">
                  <a:pos x="82" y="14"/>
                </a:cxn>
                <a:cxn ang="0">
                  <a:pos x="26" y="112"/>
                </a:cxn>
              </a:cxnLst>
              <a:rect l="0" t="0" r="r" b="b"/>
              <a:pathLst>
                <a:path w="82" h="112">
                  <a:moveTo>
                    <a:pt x="26" y="112"/>
                  </a:moveTo>
                  <a:lnTo>
                    <a:pt x="0" y="98"/>
                  </a:lnTo>
                  <a:lnTo>
                    <a:pt x="58" y="0"/>
                  </a:lnTo>
                  <a:lnTo>
                    <a:pt x="82" y="14"/>
                  </a:lnTo>
                  <a:lnTo>
                    <a:pt x="26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u="sng"/>
            </a:p>
          </p:txBody>
        </p:sp>
      </p:grpSp>
      <p:sp>
        <p:nvSpPr>
          <p:cNvPr id="68" name="矩形 4">
            <a:extLst>
              <a:ext uri="{FF2B5EF4-FFF2-40B4-BE49-F238E27FC236}">
                <a16:creationId xmlns:a16="http://schemas.microsoft.com/office/drawing/2014/main" id="{F629E085-FF34-4244-9ADD-EB6F92A4CF18}"/>
              </a:ext>
            </a:extLst>
          </p:cNvPr>
          <p:cNvSpPr/>
          <p:nvPr/>
        </p:nvSpPr>
        <p:spPr>
          <a:xfrm>
            <a:off x="1916505" y="4385471"/>
            <a:ext cx="6312052" cy="112632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71" name="矩形 42">
            <a:extLst>
              <a:ext uri="{FF2B5EF4-FFF2-40B4-BE49-F238E27FC236}">
                <a16:creationId xmlns:a16="http://schemas.microsoft.com/office/drawing/2014/main" id="{52252133-BCCD-4823-BE47-874F6F2B8665}"/>
              </a:ext>
            </a:extLst>
          </p:cNvPr>
          <p:cNvSpPr/>
          <p:nvPr/>
        </p:nvSpPr>
        <p:spPr>
          <a:xfrm>
            <a:off x="1916505" y="4314299"/>
            <a:ext cx="6219198" cy="120032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lvl="0" algn="just">
              <a:spcAft>
                <a:spcPts val="1000"/>
              </a:spcAft>
            </a:pPr>
            <a:r>
              <a:rPr lang="en-ID" sz="2400" dirty="0" err="1">
                <a:solidFill>
                  <a:schemeClr val="bg1"/>
                </a:solidFill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apat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menjadi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acuan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melakukan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penelitian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selanjutnya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relevan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penelitian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ini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3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News Gothic MT" charset="0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5E8436A-1A80-4460-9741-7F89FA3E12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29" name="矩形 62">
            <a:extLst>
              <a:ext uri="{FF2B5EF4-FFF2-40B4-BE49-F238E27FC236}">
                <a16:creationId xmlns:a16="http://schemas.microsoft.com/office/drawing/2014/main" id="{D30E5B77-BBAA-42CC-AE8F-4EC90D698722}"/>
              </a:ext>
            </a:extLst>
          </p:cNvPr>
          <p:cNvSpPr/>
          <p:nvPr/>
        </p:nvSpPr>
        <p:spPr>
          <a:xfrm rot="16200000" flipH="1">
            <a:off x="172721" y="1051864"/>
            <a:ext cx="1489711" cy="1492246"/>
          </a:xfrm>
          <a:prstGeom prst="wedgeEllipseCallout">
            <a:avLst/>
          </a:prstGeom>
          <a:solidFill>
            <a:srgbClr val="091A2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2" rIns="91424" bIns="45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3F581-2D2D-4342-A7FD-5244E7337028}"/>
              </a:ext>
            </a:extLst>
          </p:cNvPr>
          <p:cNvSpPr txBox="1"/>
          <p:nvPr/>
        </p:nvSpPr>
        <p:spPr>
          <a:xfrm>
            <a:off x="248449" y="1333500"/>
            <a:ext cx="1339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Bagi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Penulis</a:t>
            </a:r>
            <a:endParaRPr lang="en-ID" sz="2800" dirty="0">
              <a:solidFill>
                <a:schemeClr val="bg1"/>
              </a:solidFill>
            </a:endParaRPr>
          </a:p>
        </p:txBody>
      </p:sp>
      <p:sp>
        <p:nvSpPr>
          <p:cNvPr id="39" name="矩形 42">
            <a:extLst>
              <a:ext uri="{FF2B5EF4-FFF2-40B4-BE49-F238E27FC236}">
                <a16:creationId xmlns:a16="http://schemas.microsoft.com/office/drawing/2014/main" id="{60694F4B-FE63-4285-BA7E-594CB3EE56E9}"/>
              </a:ext>
            </a:extLst>
          </p:cNvPr>
          <p:cNvSpPr/>
          <p:nvPr/>
        </p:nvSpPr>
        <p:spPr>
          <a:xfrm>
            <a:off x="1839101" y="938989"/>
            <a:ext cx="6336914" cy="304698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just"/>
            <a:r>
              <a:rPr lang="en-ID" sz="2400" dirty="0" err="1">
                <a:solidFill>
                  <a:schemeClr val="bg1"/>
                </a:solidFill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enambah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wawasan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pemahaman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mengenai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pemanfaatan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penerapan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decision support systems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perancangan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suatu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program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komputerisasi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serta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sebagai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sarana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mengimplementasikan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ilmu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telah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diperoleh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selama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mengikuti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bangku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perkuliahan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di STMIK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Dipanegara</a:t>
            </a:r>
            <a:r>
              <a:rPr lang="en-ID" sz="2400" dirty="0">
                <a:solidFill>
                  <a:schemeClr val="bg1"/>
                </a:solidFill>
                <a:effectLst/>
                <a:latin typeface="HelveticaNeueLT Pro 67 MdCn" panose="020B0606030502030204"/>
                <a:ea typeface="Microsoft YaHei" panose="020B0503020204020204" pitchFamily="34" charset="-122"/>
                <a:cs typeface="Times New Roman" panose="02020603050405020304" pitchFamily="18" charset="0"/>
              </a:rPr>
              <a:t> Makassar.</a:t>
            </a:r>
            <a:endParaRPr lang="zh-CN" altLang="en-US" sz="2400" dirty="0">
              <a:solidFill>
                <a:schemeClr val="bg1"/>
              </a:solidFill>
              <a:latin typeface="HelveticaNeueLT Pro 67 MdCn" panose="020B0606030502030204"/>
              <a:ea typeface="微软雅黑" panose="020B0503020204020204" pitchFamily="34" charset="-122"/>
              <a:sym typeface="News Gothic MT" charset="0"/>
            </a:endParaRPr>
          </a:p>
        </p:txBody>
      </p:sp>
      <p:sp>
        <p:nvSpPr>
          <p:cNvPr id="40" name="矩形 62">
            <a:extLst>
              <a:ext uri="{FF2B5EF4-FFF2-40B4-BE49-F238E27FC236}">
                <a16:creationId xmlns:a16="http://schemas.microsoft.com/office/drawing/2014/main" id="{5902ED16-A8E7-43EA-AF8C-25AFACDE5B7A}"/>
              </a:ext>
            </a:extLst>
          </p:cNvPr>
          <p:cNvSpPr/>
          <p:nvPr/>
        </p:nvSpPr>
        <p:spPr>
          <a:xfrm rot="16200000" flipH="1">
            <a:off x="105442" y="4308177"/>
            <a:ext cx="1489711" cy="1492246"/>
          </a:xfrm>
          <a:prstGeom prst="wedgeEllipseCallout">
            <a:avLst/>
          </a:prstGeom>
          <a:solidFill>
            <a:srgbClr val="091A2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2" rIns="91424" bIns="45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B1DC13-C96E-4B2D-9C05-0D09ED1AA033}"/>
              </a:ext>
            </a:extLst>
          </p:cNvPr>
          <p:cNvSpPr txBox="1"/>
          <p:nvPr/>
        </p:nvSpPr>
        <p:spPr>
          <a:xfrm>
            <a:off x="181169" y="4589813"/>
            <a:ext cx="1642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Bagi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Akademik</a:t>
            </a:r>
            <a:endParaRPr lang="en-ID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23742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等腰三角形 2"/>
          <p:cNvSpPr/>
          <p:nvPr/>
        </p:nvSpPr>
        <p:spPr>
          <a:xfrm rot="18900000">
            <a:off x="5120198" y="1563265"/>
            <a:ext cx="1349130" cy="2324105"/>
          </a:xfrm>
          <a:custGeom>
            <a:avLst/>
            <a:gdLst/>
            <a:ahLst/>
            <a:cxnLst/>
            <a:rect l="l" t="t" r="r" b="b"/>
            <a:pathLst>
              <a:path w="895732" h="1543050">
                <a:moveTo>
                  <a:pt x="763" y="0"/>
                </a:moveTo>
                <a:lnTo>
                  <a:pt x="895732" y="1543050"/>
                </a:lnTo>
                <a:lnTo>
                  <a:pt x="538822" y="1543050"/>
                </a:lnTo>
                <a:cubicBezTo>
                  <a:pt x="538368" y="1245573"/>
                  <a:pt x="297428" y="1004503"/>
                  <a:pt x="0" y="1003876"/>
                </a:cubicBezTo>
                <a:lnTo>
                  <a:pt x="0" y="1316"/>
                </a:lnTo>
                <a:close/>
              </a:path>
            </a:pathLst>
          </a:custGeom>
          <a:solidFill>
            <a:srgbClr val="16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等腰三角形 2"/>
          <p:cNvSpPr/>
          <p:nvPr/>
        </p:nvSpPr>
        <p:spPr>
          <a:xfrm rot="2700000">
            <a:off x="5624955" y="2052026"/>
            <a:ext cx="2695961" cy="2324105"/>
          </a:xfrm>
          <a:custGeom>
            <a:avLst/>
            <a:gdLst/>
            <a:ahLst/>
            <a:cxnLst/>
            <a:rect l="l" t="t" r="r" b="b"/>
            <a:pathLst>
              <a:path w="1789938" h="1543050">
                <a:moveTo>
                  <a:pt x="894969" y="0"/>
                </a:moveTo>
                <a:lnTo>
                  <a:pt x="1789938" y="1543050"/>
                </a:lnTo>
                <a:lnTo>
                  <a:pt x="1433028" y="1543050"/>
                </a:lnTo>
                <a:cubicBezTo>
                  <a:pt x="1432573" y="1245097"/>
                  <a:pt x="1190863" y="1003732"/>
                  <a:pt x="892779" y="1003732"/>
                </a:cubicBezTo>
                <a:cubicBezTo>
                  <a:pt x="594695" y="1003732"/>
                  <a:pt x="352986" y="1245097"/>
                  <a:pt x="352531" y="1543050"/>
                </a:cubicBezTo>
                <a:lnTo>
                  <a:pt x="0" y="1543050"/>
                </a:lnTo>
                <a:close/>
              </a:path>
            </a:pathLst>
          </a:custGeom>
          <a:solidFill>
            <a:srgbClr val="103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等腰三角形 2"/>
          <p:cNvSpPr/>
          <p:nvPr/>
        </p:nvSpPr>
        <p:spPr>
          <a:xfrm rot="8100000">
            <a:off x="5603988" y="3694739"/>
            <a:ext cx="2695963" cy="2324105"/>
          </a:xfrm>
          <a:custGeom>
            <a:avLst/>
            <a:gdLst/>
            <a:ahLst/>
            <a:cxnLst/>
            <a:rect l="l" t="t" r="r" b="b"/>
            <a:pathLst>
              <a:path w="1789938" h="1543050">
                <a:moveTo>
                  <a:pt x="894969" y="0"/>
                </a:moveTo>
                <a:lnTo>
                  <a:pt x="1789938" y="1543050"/>
                </a:lnTo>
                <a:lnTo>
                  <a:pt x="1433028" y="1543050"/>
                </a:lnTo>
                <a:cubicBezTo>
                  <a:pt x="1432573" y="1245097"/>
                  <a:pt x="1190863" y="1003732"/>
                  <a:pt x="892779" y="1003732"/>
                </a:cubicBezTo>
                <a:cubicBezTo>
                  <a:pt x="594695" y="1003732"/>
                  <a:pt x="352986" y="1245097"/>
                  <a:pt x="352531" y="1543050"/>
                </a:cubicBezTo>
                <a:lnTo>
                  <a:pt x="0" y="1543050"/>
                </a:lnTo>
                <a:close/>
              </a:path>
            </a:pathLst>
          </a:custGeom>
          <a:solidFill>
            <a:srgbClr val="09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等腰三角形 2"/>
          <p:cNvSpPr/>
          <p:nvPr/>
        </p:nvSpPr>
        <p:spPr>
          <a:xfrm rot="13500000">
            <a:off x="3972221" y="3681216"/>
            <a:ext cx="2695961" cy="2324105"/>
          </a:xfrm>
          <a:custGeom>
            <a:avLst/>
            <a:gdLst/>
            <a:ahLst/>
            <a:cxnLst/>
            <a:rect l="l" t="t" r="r" b="b"/>
            <a:pathLst>
              <a:path w="1789938" h="1543050">
                <a:moveTo>
                  <a:pt x="894969" y="0"/>
                </a:moveTo>
                <a:lnTo>
                  <a:pt x="1789938" y="1543050"/>
                </a:lnTo>
                <a:lnTo>
                  <a:pt x="1433028" y="1543050"/>
                </a:lnTo>
                <a:cubicBezTo>
                  <a:pt x="1432573" y="1245097"/>
                  <a:pt x="1190863" y="1003732"/>
                  <a:pt x="892779" y="1003732"/>
                </a:cubicBezTo>
                <a:cubicBezTo>
                  <a:pt x="594695" y="1003732"/>
                  <a:pt x="352986" y="1245097"/>
                  <a:pt x="352531" y="1543050"/>
                </a:cubicBezTo>
                <a:lnTo>
                  <a:pt x="0" y="1543050"/>
                </a:lnTo>
                <a:close/>
              </a:path>
            </a:pathLst>
          </a:custGeom>
          <a:solidFill>
            <a:srgbClr val="040D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等腰三角形 2"/>
          <p:cNvSpPr/>
          <p:nvPr/>
        </p:nvSpPr>
        <p:spPr>
          <a:xfrm rot="18900000" flipH="1">
            <a:off x="4177174" y="2514173"/>
            <a:ext cx="1349130" cy="2324105"/>
          </a:xfrm>
          <a:custGeom>
            <a:avLst/>
            <a:gdLst/>
            <a:ahLst/>
            <a:cxnLst/>
            <a:rect l="l" t="t" r="r" b="b"/>
            <a:pathLst>
              <a:path w="895732" h="1543050">
                <a:moveTo>
                  <a:pt x="763" y="0"/>
                </a:moveTo>
                <a:lnTo>
                  <a:pt x="895732" y="1543050"/>
                </a:lnTo>
                <a:lnTo>
                  <a:pt x="538822" y="1543050"/>
                </a:lnTo>
                <a:cubicBezTo>
                  <a:pt x="538368" y="1245573"/>
                  <a:pt x="297428" y="1004503"/>
                  <a:pt x="0" y="1003876"/>
                </a:cubicBezTo>
                <a:lnTo>
                  <a:pt x="0" y="1316"/>
                </a:lnTo>
                <a:close/>
              </a:path>
            </a:pathLst>
          </a:custGeom>
          <a:solidFill>
            <a:srgbClr val="16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矩形 7"/>
          <p:cNvSpPr>
            <a:spLocks noChangeArrowheads="1"/>
          </p:cNvSpPr>
          <p:nvPr/>
        </p:nvSpPr>
        <p:spPr bwMode="auto">
          <a:xfrm>
            <a:off x="6993809" y="2428335"/>
            <a:ext cx="5822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dirty="0">
                <a:solidFill>
                  <a:schemeClr val="bg1"/>
                </a:solidFill>
                <a:latin typeface="Broadway" pitchFamily="82" charset="0"/>
              </a:rPr>
              <a:t>2</a:t>
            </a:r>
            <a:endParaRPr lang="zh-CN" altLang="en-US" sz="4800" dirty="0">
              <a:solidFill>
                <a:schemeClr val="bg1"/>
              </a:solidFill>
              <a:latin typeface="Broadway" pitchFamily="82" charset="0"/>
            </a:endParaRPr>
          </a:p>
        </p:txBody>
      </p:sp>
      <p:sp>
        <p:nvSpPr>
          <p:cNvPr id="28" name="矩形 7"/>
          <p:cNvSpPr>
            <a:spLocks noChangeArrowheads="1"/>
          </p:cNvSpPr>
          <p:nvPr/>
        </p:nvSpPr>
        <p:spPr bwMode="auto">
          <a:xfrm>
            <a:off x="7004166" y="4737042"/>
            <a:ext cx="5822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dirty="0">
                <a:solidFill>
                  <a:schemeClr val="bg1"/>
                </a:solidFill>
                <a:latin typeface="Broadway" pitchFamily="82" charset="0"/>
              </a:rPr>
              <a:t>4</a:t>
            </a:r>
            <a:endParaRPr lang="zh-CN" altLang="en-US" sz="4800" dirty="0">
              <a:solidFill>
                <a:schemeClr val="bg1"/>
              </a:solidFill>
              <a:latin typeface="Broadway" pitchFamily="82" charset="0"/>
            </a:endParaRPr>
          </a:p>
        </p:txBody>
      </p:sp>
      <p:sp>
        <p:nvSpPr>
          <p:cNvPr id="29" name="矩形 7"/>
          <p:cNvSpPr>
            <a:spLocks noChangeArrowheads="1"/>
          </p:cNvSpPr>
          <p:nvPr/>
        </p:nvSpPr>
        <p:spPr bwMode="auto">
          <a:xfrm>
            <a:off x="4711143" y="4727515"/>
            <a:ext cx="5822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dirty="0">
                <a:solidFill>
                  <a:schemeClr val="bg1"/>
                </a:solidFill>
                <a:latin typeface="Broadway" pitchFamily="82" charset="0"/>
              </a:rPr>
              <a:t>3</a:t>
            </a:r>
            <a:endParaRPr lang="zh-CN" altLang="en-US" sz="4800" dirty="0">
              <a:solidFill>
                <a:schemeClr val="bg1"/>
              </a:solidFill>
              <a:latin typeface="Broadway" pitchFamily="82" charset="0"/>
            </a:endParaRPr>
          </a:p>
        </p:txBody>
      </p:sp>
      <p:sp>
        <p:nvSpPr>
          <p:cNvPr id="30" name="矩形 7"/>
          <p:cNvSpPr>
            <a:spLocks noChangeArrowheads="1"/>
          </p:cNvSpPr>
          <p:nvPr/>
        </p:nvSpPr>
        <p:spPr bwMode="auto">
          <a:xfrm>
            <a:off x="4682047" y="2428336"/>
            <a:ext cx="5822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dirty="0">
                <a:solidFill>
                  <a:schemeClr val="bg1"/>
                </a:solidFill>
                <a:latin typeface="Broadway" pitchFamily="82" charset="0"/>
              </a:rPr>
              <a:t>1</a:t>
            </a:r>
            <a:endParaRPr lang="zh-CN" altLang="en-US" sz="4800" dirty="0">
              <a:solidFill>
                <a:schemeClr val="bg1"/>
              </a:solidFill>
              <a:latin typeface="Broadway" pitchFamily="82" charset="0"/>
            </a:endParaRPr>
          </a:p>
        </p:txBody>
      </p:sp>
      <p:sp>
        <p:nvSpPr>
          <p:cNvPr id="32" name="矩形 6"/>
          <p:cNvSpPr>
            <a:spLocks noChangeArrowheads="1"/>
          </p:cNvSpPr>
          <p:nvPr/>
        </p:nvSpPr>
        <p:spPr bwMode="auto">
          <a:xfrm>
            <a:off x="25401" y="1862907"/>
            <a:ext cx="445010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PT. Maharani Infotech Solution Interior yang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merupakan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sebuah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perusahaan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swasta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yang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bergerak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dibidang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teknologi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informasi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solidFill>
                <a:srgbClr val="181715"/>
              </a:solidFill>
              <a:latin typeface="Century Gothic" pitchFamily="34" charset="0"/>
            </a:endParaRPr>
          </a:p>
        </p:txBody>
      </p:sp>
      <p:sp>
        <p:nvSpPr>
          <p:cNvPr id="34" name="矩形 6"/>
          <p:cNvSpPr>
            <a:spLocks noChangeArrowheads="1"/>
          </p:cNvSpPr>
          <p:nvPr/>
        </p:nvSpPr>
        <p:spPr bwMode="auto">
          <a:xfrm>
            <a:off x="-38454" y="4536715"/>
            <a:ext cx="453291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Maka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diperlukan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sebuah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SPK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menggunakan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metode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MAUT yang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dapat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memperhitungkan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segala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kriteria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yang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mendukung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dalam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proses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pengambilan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keputusan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karyawan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terbaik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dirty="0">
              <a:solidFill>
                <a:srgbClr val="181715"/>
              </a:solidFill>
              <a:latin typeface="Century Gothic" pitchFamily="34" charset="0"/>
            </a:endParaRPr>
          </a:p>
        </p:txBody>
      </p:sp>
      <p:sp>
        <p:nvSpPr>
          <p:cNvPr id="36" name="矩形 6"/>
          <p:cNvSpPr>
            <a:spLocks noChangeArrowheads="1"/>
          </p:cNvSpPr>
          <p:nvPr/>
        </p:nvSpPr>
        <p:spPr bwMode="auto">
          <a:xfrm>
            <a:off x="7795444" y="1615704"/>
            <a:ext cx="436817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Selama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PT. Maharani Infotech Solution Interior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belum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memiliki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sistem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untuk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menentukan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karyawan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terbaik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yang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nantinya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dapat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memudahkan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perusahaan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dalam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melakukan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penilaian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yang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lebih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akurat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efektif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dan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efisien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dirty="0">
              <a:solidFill>
                <a:srgbClr val="181715"/>
              </a:solidFill>
              <a:latin typeface="Century Gothic" pitchFamily="34" charset="0"/>
            </a:endParaRPr>
          </a:p>
        </p:txBody>
      </p:sp>
      <p:sp>
        <p:nvSpPr>
          <p:cNvPr id="38" name="矩形 6"/>
          <p:cNvSpPr>
            <a:spLocks noChangeArrowheads="1"/>
          </p:cNvSpPr>
          <p:nvPr/>
        </p:nvSpPr>
        <p:spPr bwMode="auto">
          <a:xfrm>
            <a:off x="7811123" y="4550928"/>
            <a:ext cx="436817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Diharapkan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dengan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adanya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sistem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pendukung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keputusan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pemilihan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karyawan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terbaik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dapat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memberikan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hasil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yang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akurat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dalam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proses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pemilihan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karyawan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ID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terbaik</a:t>
            </a:r>
            <a:r>
              <a:rPr lang="en-ID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dirty="0">
              <a:solidFill>
                <a:srgbClr val="181715"/>
              </a:solidFill>
              <a:latin typeface="Century Gothic" pitchFamily="34" charset="0"/>
            </a:endParaRPr>
          </a:p>
        </p:txBody>
      </p:sp>
      <p:sp>
        <p:nvSpPr>
          <p:cNvPr id="40" name="椭圆形标注 39"/>
          <p:cNvSpPr/>
          <p:nvPr/>
        </p:nvSpPr>
        <p:spPr>
          <a:xfrm>
            <a:off x="5303613" y="3192285"/>
            <a:ext cx="1662695" cy="1643219"/>
          </a:xfrm>
          <a:prstGeom prst="wedgeEllipseCallout">
            <a:avLst/>
          </a:prstGeom>
          <a:solidFill>
            <a:schemeClr val="bg1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/>
          </a:p>
        </p:txBody>
      </p:sp>
      <p:sp>
        <p:nvSpPr>
          <p:cNvPr id="56" name="矩形 39"/>
          <p:cNvSpPr/>
          <p:nvPr/>
        </p:nvSpPr>
        <p:spPr>
          <a:xfrm>
            <a:off x="337349" y="187249"/>
            <a:ext cx="3791418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pPr algn="just"/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KERANGKA PIKIR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>
            <a:cxnSpLocks/>
          </p:cNvCxnSpPr>
          <p:nvPr/>
        </p:nvCxnSpPr>
        <p:spPr>
          <a:xfrm>
            <a:off x="437642" y="805833"/>
            <a:ext cx="3519542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 4"/>
          <p:cNvGrpSpPr/>
          <p:nvPr/>
        </p:nvGrpSpPr>
        <p:grpSpPr>
          <a:xfrm>
            <a:off x="5719532" y="3548236"/>
            <a:ext cx="814956" cy="976703"/>
            <a:chOff x="1536700" y="911225"/>
            <a:chExt cx="831850" cy="996950"/>
          </a:xfrm>
          <a:solidFill>
            <a:schemeClr val="bg1">
              <a:lumMod val="65000"/>
            </a:schemeClr>
          </a:solidFill>
        </p:grpSpPr>
        <p:sp>
          <p:nvSpPr>
            <p:cNvPr id="61" name="Freeform 47"/>
            <p:cNvSpPr>
              <a:spLocks/>
            </p:cNvSpPr>
            <p:nvPr/>
          </p:nvSpPr>
          <p:spPr bwMode="auto">
            <a:xfrm>
              <a:off x="1838325" y="1765300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6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2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2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6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2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6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2" name="Freeform 48"/>
            <p:cNvSpPr>
              <a:spLocks/>
            </p:cNvSpPr>
            <p:nvPr/>
          </p:nvSpPr>
          <p:spPr bwMode="auto">
            <a:xfrm>
              <a:off x="1838325" y="1857375"/>
              <a:ext cx="234950" cy="50800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8" y="2"/>
                </a:cxn>
                <a:cxn ang="0">
                  <a:pos x="4" y="4"/>
                </a:cxn>
                <a:cxn ang="0">
                  <a:pos x="0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22"/>
                </a:cxn>
                <a:cxn ang="0">
                  <a:pos x="4" y="28"/>
                </a:cxn>
                <a:cxn ang="0">
                  <a:pos x="8" y="30"/>
                </a:cxn>
                <a:cxn ang="0">
                  <a:pos x="16" y="32"/>
                </a:cxn>
                <a:cxn ang="0">
                  <a:pos x="132" y="32"/>
                </a:cxn>
                <a:cxn ang="0">
                  <a:pos x="132" y="32"/>
                </a:cxn>
                <a:cxn ang="0">
                  <a:pos x="138" y="30"/>
                </a:cxn>
                <a:cxn ang="0">
                  <a:pos x="142" y="28"/>
                </a:cxn>
                <a:cxn ang="0">
                  <a:pos x="146" y="22"/>
                </a:cxn>
                <a:cxn ang="0">
                  <a:pos x="148" y="16"/>
                </a:cxn>
                <a:cxn ang="0">
                  <a:pos x="148" y="16"/>
                </a:cxn>
                <a:cxn ang="0">
                  <a:pos x="146" y="10"/>
                </a:cxn>
                <a:cxn ang="0">
                  <a:pos x="142" y="4"/>
                </a:cxn>
                <a:cxn ang="0">
                  <a:pos x="138" y="2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48" h="32">
                  <a:moveTo>
                    <a:pt x="132" y="0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4" y="28"/>
                  </a:lnTo>
                  <a:lnTo>
                    <a:pt x="8" y="30"/>
                  </a:lnTo>
                  <a:lnTo>
                    <a:pt x="16" y="32"/>
                  </a:lnTo>
                  <a:lnTo>
                    <a:pt x="132" y="32"/>
                  </a:lnTo>
                  <a:lnTo>
                    <a:pt x="132" y="32"/>
                  </a:lnTo>
                  <a:lnTo>
                    <a:pt x="138" y="30"/>
                  </a:lnTo>
                  <a:lnTo>
                    <a:pt x="142" y="28"/>
                  </a:lnTo>
                  <a:lnTo>
                    <a:pt x="146" y="22"/>
                  </a:lnTo>
                  <a:lnTo>
                    <a:pt x="148" y="16"/>
                  </a:lnTo>
                  <a:lnTo>
                    <a:pt x="148" y="16"/>
                  </a:lnTo>
                  <a:lnTo>
                    <a:pt x="146" y="10"/>
                  </a:lnTo>
                  <a:lnTo>
                    <a:pt x="142" y="4"/>
                  </a:lnTo>
                  <a:lnTo>
                    <a:pt x="138" y="2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3" name="Freeform 49"/>
            <p:cNvSpPr>
              <a:spLocks noEditPoints="1"/>
            </p:cNvSpPr>
            <p:nvPr/>
          </p:nvSpPr>
          <p:spPr bwMode="auto">
            <a:xfrm>
              <a:off x="1714500" y="1143000"/>
              <a:ext cx="476250" cy="581025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142" y="0"/>
                </a:cxn>
                <a:cxn ang="0">
                  <a:pos x="100" y="10"/>
                </a:cxn>
                <a:cxn ang="0">
                  <a:pos x="62" y="28"/>
                </a:cxn>
                <a:cxn ang="0">
                  <a:pos x="32" y="58"/>
                </a:cxn>
                <a:cxn ang="0">
                  <a:pos x="12" y="94"/>
                </a:cxn>
                <a:cxn ang="0">
                  <a:pos x="2" y="136"/>
                </a:cxn>
                <a:cxn ang="0">
                  <a:pos x="2" y="166"/>
                </a:cxn>
                <a:cxn ang="0">
                  <a:pos x="16" y="214"/>
                </a:cxn>
                <a:cxn ang="0">
                  <a:pos x="56" y="266"/>
                </a:cxn>
                <a:cxn ang="0">
                  <a:pos x="72" y="290"/>
                </a:cxn>
                <a:cxn ang="0">
                  <a:pos x="78" y="322"/>
                </a:cxn>
                <a:cxn ang="0">
                  <a:pos x="78" y="340"/>
                </a:cxn>
                <a:cxn ang="0">
                  <a:pos x="96" y="364"/>
                </a:cxn>
                <a:cxn ang="0">
                  <a:pos x="150" y="366"/>
                </a:cxn>
                <a:cxn ang="0">
                  <a:pos x="192" y="366"/>
                </a:cxn>
                <a:cxn ang="0">
                  <a:pos x="214" y="356"/>
                </a:cxn>
                <a:cxn ang="0">
                  <a:pos x="224" y="334"/>
                </a:cxn>
                <a:cxn ang="0">
                  <a:pos x="224" y="304"/>
                </a:cxn>
                <a:cxn ang="0">
                  <a:pos x="236" y="276"/>
                </a:cxn>
                <a:cxn ang="0">
                  <a:pos x="266" y="242"/>
                </a:cxn>
                <a:cxn ang="0">
                  <a:pos x="290" y="198"/>
                </a:cxn>
                <a:cxn ang="0">
                  <a:pos x="300" y="150"/>
                </a:cxn>
                <a:cxn ang="0">
                  <a:pos x="298" y="122"/>
                </a:cxn>
                <a:cxn ang="0">
                  <a:pos x="284" y="82"/>
                </a:cxn>
                <a:cxn ang="0">
                  <a:pos x="260" y="48"/>
                </a:cxn>
                <a:cxn ang="0">
                  <a:pos x="226" y="22"/>
                </a:cxn>
                <a:cxn ang="0">
                  <a:pos x="188" y="6"/>
                </a:cxn>
                <a:cxn ang="0">
                  <a:pos x="158" y="0"/>
                </a:cxn>
                <a:cxn ang="0">
                  <a:pos x="244" y="156"/>
                </a:cxn>
                <a:cxn ang="0">
                  <a:pos x="234" y="146"/>
                </a:cxn>
                <a:cxn ang="0">
                  <a:pos x="232" y="126"/>
                </a:cxn>
                <a:cxn ang="0">
                  <a:pos x="214" y="92"/>
                </a:cxn>
                <a:cxn ang="0">
                  <a:pos x="182" y="72"/>
                </a:cxn>
                <a:cxn ang="0">
                  <a:pos x="160" y="68"/>
                </a:cxn>
                <a:cxn ang="0">
                  <a:pos x="150" y="50"/>
                </a:cxn>
                <a:cxn ang="0">
                  <a:pos x="156" y="38"/>
                </a:cxn>
                <a:cxn ang="0">
                  <a:pos x="170" y="32"/>
                </a:cxn>
                <a:cxn ang="0">
                  <a:pos x="226" y="52"/>
                </a:cxn>
                <a:cxn ang="0">
                  <a:pos x="262" y="98"/>
                </a:cxn>
                <a:cxn ang="0">
                  <a:pos x="270" y="138"/>
                </a:cxn>
                <a:cxn ang="0">
                  <a:pos x="266" y="152"/>
                </a:cxn>
                <a:cxn ang="0">
                  <a:pos x="252" y="158"/>
                </a:cxn>
              </a:cxnLst>
              <a:rect l="0" t="0" r="r" b="b"/>
              <a:pathLst>
                <a:path w="300" h="366">
                  <a:moveTo>
                    <a:pt x="158" y="0"/>
                  </a:moveTo>
                  <a:lnTo>
                    <a:pt x="158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2"/>
                  </a:lnTo>
                  <a:lnTo>
                    <a:pt x="114" y="6"/>
                  </a:lnTo>
                  <a:lnTo>
                    <a:pt x="100" y="10"/>
                  </a:lnTo>
                  <a:lnTo>
                    <a:pt x="88" y="14"/>
                  </a:lnTo>
                  <a:lnTo>
                    <a:pt x="74" y="22"/>
                  </a:lnTo>
                  <a:lnTo>
                    <a:pt x="62" y="28"/>
                  </a:lnTo>
                  <a:lnTo>
                    <a:pt x="52" y="38"/>
                  </a:lnTo>
                  <a:lnTo>
                    <a:pt x="42" y="48"/>
                  </a:lnTo>
                  <a:lnTo>
                    <a:pt x="32" y="58"/>
                  </a:lnTo>
                  <a:lnTo>
                    <a:pt x="24" y="68"/>
                  </a:lnTo>
                  <a:lnTo>
                    <a:pt x="18" y="82"/>
                  </a:lnTo>
                  <a:lnTo>
                    <a:pt x="12" y="94"/>
                  </a:lnTo>
                  <a:lnTo>
                    <a:pt x="6" y="108"/>
                  </a:lnTo>
                  <a:lnTo>
                    <a:pt x="4" y="122"/>
                  </a:lnTo>
                  <a:lnTo>
                    <a:pt x="2" y="136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2" y="166"/>
                  </a:lnTo>
                  <a:lnTo>
                    <a:pt x="4" y="182"/>
                  </a:lnTo>
                  <a:lnTo>
                    <a:pt x="10" y="198"/>
                  </a:lnTo>
                  <a:lnTo>
                    <a:pt x="16" y="214"/>
                  </a:lnTo>
                  <a:lnTo>
                    <a:pt x="26" y="228"/>
                  </a:lnTo>
                  <a:lnTo>
                    <a:pt x="34" y="242"/>
                  </a:lnTo>
                  <a:lnTo>
                    <a:pt x="56" y="266"/>
                  </a:lnTo>
                  <a:lnTo>
                    <a:pt x="56" y="266"/>
                  </a:lnTo>
                  <a:lnTo>
                    <a:pt x="66" y="276"/>
                  </a:lnTo>
                  <a:lnTo>
                    <a:pt x="72" y="290"/>
                  </a:lnTo>
                  <a:lnTo>
                    <a:pt x="72" y="290"/>
                  </a:lnTo>
                  <a:lnTo>
                    <a:pt x="76" y="304"/>
                  </a:lnTo>
                  <a:lnTo>
                    <a:pt x="78" y="322"/>
                  </a:lnTo>
                  <a:lnTo>
                    <a:pt x="78" y="334"/>
                  </a:lnTo>
                  <a:lnTo>
                    <a:pt x="78" y="334"/>
                  </a:lnTo>
                  <a:lnTo>
                    <a:pt x="78" y="340"/>
                  </a:lnTo>
                  <a:lnTo>
                    <a:pt x="80" y="346"/>
                  </a:lnTo>
                  <a:lnTo>
                    <a:pt x="86" y="356"/>
                  </a:lnTo>
                  <a:lnTo>
                    <a:pt x="96" y="364"/>
                  </a:lnTo>
                  <a:lnTo>
                    <a:pt x="102" y="366"/>
                  </a:lnTo>
                  <a:lnTo>
                    <a:pt x="110" y="366"/>
                  </a:lnTo>
                  <a:lnTo>
                    <a:pt x="150" y="366"/>
                  </a:lnTo>
                  <a:lnTo>
                    <a:pt x="150" y="366"/>
                  </a:lnTo>
                  <a:lnTo>
                    <a:pt x="192" y="366"/>
                  </a:lnTo>
                  <a:lnTo>
                    <a:pt x="192" y="366"/>
                  </a:lnTo>
                  <a:lnTo>
                    <a:pt x="198" y="366"/>
                  </a:lnTo>
                  <a:lnTo>
                    <a:pt x="204" y="364"/>
                  </a:lnTo>
                  <a:lnTo>
                    <a:pt x="214" y="356"/>
                  </a:lnTo>
                  <a:lnTo>
                    <a:pt x="220" y="346"/>
                  </a:lnTo>
                  <a:lnTo>
                    <a:pt x="222" y="340"/>
                  </a:lnTo>
                  <a:lnTo>
                    <a:pt x="224" y="334"/>
                  </a:lnTo>
                  <a:lnTo>
                    <a:pt x="224" y="322"/>
                  </a:lnTo>
                  <a:lnTo>
                    <a:pt x="224" y="322"/>
                  </a:lnTo>
                  <a:lnTo>
                    <a:pt x="224" y="304"/>
                  </a:lnTo>
                  <a:lnTo>
                    <a:pt x="228" y="290"/>
                  </a:lnTo>
                  <a:lnTo>
                    <a:pt x="228" y="290"/>
                  </a:lnTo>
                  <a:lnTo>
                    <a:pt x="236" y="276"/>
                  </a:lnTo>
                  <a:lnTo>
                    <a:pt x="244" y="266"/>
                  </a:lnTo>
                  <a:lnTo>
                    <a:pt x="244" y="266"/>
                  </a:lnTo>
                  <a:lnTo>
                    <a:pt x="266" y="242"/>
                  </a:lnTo>
                  <a:lnTo>
                    <a:pt x="276" y="228"/>
                  </a:lnTo>
                  <a:lnTo>
                    <a:pt x="284" y="214"/>
                  </a:lnTo>
                  <a:lnTo>
                    <a:pt x="290" y="198"/>
                  </a:lnTo>
                  <a:lnTo>
                    <a:pt x="296" y="182"/>
                  </a:lnTo>
                  <a:lnTo>
                    <a:pt x="298" y="166"/>
                  </a:lnTo>
                  <a:lnTo>
                    <a:pt x="300" y="150"/>
                  </a:lnTo>
                  <a:lnTo>
                    <a:pt x="300" y="150"/>
                  </a:lnTo>
                  <a:lnTo>
                    <a:pt x="300" y="136"/>
                  </a:lnTo>
                  <a:lnTo>
                    <a:pt x="298" y="122"/>
                  </a:lnTo>
                  <a:lnTo>
                    <a:pt x="294" y="108"/>
                  </a:lnTo>
                  <a:lnTo>
                    <a:pt x="290" y="94"/>
                  </a:lnTo>
                  <a:lnTo>
                    <a:pt x="284" y="82"/>
                  </a:lnTo>
                  <a:lnTo>
                    <a:pt x="276" y="70"/>
                  </a:lnTo>
                  <a:lnTo>
                    <a:pt x="268" y="58"/>
                  </a:lnTo>
                  <a:lnTo>
                    <a:pt x="260" y="48"/>
                  </a:lnTo>
                  <a:lnTo>
                    <a:pt x="250" y="38"/>
                  </a:lnTo>
                  <a:lnTo>
                    <a:pt x="238" y="30"/>
                  </a:lnTo>
                  <a:lnTo>
                    <a:pt x="226" y="22"/>
                  </a:lnTo>
                  <a:lnTo>
                    <a:pt x="214" y="14"/>
                  </a:lnTo>
                  <a:lnTo>
                    <a:pt x="202" y="10"/>
                  </a:lnTo>
                  <a:lnTo>
                    <a:pt x="188" y="6"/>
                  </a:lnTo>
                  <a:lnTo>
                    <a:pt x="174" y="2"/>
                  </a:lnTo>
                  <a:lnTo>
                    <a:pt x="158" y="0"/>
                  </a:lnTo>
                  <a:lnTo>
                    <a:pt x="158" y="0"/>
                  </a:lnTo>
                  <a:close/>
                  <a:moveTo>
                    <a:pt x="252" y="158"/>
                  </a:moveTo>
                  <a:lnTo>
                    <a:pt x="252" y="158"/>
                  </a:lnTo>
                  <a:lnTo>
                    <a:pt x="244" y="156"/>
                  </a:lnTo>
                  <a:lnTo>
                    <a:pt x="238" y="152"/>
                  </a:lnTo>
                  <a:lnTo>
                    <a:pt x="238" y="152"/>
                  </a:lnTo>
                  <a:lnTo>
                    <a:pt x="234" y="146"/>
                  </a:lnTo>
                  <a:lnTo>
                    <a:pt x="232" y="138"/>
                  </a:lnTo>
                  <a:lnTo>
                    <a:pt x="232" y="138"/>
                  </a:lnTo>
                  <a:lnTo>
                    <a:pt x="232" y="126"/>
                  </a:lnTo>
                  <a:lnTo>
                    <a:pt x="228" y="112"/>
                  </a:lnTo>
                  <a:lnTo>
                    <a:pt x="222" y="102"/>
                  </a:lnTo>
                  <a:lnTo>
                    <a:pt x="214" y="92"/>
                  </a:lnTo>
                  <a:lnTo>
                    <a:pt x="204" y="84"/>
                  </a:lnTo>
                  <a:lnTo>
                    <a:pt x="194" y="76"/>
                  </a:lnTo>
                  <a:lnTo>
                    <a:pt x="182" y="72"/>
                  </a:lnTo>
                  <a:lnTo>
                    <a:pt x="168" y="70"/>
                  </a:lnTo>
                  <a:lnTo>
                    <a:pt x="168" y="70"/>
                  </a:lnTo>
                  <a:lnTo>
                    <a:pt x="160" y="68"/>
                  </a:lnTo>
                  <a:lnTo>
                    <a:pt x="154" y="64"/>
                  </a:lnTo>
                  <a:lnTo>
                    <a:pt x="150" y="58"/>
                  </a:lnTo>
                  <a:lnTo>
                    <a:pt x="150" y="50"/>
                  </a:lnTo>
                  <a:lnTo>
                    <a:pt x="150" y="50"/>
                  </a:lnTo>
                  <a:lnTo>
                    <a:pt x="152" y="42"/>
                  </a:lnTo>
                  <a:lnTo>
                    <a:pt x="156" y="38"/>
                  </a:lnTo>
                  <a:lnTo>
                    <a:pt x="162" y="34"/>
                  </a:lnTo>
                  <a:lnTo>
                    <a:pt x="170" y="32"/>
                  </a:lnTo>
                  <a:lnTo>
                    <a:pt x="170" y="32"/>
                  </a:lnTo>
                  <a:lnTo>
                    <a:pt x="190" y="36"/>
                  </a:lnTo>
                  <a:lnTo>
                    <a:pt x="210" y="42"/>
                  </a:lnTo>
                  <a:lnTo>
                    <a:pt x="226" y="52"/>
                  </a:lnTo>
                  <a:lnTo>
                    <a:pt x="242" y="66"/>
                  </a:lnTo>
                  <a:lnTo>
                    <a:pt x="254" y="80"/>
                  </a:lnTo>
                  <a:lnTo>
                    <a:pt x="262" y="98"/>
                  </a:lnTo>
                  <a:lnTo>
                    <a:pt x="268" y="118"/>
                  </a:lnTo>
                  <a:lnTo>
                    <a:pt x="270" y="138"/>
                  </a:lnTo>
                  <a:lnTo>
                    <a:pt x="270" y="138"/>
                  </a:lnTo>
                  <a:lnTo>
                    <a:pt x="270" y="146"/>
                  </a:lnTo>
                  <a:lnTo>
                    <a:pt x="266" y="152"/>
                  </a:lnTo>
                  <a:lnTo>
                    <a:pt x="266" y="152"/>
                  </a:lnTo>
                  <a:lnTo>
                    <a:pt x="260" y="156"/>
                  </a:lnTo>
                  <a:lnTo>
                    <a:pt x="252" y="158"/>
                  </a:lnTo>
                  <a:lnTo>
                    <a:pt x="252" y="15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4" name="Rectangle 50"/>
            <p:cNvSpPr>
              <a:spLocks noChangeArrowheads="1"/>
            </p:cNvSpPr>
            <p:nvPr/>
          </p:nvSpPr>
          <p:spPr bwMode="auto">
            <a:xfrm>
              <a:off x="1838325" y="1609725"/>
              <a:ext cx="234950" cy="1143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5" name="Rectangle 51"/>
            <p:cNvSpPr>
              <a:spLocks noChangeArrowheads="1"/>
            </p:cNvSpPr>
            <p:nvPr/>
          </p:nvSpPr>
          <p:spPr bwMode="auto">
            <a:xfrm>
              <a:off x="1838325" y="1765300"/>
              <a:ext cx="234950" cy="508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6" name="Freeform 52"/>
            <p:cNvSpPr>
              <a:spLocks/>
            </p:cNvSpPr>
            <p:nvPr/>
          </p:nvSpPr>
          <p:spPr bwMode="auto">
            <a:xfrm>
              <a:off x="1927225" y="911225"/>
              <a:ext cx="53975" cy="180975"/>
            </a:xfrm>
            <a:custGeom>
              <a:avLst/>
              <a:gdLst/>
              <a:ahLst/>
              <a:cxnLst>
                <a:cxn ang="0">
                  <a:pos x="34" y="112"/>
                </a:cxn>
                <a:cxn ang="0">
                  <a:pos x="4" y="114"/>
                </a:cxn>
                <a:cxn ang="0">
                  <a:pos x="0" y="0"/>
                </a:cxn>
                <a:cxn ang="0">
                  <a:pos x="28" y="0"/>
                </a:cxn>
                <a:cxn ang="0">
                  <a:pos x="34" y="112"/>
                </a:cxn>
              </a:cxnLst>
              <a:rect l="0" t="0" r="r" b="b"/>
              <a:pathLst>
                <a:path w="34" h="114">
                  <a:moveTo>
                    <a:pt x="34" y="112"/>
                  </a:moveTo>
                  <a:lnTo>
                    <a:pt x="4" y="114"/>
                  </a:lnTo>
                  <a:lnTo>
                    <a:pt x="0" y="0"/>
                  </a:lnTo>
                  <a:lnTo>
                    <a:pt x="28" y="0"/>
                  </a:lnTo>
                  <a:lnTo>
                    <a:pt x="34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7" name="Freeform 53"/>
            <p:cNvSpPr>
              <a:spLocks/>
            </p:cNvSpPr>
            <p:nvPr/>
          </p:nvSpPr>
          <p:spPr bwMode="auto">
            <a:xfrm>
              <a:off x="1698625" y="962025"/>
              <a:ext cx="130175" cy="177800"/>
            </a:xfrm>
            <a:custGeom>
              <a:avLst/>
              <a:gdLst/>
              <a:ahLst/>
              <a:cxnLst>
                <a:cxn ang="0">
                  <a:pos x="58" y="112"/>
                </a:cxn>
                <a:cxn ang="0">
                  <a:pos x="0" y="14"/>
                </a:cxn>
                <a:cxn ang="0">
                  <a:pos x="26" y="0"/>
                </a:cxn>
                <a:cxn ang="0">
                  <a:pos x="82" y="98"/>
                </a:cxn>
                <a:cxn ang="0">
                  <a:pos x="58" y="112"/>
                </a:cxn>
              </a:cxnLst>
              <a:rect l="0" t="0" r="r" b="b"/>
              <a:pathLst>
                <a:path w="82" h="112">
                  <a:moveTo>
                    <a:pt x="58" y="112"/>
                  </a:moveTo>
                  <a:lnTo>
                    <a:pt x="0" y="14"/>
                  </a:lnTo>
                  <a:lnTo>
                    <a:pt x="26" y="0"/>
                  </a:lnTo>
                  <a:lnTo>
                    <a:pt x="82" y="98"/>
                  </a:lnTo>
                  <a:lnTo>
                    <a:pt x="58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8" name="Freeform 54"/>
            <p:cNvSpPr>
              <a:spLocks/>
            </p:cNvSpPr>
            <p:nvPr/>
          </p:nvSpPr>
          <p:spPr bwMode="auto">
            <a:xfrm>
              <a:off x="1536700" y="1123950"/>
              <a:ext cx="180975" cy="1301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14" y="58"/>
                </a:cxn>
                <a:cxn ang="0">
                  <a:pos x="98" y="82"/>
                </a:cxn>
                <a:cxn ang="0">
                  <a:pos x="0" y="26"/>
                </a:cxn>
                <a:cxn ang="0">
                  <a:pos x="14" y="0"/>
                </a:cxn>
              </a:cxnLst>
              <a:rect l="0" t="0" r="r" b="b"/>
              <a:pathLst>
                <a:path w="114" h="82">
                  <a:moveTo>
                    <a:pt x="14" y="0"/>
                  </a:moveTo>
                  <a:lnTo>
                    <a:pt x="114" y="58"/>
                  </a:lnTo>
                  <a:lnTo>
                    <a:pt x="98" y="82"/>
                  </a:lnTo>
                  <a:lnTo>
                    <a:pt x="0" y="26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69" name="Freeform 55"/>
            <p:cNvSpPr>
              <a:spLocks/>
            </p:cNvSpPr>
            <p:nvPr/>
          </p:nvSpPr>
          <p:spPr bwMode="auto">
            <a:xfrm>
              <a:off x="2190750" y="1123950"/>
              <a:ext cx="177800" cy="130175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58"/>
                </a:cxn>
                <a:cxn ang="0">
                  <a:pos x="14" y="82"/>
                </a:cxn>
                <a:cxn ang="0">
                  <a:pos x="112" y="26"/>
                </a:cxn>
                <a:cxn ang="0">
                  <a:pos x="98" y="0"/>
                </a:cxn>
              </a:cxnLst>
              <a:rect l="0" t="0" r="r" b="b"/>
              <a:pathLst>
                <a:path w="112" h="82">
                  <a:moveTo>
                    <a:pt x="98" y="0"/>
                  </a:moveTo>
                  <a:lnTo>
                    <a:pt x="0" y="58"/>
                  </a:lnTo>
                  <a:lnTo>
                    <a:pt x="14" y="82"/>
                  </a:lnTo>
                  <a:lnTo>
                    <a:pt x="112" y="26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  <p:sp>
          <p:nvSpPr>
            <p:cNvPr id="70" name="Freeform 56"/>
            <p:cNvSpPr>
              <a:spLocks/>
            </p:cNvSpPr>
            <p:nvPr/>
          </p:nvSpPr>
          <p:spPr bwMode="auto">
            <a:xfrm>
              <a:off x="2076450" y="962025"/>
              <a:ext cx="130175" cy="177800"/>
            </a:xfrm>
            <a:custGeom>
              <a:avLst/>
              <a:gdLst/>
              <a:ahLst/>
              <a:cxnLst>
                <a:cxn ang="0">
                  <a:pos x="26" y="112"/>
                </a:cxn>
                <a:cxn ang="0">
                  <a:pos x="0" y="98"/>
                </a:cxn>
                <a:cxn ang="0">
                  <a:pos x="58" y="0"/>
                </a:cxn>
                <a:cxn ang="0">
                  <a:pos x="82" y="14"/>
                </a:cxn>
                <a:cxn ang="0">
                  <a:pos x="26" y="112"/>
                </a:cxn>
              </a:cxnLst>
              <a:rect l="0" t="0" r="r" b="b"/>
              <a:pathLst>
                <a:path w="82" h="112">
                  <a:moveTo>
                    <a:pt x="26" y="112"/>
                  </a:moveTo>
                  <a:lnTo>
                    <a:pt x="0" y="98"/>
                  </a:lnTo>
                  <a:lnTo>
                    <a:pt x="58" y="0"/>
                  </a:lnTo>
                  <a:lnTo>
                    <a:pt x="82" y="14"/>
                  </a:lnTo>
                  <a:lnTo>
                    <a:pt x="26" y="1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just"/>
              <a:endParaRPr lang="zh-CN" altLang="en-US" u="sng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52625D9E-6B3A-47A2-8EEB-397F92177D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17401C-D338-4022-91B3-A45B4A1A1ACC}"/>
              </a:ext>
            </a:extLst>
          </p:cNvPr>
          <p:cNvSpPr/>
          <p:nvPr/>
        </p:nvSpPr>
        <p:spPr>
          <a:xfrm>
            <a:off x="25400" y="1651000"/>
            <a:ext cx="4424471" cy="1778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9B5E09-D603-4602-9BAB-6688E0CB8D23}"/>
              </a:ext>
            </a:extLst>
          </p:cNvPr>
          <p:cNvSpPr/>
          <p:nvPr/>
        </p:nvSpPr>
        <p:spPr>
          <a:xfrm>
            <a:off x="25887" y="4536715"/>
            <a:ext cx="4434341" cy="191510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2BCEF-43AC-45C2-B930-6E4EF979EC49}"/>
              </a:ext>
            </a:extLst>
          </p:cNvPr>
          <p:cNvSpPr/>
          <p:nvPr/>
        </p:nvSpPr>
        <p:spPr>
          <a:xfrm>
            <a:off x="7825278" y="1615704"/>
            <a:ext cx="4338344" cy="218785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EF8BD-599A-4427-BC5A-A53343F9BA6C}"/>
              </a:ext>
            </a:extLst>
          </p:cNvPr>
          <p:cNvSpPr/>
          <p:nvPr/>
        </p:nvSpPr>
        <p:spPr>
          <a:xfrm>
            <a:off x="7795444" y="4513271"/>
            <a:ext cx="4368177" cy="197664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357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8342512" y="316442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 PPT</a:t>
            </a:r>
            <a:r>
              <a:rPr lang="zh-CN" altLang="en-US" sz="100" dirty="0">
                <a:solidFill>
                  <a:schemeClr val="bg1"/>
                </a:solidFill>
              </a:rPr>
              <a:t>素材下载：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PPT</a:t>
            </a:r>
            <a:r>
              <a:rPr lang="zh-CN" altLang="en-US" sz="100" dirty="0">
                <a:solidFill>
                  <a:schemeClr val="bg1"/>
                </a:solidFill>
              </a:rPr>
              <a:t>图表下载：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优秀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Word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www.1ppt.com/word/              Excel</a:t>
            </a:r>
            <a:r>
              <a:rPr lang="zh-CN" altLang="en-US" sz="100" dirty="0">
                <a:solidFill>
                  <a:schemeClr val="bg1"/>
                </a:solidFill>
              </a:rPr>
              <a:t>教程：</a:t>
            </a:r>
            <a:r>
              <a:rPr lang="en-US" altLang="zh-CN" sz="100" dirty="0">
                <a:solidFill>
                  <a:schemeClr val="bg1"/>
                </a:solidFill>
              </a:rPr>
              <a:t>www.1ppt.com/excel/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资料下载：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www.1ppt.com/ziliao/                PPT</a:t>
            </a:r>
            <a:r>
              <a:rPr lang="zh-CN" altLang="en-US" sz="100" dirty="0">
                <a:solidFill>
                  <a:schemeClr val="bg1"/>
                </a:solidFill>
              </a:rPr>
              <a:t>课件下载：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范文下载：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www.1ppt.com/fanwen/             </a:t>
            </a:r>
            <a:r>
              <a:rPr lang="zh-CN" altLang="en-US" sz="100" dirty="0">
                <a:solidFill>
                  <a:schemeClr val="bg1"/>
                </a:solidFill>
              </a:rPr>
              <a:t>试卷下载：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www.1ppt.com/shiti/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教案下载：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www.1ppt.com/jiaoan/        PPT</a:t>
            </a:r>
            <a:r>
              <a:rPr lang="zh-CN" altLang="en-US" sz="100" dirty="0">
                <a:solidFill>
                  <a:schemeClr val="bg1"/>
                </a:solidFill>
              </a:rPr>
              <a:t>论坛：</a:t>
            </a:r>
            <a:r>
              <a:rPr lang="en-US" altLang="zh-CN" sz="100" dirty="0">
                <a:solidFill>
                  <a:schemeClr val="bg1"/>
                </a:solidFill>
              </a:rPr>
              <a:t>www.1ppt.cn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zh-CN" altLang="en-US" sz="1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349" y="1443888"/>
            <a:ext cx="10733924" cy="52321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defTabSz="457189"/>
            <a:r>
              <a:rPr kumimoji="1" lang="en-US" altLang="zh-CN" sz="2800" b="1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langkah</a:t>
            </a:r>
            <a:r>
              <a:rPr kumimoji="1" lang="en-US" altLang="zh-CN" sz="2800" b="1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– </a:t>
            </a:r>
            <a:r>
              <a:rPr kumimoji="1" lang="en-US" altLang="zh-CN" sz="2800" b="1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langkah</a:t>
            </a:r>
            <a:r>
              <a:rPr kumimoji="1" lang="en-US" altLang="zh-CN" sz="2800" b="1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metode</a:t>
            </a:r>
            <a:r>
              <a:rPr kumimoji="1" lang="en-US" altLang="zh-CN" sz="2800" b="1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MAUT: </a:t>
            </a:r>
            <a:endParaRPr kumimoji="1" lang="zh-CN" altLang="en-US" sz="2800" b="1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642" y="2316539"/>
            <a:ext cx="6431509" cy="4374722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just" defTabSz="457189">
              <a:lnSpc>
                <a:spcPct val="130000"/>
              </a:lnSpc>
            </a:pP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1.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Definisikan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Alternatif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dan Nilai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dari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Kriteria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yang 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ada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.</a:t>
            </a:r>
          </a:p>
          <a:p>
            <a:pPr algn="just" defTabSz="457189">
              <a:lnSpc>
                <a:spcPct val="130000"/>
              </a:lnSpc>
            </a:pP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2.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Klasifikasikan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semua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alternatif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secara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terpisah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dari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setiap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kriteria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.</a:t>
            </a:r>
          </a:p>
          <a:p>
            <a:pPr algn="just" defTabSz="457189">
              <a:lnSpc>
                <a:spcPct val="130000"/>
              </a:lnSpc>
            </a:pP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3.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Tetapkan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bobot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relatif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pada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setiap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kriteria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.</a:t>
            </a:r>
          </a:p>
          <a:p>
            <a:pPr algn="just" defTabSz="457189">
              <a:lnSpc>
                <a:spcPct val="130000"/>
              </a:lnSpc>
            </a:pP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4.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Gabungkan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bobot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relatif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dari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setiap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kriteria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dan 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hasil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evaluasi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setiap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kriteria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dari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semua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alternatif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untuk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memperoleh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evaluasi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total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dari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keseluruhan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alternatif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.</a:t>
            </a:r>
          </a:p>
          <a:p>
            <a:pPr algn="just" defTabSz="457189">
              <a:lnSpc>
                <a:spcPct val="130000"/>
              </a:lnSpc>
            </a:pP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5.	Analisa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hasil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dari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evaluasi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total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dari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keseluruhan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	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alternatif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dan buat </a:t>
            </a:r>
            <a:r>
              <a:rPr lang="en-ID" altLang="zh-CN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rekomendasi</a:t>
            </a:r>
            <a:r>
              <a:rPr lang="en-ID" altLang="zh-CN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.</a:t>
            </a:r>
          </a:p>
          <a:p>
            <a:pPr algn="just" defTabSz="457189">
              <a:lnSpc>
                <a:spcPct val="130000"/>
              </a:lnSpc>
            </a:pPr>
            <a:endParaRPr lang="zh-CN" altLang="en-US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7" name="矩形 39"/>
          <p:cNvSpPr/>
          <p:nvPr/>
        </p:nvSpPr>
        <p:spPr>
          <a:xfrm>
            <a:off x="337349" y="187249"/>
            <a:ext cx="3521666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METODE MAUT 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>
            <a:cxnSpLocks/>
          </p:cNvCxnSpPr>
          <p:nvPr/>
        </p:nvCxnSpPr>
        <p:spPr>
          <a:xfrm flipV="1">
            <a:off x="437642" y="805834"/>
            <a:ext cx="3131058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44E6B0D-6C8E-46DD-9B08-DB3803320E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pic>
        <p:nvPicPr>
          <p:cNvPr id="16" name="图片 1">
            <a:extLst>
              <a:ext uri="{FF2B5EF4-FFF2-40B4-BE49-F238E27FC236}">
                <a16:creationId xmlns:a16="http://schemas.microsoft.com/office/drawing/2014/main" id="{81497DF1-84FB-4F68-B4FB-FD8216F87A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2" b="7882"/>
          <a:stretch/>
        </p:blipFill>
        <p:spPr>
          <a:xfrm>
            <a:off x="7315200" y="2319454"/>
            <a:ext cx="4876800" cy="453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8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9"/>
          <p:cNvSpPr/>
          <p:nvPr/>
        </p:nvSpPr>
        <p:spPr>
          <a:xfrm>
            <a:off x="337349" y="187249"/>
            <a:ext cx="2172386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USE CASE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>
            <a:off x="437642" y="805833"/>
            <a:ext cx="1958425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3976914"/>
            <a:ext cx="12192000" cy="2881086"/>
          </a:xfrm>
          <a:prstGeom prst="rect">
            <a:avLst/>
          </a:prstGeom>
          <a:solidFill>
            <a:srgbClr val="09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9847" y="1354474"/>
            <a:ext cx="81277" cy="464315"/>
          </a:xfrm>
          <a:prstGeom prst="rect">
            <a:avLst/>
          </a:prstGeom>
          <a:solidFill>
            <a:srgbClr val="103154"/>
          </a:solidFill>
          <a:ln w="9525" cap="flat" cmpd="sng" algn="ctr">
            <a:noFill/>
            <a:prstDash val="solid"/>
          </a:ln>
          <a:effectLst/>
        </p:spPr>
        <p:txBody>
          <a:bodyPr lIns="91424" tIns="45712" rIns="91424" bIns="45712" rtlCol="0" anchor="ctr"/>
          <a:lstStyle/>
          <a:p>
            <a:pPr marL="0" marR="0" lvl="0" indent="0" algn="ctr" defTabSz="4571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0080" y="1298087"/>
            <a:ext cx="6736578" cy="520704"/>
          </a:xfrm>
          <a:prstGeom prst="rect">
            <a:avLst/>
          </a:prstGeom>
          <a:noFill/>
        </p:spPr>
        <p:txBody>
          <a:bodyPr wrap="square" lIns="91424" tIns="45712" rIns="91424" bIns="45712" rtlCol="0">
            <a:spAutoFit/>
          </a:bodyPr>
          <a:lstStyle/>
          <a:p>
            <a:pPr defTabSz="457106">
              <a:lnSpc>
                <a:spcPct val="130000"/>
              </a:lnSpc>
            </a:pPr>
            <a:r>
              <a:rPr lang="en-US" altLang="zh-CN" sz="2400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Gambaran </a:t>
            </a:r>
            <a:r>
              <a:rPr lang="en-US" altLang="zh-CN" sz="2400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umum</a:t>
            </a:r>
            <a:r>
              <a:rPr lang="en-US" altLang="zh-CN" sz="2400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sistem</a:t>
            </a:r>
            <a:r>
              <a:rPr lang="en-US" altLang="zh-CN" sz="2400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yang </a:t>
            </a:r>
            <a:r>
              <a:rPr lang="en-US" altLang="zh-CN" sz="2400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akan</a:t>
            </a:r>
            <a:r>
              <a:rPr lang="en-US" altLang="zh-CN" sz="2400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dibuat</a:t>
            </a:r>
            <a:endParaRPr lang="en-US" altLang="zh-CN" sz="2400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657762" y="6445404"/>
            <a:ext cx="6608893" cy="412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30E142-AEC3-4486-96FE-380A8900D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DDB1D6-6B74-4BBA-99C9-DD475CC545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763" y="2041219"/>
            <a:ext cx="6608893" cy="44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5"/>
          <p:cNvSpPr/>
          <p:nvPr/>
        </p:nvSpPr>
        <p:spPr>
          <a:xfrm>
            <a:off x="259440" y="1838617"/>
            <a:ext cx="4264004" cy="2568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sv-SE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Skala penilaian yang digunakan adalah: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sv-SE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= Sangat penting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sv-SE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= Penting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sv-SE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= Cukup peting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sv-SE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= Kurang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endParaRPr lang="en-US" altLang="zh-CN" sz="1200" dirty="0">
              <a:solidFill>
                <a:srgbClr val="1031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55"/>
          <p:cNvSpPr/>
          <p:nvPr/>
        </p:nvSpPr>
        <p:spPr>
          <a:xfrm>
            <a:off x="5738672" y="1786388"/>
            <a:ext cx="6193888" cy="3095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Bobot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kriteria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yang </a:t>
            </a: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digunakan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adalah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Tanggung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jawab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(K1) 	= 0.1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Kejururan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(K2) 		= 0.15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Loyalitas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(K3) 		= 0.3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Kerjasama (K4)		= 0.2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Inisiatif</a:t>
            </a:r>
            <a:r>
              <a:rPr lang="en-US" altLang="zh-CN" sz="1600" dirty="0">
                <a:solidFill>
                  <a:srgbClr val="1031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(K5) 		= 0.25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endParaRPr lang="en-US" altLang="zh-CN" sz="1600" dirty="0">
              <a:solidFill>
                <a:srgbClr val="1031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39"/>
          <p:cNvSpPr/>
          <p:nvPr/>
        </p:nvSpPr>
        <p:spPr>
          <a:xfrm>
            <a:off x="337349" y="187249"/>
            <a:ext cx="8708598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SIMULASI MAUT MENGGUNAKAN EXCEL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" name="直接连接符 78"/>
          <p:cNvCxnSpPr>
            <a:cxnSpLocks/>
          </p:cNvCxnSpPr>
          <p:nvPr/>
        </p:nvCxnSpPr>
        <p:spPr>
          <a:xfrm>
            <a:off x="437642" y="805833"/>
            <a:ext cx="8505636" cy="13519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5BFBE401-FC22-47D9-948F-755B1B6308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D204CC68-2742-4174-A6A4-5AFBADF3E7E7}"/>
              </a:ext>
            </a:extLst>
          </p:cNvPr>
          <p:cNvSpPr/>
          <p:nvPr/>
        </p:nvSpPr>
        <p:spPr>
          <a:xfrm>
            <a:off x="337349" y="853163"/>
            <a:ext cx="5149443" cy="400108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en-US" altLang="zh-CN" sz="2000" dirty="0" err="1">
                <a:solidFill>
                  <a:schemeClr val="bg1">
                    <a:lumMod val="75000"/>
                  </a:schemeClr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Menentukan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 </a:t>
            </a:r>
            <a:r>
              <a:rPr lang="en-US" altLang="zh-CN" sz="2000" dirty="0" err="1">
                <a:solidFill>
                  <a:schemeClr val="bg1">
                    <a:lumMod val="75000"/>
                  </a:schemeClr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karyawan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 </a:t>
            </a:r>
            <a:r>
              <a:rPr lang="en-US" altLang="zh-CN" sz="2000" dirty="0" err="1">
                <a:solidFill>
                  <a:schemeClr val="bg1">
                    <a:lumMod val="75000"/>
                  </a:schemeClr>
                </a:solidFill>
                <a:latin typeface="HelveticaNeueLT Pro 67 MdCn" panose="020B0606030502030204" pitchFamily="34" charset="0"/>
                <a:ea typeface="Hiragino Sans GB W3" panose="020B0300000000000000" pitchFamily="34" charset="-122"/>
                <a:sym typeface="News Gothic MT" charset="0"/>
              </a:rPr>
              <a:t>terbaik</a:t>
            </a:r>
            <a:endParaRPr lang="zh-CN" altLang="zh-CN" sz="2000" dirty="0">
              <a:solidFill>
                <a:schemeClr val="bg1">
                  <a:lumMod val="75000"/>
                </a:schemeClr>
              </a:solidFill>
              <a:latin typeface="HelveticaNeueLT Pro 67 MdCn" panose="020B0606030502030204" pitchFamily="34" charset="0"/>
              <a:ea typeface="Hiragino Sans GB W3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9"/>
          <p:cNvSpPr/>
          <p:nvPr/>
        </p:nvSpPr>
        <p:spPr>
          <a:xfrm>
            <a:off x="337349" y="187249"/>
            <a:ext cx="3345784" cy="58477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3200" b="1" dirty="0">
                <a:solidFill>
                  <a:srgbClr val="4C4C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ews Gothic MT" charset="0"/>
              </a:rPr>
              <a:t>PENYELESAIAN</a:t>
            </a:r>
            <a:endParaRPr lang="zh-CN" altLang="zh-CN" sz="3200" b="1" dirty="0">
              <a:solidFill>
                <a:srgbClr val="4C4C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>
            <a:off x="437642" y="805833"/>
            <a:ext cx="31140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3976914"/>
            <a:ext cx="12192000" cy="2881086"/>
          </a:xfrm>
          <a:prstGeom prst="rect">
            <a:avLst/>
          </a:prstGeom>
          <a:solidFill>
            <a:srgbClr val="09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9846" y="1566345"/>
            <a:ext cx="138825" cy="1488005"/>
          </a:xfrm>
          <a:prstGeom prst="rect">
            <a:avLst/>
          </a:prstGeom>
          <a:solidFill>
            <a:srgbClr val="103154"/>
          </a:solidFill>
          <a:ln w="9525" cap="flat" cmpd="sng" algn="ctr">
            <a:noFill/>
            <a:prstDash val="solid"/>
          </a:ln>
          <a:effectLst/>
        </p:spPr>
        <p:txBody>
          <a:bodyPr lIns="91424" tIns="45712" rIns="91424" bIns="45712" rtlCol="0" anchor="ctr"/>
          <a:lstStyle/>
          <a:p>
            <a:pPr marL="0" marR="0" lvl="0" indent="0" algn="ctr" defTabSz="4571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0072" y="1455299"/>
            <a:ext cx="4137006" cy="572448"/>
          </a:xfrm>
          <a:prstGeom prst="rect">
            <a:avLst/>
          </a:prstGeom>
          <a:noFill/>
        </p:spPr>
        <p:txBody>
          <a:bodyPr wrap="square" lIns="91424" tIns="45712" rIns="91424" bIns="45712" rtlCol="0">
            <a:spAutoFit/>
          </a:bodyPr>
          <a:lstStyle/>
          <a:p>
            <a:pPr defTabSz="457106">
              <a:lnSpc>
                <a:spcPct val="130000"/>
              </a:lnSpc>
            </a:pPr>
            <a:r>
              <a:rPr lang="zh-CN" altLang="en-US" sz="2400" dirty="0">
                <a:solidFill>
                  <a:srgbClr val="103154"/>
                </a:solidFill>
                <a:latin typeface="Century Gothic"/>
                <a:ea typeface="微软雅黑" panose="020B0503020204020204" pitchFamily="34" charset="-122"/>
              </a:rPr>
              <a:t>添加标题</a:t>
            </a:r>
            <a:endParaRPr lang="en-US" altLang="zh-CN" sz="2400" dirty="0">
              <a:solidFill>
                <a:srgbClr val="103154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55665" y="3410786"/>
            <a:ext cx="2672855" cy="1999831"/>
          </a:xfrm>
          <a:prstGeom prst="rect">
            <a:avLst/>
          </a:prstGeom>
          <a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latin typeface="Calibri"/>
              <a:ea typeface="宋体"/>
            </a:endParaRPr>
          </a:p>
        </p:txBody>
      </p:sp>
      <p:pic>
        <p:nvPicPr>
          <p:cNvPr id="16" name="图片 15" descr="IMG_2247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16"/>
          <a:stretch/>
        </p:blipFill>
        <p:spPr>
          <a:xfrm>
            <a:off x="4620896" y="3410786"/>
            <a:ext cx="2652103" cy="2016757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455665" y="5417457"/>
            <a:ext cx="2672855" cy="3362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10519" y="5417457"/>
            <a:ext cx="2672855" cy="3362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E2EC240-03CD-47BC-959A-C4CEDE5F4E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28" y="0"/>
            <a:ext cx="1271572" cy="1276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EE228F-FCB4-4011-B7C1-7FB52837B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95" y="1161635"/>
            <a:ext cx="8735644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4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tumblr_ndyg3pYbKW1tubinno1_128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17"/>
          <a:stretch/>
        </p:blipFill>
        <p:spPr>
          <a:xfrm>
            <a:off x="0" y="-51816"/>
            <a:ext cx="12192000" cy="692886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-3696" y="-43434"/>
            <a:ext cx="12195696" cy="6896100"/>
          </a:xfrm>
          <a:prstGeom prst="rect">
            <a:avLst/>
          </a:prstGeom>
          <a:solidFill>
            <a:srgbClr val="091A2D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6">
            <a:extLst>
              <a:ext uri="{FF2B5EF4-FFF2-40B4-BE49-F238E27FC236}">
                <a16:creationId xmlns:a16="http://schemas.microsoft.com/office/drawing/2014/main" id="{B9646F12-30A3-4171-AA70-2D671C9BC3DB}"/>
              </a:ext>
            </a:extLst>
          </p:cNvPr>
          <p:cNvSpPr/>
          <p:nvPr/>
        </p:nvSpPr>
        <p:spPr>
          <a:xfrm>
            <a:off x="2368444" y="4239005"/>
            <a:ext cx="7451416" cy="400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HelveticaNeueLT Pro 67 MdCn" panose="020B0606030502030204"/>
              </a:rPr>
              <a:t>Atas </a:t>
            </a:r>
            <a:r>
              <a:rPr kumimoji="1" lang="en-US" altLang="zh-CN" sz="2000" dirty="0" err="1">
                <a:solidFill>
                  <a:schemeClr val="bg1"/>
                </a:solidFill>
                <a:latin typeface="HelveticaNeueLT Pro 67 MdCn" panose="020B0606030502030204"/>
              </a:rPr>
              <a:t>Perhatian</a:t>
            </a:r>
            <a:r>
              <a:rPr kumimoji="1" lang="en-US" altLang="zh-CN" sz="2000" dirty="0">
                <a:solidFill>
                  <a:schemeClr val="bg1"/>
                </a:solidFill>
                <a:latin typeface="HelveticaNeueLT Pro 67 MdCn" panose="020B0606030502030204"/>
              </a:rPr>
              <a:t> dan </a:t>
            </a:r>
            <a:r>
              <a:rPr kumimoji="1" lang="en-US" altLang="zh-CN" sz="2000" dirty="0" err="1">
                <a:solidFill>
                  <a:schemeClr val="bg1"/>
                </a:solidFill>
                <a:latin typeface="HelveticaNeueLT Pro 67 MdCn" panose="020B0606030502030204"/>
              </a:rPr>
              <a:t>Waktunya</a:t>
            </a:r>
            <a:endParaRPr kumimoji="1" lang="zh-CN" altLang="en-US" sz="2000" dirty="0">
              <a:solidFill>
                <a:schemeClr val="bg1"/>
              </a:solidFill>
              <a:latin typeface="HelveticaNeueLT Pro 67 MdCn" panose="020B0606030502030204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442F93CB-2945-48BC-B60C-DEE5A7BFDB51}"/>
              </a:ext>
            </a:extLst>
          </p:cNvPr>
          <p:cNvSpPr/>
          <p:nvPr/>
        </p:nvSpPr>
        <p:spPr>
          <a:xfrm>
            <a:off x="2368444" y="3108008"/>
            <a:ext cx="7451416" cy="1028863"/>
          </a:xfrm>
          <a:prstGeom prst="rect">
            <a:avLst/>
          </a:prstGeom>
          <a:solidFill>
            <a:srgbClr val="10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kumimoji="1" lang="en-US" altLang="zh-CN" sz="6000" dirty="0">
                <a:latin typeface="HelveticaNeueLT Pro 67 MdCn" panose="020B0606030502030204"/>
              </a:rPr>
              <a:t>TERIMAKASIH</a:t>
            </a:r>
            <a:endParaRPr kumimoji="1" lang="zh-CN" altLang="en-US" sz="6000" dirty="0">
              <a:latin typeface="HelveticaNeueLT Pro 67 MdCn" panose="020B060603050203020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B7943CE-E171-4E37-AC2E-D518A97B88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14" y="254198"/>
            <a:ext cx="1879997" cy="188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第一PPT模板网-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模板网-WWW.1PPT.COM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1219</Words>
  <Application>Microsoft Office PowerPoint</Application>
  <PresentationFormat>Widescreen</PresentationFormat>
  <Paragraphs>109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Microsoft YaHei</vt:lpstr>
      <vt:lpstr>Microsoft YaHei</vt:lpstr>
      <vt:lpstr>Arial</vt:lpstr>
      <vt:lpstr>Broadway</vt:lpstr>
      <vt:lpstr>Calibri</vt:lpstr>
      <vt:lpstr>Calibri Light</vt:lpstr>
      <vt:lpstr>Century Gothic</vt:lpstr>
      <vt:lpstr>HelveticaNeueLT Pro 67 MdCn</vt:lpstr>
      <vt:lpstr>Times New Roman</vt:lpstr>
      <vt:lpstr>第一PPT模板网-WWW.1PPT.COM</vt:lpstr>
      <vt:lpstr>第一PPT模板网-WWW.1PPT.COM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Ideapad Slim3</cp:lastModifiedBy>
  <cp:revision>75</cp:revision>
  <dcterms:created xsi:type="dcterms:W3CDTF">2015-07-22T02:09:20Z</dcterms:created>
  <dcterms:modified xsi:type="dcterms:W3CDTF">2021-02-24T14:22:48Z</dcterms:modified>
</cp:coreProperties>
</file>